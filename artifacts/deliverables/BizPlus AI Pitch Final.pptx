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0d8bf7efe594ab5" /><Relationship Type="http://schemas.openxmlformats.org/officeDocument/2006/relationships/extended-properties" Target="/docProps/app.xml" Id="R5b130376b03c4d76" /><Relationship Type="http://schemas.openxmlformats.org/officeDocument/2006/relationships/officeDocument" Target="/ppt/presentation.xml" Id="R9b0517093a6543bd" /></Relationships>
</file>

<file path=ppt/presentation.xml><?xml version="1.0" encoding="utf-8"?>
<p:presentation xmlns:p="http://schemas.openxmlformats.org/presentationml/2006/main">
  <p:sldMasterIdLst>
    <p:sldMasterId xmlns:r="http://schemas.openxmlformats.org/officeDocument/2006/relationships" id="2147483648" r:id="R5c45fbf80b334355"/>
  </p:sldMasterIdLst>
  <p:notesMasterIdLst>
    <p:notesMasterId xmlns:r="http://schemas.openxmlformats.org/officeDocument/2006/relationships" r:id="R0923858145c1433a"/>
  </p:notesMasterIdLst>
  <p:sldIdLst>
    <p:sldId xmlns:r="http://schemas.openxmlformats.org/officeDocument/2006/relationships" id="256" r:id="R429174ccc42f4983"/>
    <p:sldId xmlns:r="http://schemas.openxmlformats.org/officeDocument/2006/relationships" id="257" r:id="R8736e428b420463a"/>
    <p:sldId xmlns:r="http://schemas.openxmlformats.org/officeDocument/2006/relationships" id="258" r:id="R07d596073c724e4d"/>
    <p:sldId xmlns:r="http://schemas.openxmlformats.org/officeDocument/2006/relationships" id="259" r:id="R2970eeb5c956481f"/>
    <p:sldId xmlns:r="http://schemas.openxmlformats.org/officeDocument/2006/relationships" id="260" r:id="R4cc098baaeb243c1"/>
    <p:sldId xmlns:r="http://schemas.openxmlformats.org/officeDocument/2006/relationships" id="261" r:id="Reb4339018b224c68"/>
    <p:sldId xmlns:r="http://schemas.openxmlformats.org/officeDocument/2006/relationships" id="262" r:id="Re8b30f8bd3574e6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cef9b1f67944ac" /><Relationship Type="http://schemas.openxmlformats.org/officeDocument/2006/relationships/slideMaster" Target="/ppt/slideMasters/slideMaster1.xml" Id="R5c45fbf80b334355" /><Relationship Type="http://schemas.openxmlformats.org/officeDocument/2006/relationships/notesMaster" Target="/ppt/notesMasters/notesMaster1.xml" Id="R0923858145c1433a" /><Relationship Type="http://schemas.openxmlformats.org/officeDocument/2006/relationships/presProps" Target="/ppt/presProps.xml" Id="Rdc5adb41112e4947" /><Relationship Type="http://schemas.openxmlformats.org/officeDocument/2006/relationships/tableStyles" Target="/ppt/tableStyles.xml" Id="R502c4588a0504bda" /><Relationship Type="http://schemas.openxmlformats.org/officeDocument/2006/relationships/slide" Target="/ppt/slides/slide1.xml" Id="R429174ccc42f4983" /><Relationship Type="http://schemas.openxmlformats.org/officeDocument/2006/relationships/slide" Target="/ppt/slides/slide2.xml" Id="R8736e428b420463a" /><Relationship Type="http://schemas.openxmlformats.org/officeDocument/2006/relationships/slide" Target="/ppt/slides/slide3.xml" Id="R07d596073c724e4d" /><Relationship Type="http://schemas.openxmlformats.org/officeDocument/2006/relationships/slide" Target="/ppt/slides/slide4.xml" Id="R2970eeb5c956481f" /><Relationship Type="http://schemas.openxmlformats.org/officeDocument/2006/relationships/slide" Target="/ppt/slides/slide5.xml" Id="R4cc098baaeb243c1" /><Relationship Type="http://schemas.openxmlformats.org/officeDocument/2006/relationships/slide" Target="/ppt/slides/slide6.xml" Id="Reb4339018b224c68" /><Relationship Type="http://schemas.openxmlformats.org/officeDocument/2006/relationships/slide" Target="/ppt/slides/slide7.xml" Id="Re8b30f8bd3574e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c3c84894e8640c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11e044788c745e1" /><Relationship Type="http://schemas.openxmlformats.org/officeDocument/2006/relationships/notesMaster" Target="/ppt/notesMasters/notesMaster1.xml" Id="R6a1c30661ac3441d" /></Relationships>
</file>

<file path=ppt/notesSlides/_rels/notesSlide2.xml.rels>&#65279;<?xml version="1.0" encoding="utf-8"?><Relationships xmlns="http://schemas.openxmlformats.org/package/2006/relationships"><Relationship Type="http://schemas.openxmlformats.org/officeDocument/2006/relationships/slide" Target="/ppt/slides/slide2.xml" Id="R241436593a1f4e3d" /><Relationship Type="http://schemas.openxmlformats.org/officeDocument/2006/relationships/notesMaster" Target="/ppt/notesMasters/notesMaster1.xml" Id="R862a373208c54693"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958980fdc2409b" /><Relationship Type="http://schemas.openxmlformats.org/officeDocument/2006/relationships/notesMaster" Target="/ppt/notesMasters/notesMaster1.xml" Id="R728a29638e704b00" /></Relationships>
</file>

<file path=ppt/notesSlides/_rels/notesSlide4.xml.rels>&#65279;<?xml version="1.0" encoding="utf-8"?><Relationships xmlns="http://schemas.openxmlformats.org/package/2006/relationships"><Relationship Type="http://schemas.openxmlformats.org/officeDocument/2006/relationships/slide" Target="/ppt/slides/slide4.xml" Id="R262aaa9371484ce2" /><Relationship Type="http://schemas.openxmlformats.org/officeDocument/2006/relationships/notesMaster" Target="/ppt/notesMasters/notesMaster1.xml" Id="Rb2c7db4232a64f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5e8020e4f0074749" /><Relationship Type="http://schemas.openxmlformats.org/officeDocument/2006/relationships/notesMaster" Target="/ppt/notesMasters/notesMaster1.xml" Id="R63fde7de08ac430a" /></Relationships>
</file>

<file path=ppt/notesSlides/_rels/notesSlide6.xml.rels>&#65279;<?xml version="1.0" encoding="utf-8"?><Relationships xmlns="http://schemas.openxmlformats.org/package/2006/relationships"><Relationship Type="http://schemas.openxmlformats.org/officeDocument/2006/relationships/slide" Target="/ppt/slides/slide6.xml" Id="Rbab2a93fa8c64935" /><Relationship Type="http://schemas.openxmlformats.org/officeDocument/2006/relationships/notesMaster" Target="/ppt/notesMasters/notesMaster1.xml" Id="Rff36258225034297" /></Relationships>
</file>

<file path=ppt/notesSlides/_rels/notesSlide7.xml.rels>&#65279;<?xml version="1.0" encoding="utf-8"?><Relationships xmlns="http://schemas.openxmlformats.org/package/2006/relationships"><Relationship Type="http://schemas.openxmlformats.org/officeDocument/2006/relationships/slide" Target="/ppt/slides/slide7.xml" Id="Ra71e9fe791274440" /><Relationship Type="http://schemas.openxmlformats.org/officeDocument/2006/relationships/notesMaster" Target="/ppt/notesMasters/notesMaster1.xml" Id="R4a298b64edd7445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problem with the owned shop demo. A confirmation response returns HTTP 200 while the original order is missing. All payments and customers are synthetic. No external production failure or measured business loss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Describe consequences qualitatively. A paid customer without confirmation may contact support or retry checkout. The prototype does not measure revenue saved, support cost, or production incidence. These are business risks illustrated by synthetic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is the actual locally verified BizPlus AI dashboard. Its cards and charts derive from stored run results. Show run progression, expected and actual assertions, and the separate count of verified recoveries. State the rules-based diagnosis mode.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diagram is native and editable. Netlify serves React. Render hosts Express on Node 24. The engine calls only owned sandbox endpoints over HTTP. SQLite stores evidence, runs, incidents, and recovery records. On free hosted storage, history can reset. The browser session ID is isolation rather than authentication. Shared TypeScript contracts link client and backend.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shows an actual browser incident and recovery verification from a separate session. The failed confirmation has HTTP 200 with a missing order. Approval resumes that same transaction's worker. In the measured backend replay, verification preserved order 56200da6-f4c1-4088-a281-6cd9238c2d31. Payment count before: 1. Payment count after: 1. Never rerun checkout to recover this outcome. Repeated approvals are idempotent.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Measured 13 October 2026 10:27 IST. Local production backend and real HTTP sandbox replay. These are sandbox measurements, not production benchmarks. Healthy 1221 ms, checkout 500 1005 ms, missing confirmation 1180 ms, recovery verification 247 ms. Automated tests 11/11. Existing systems: New Relic supports synthetic API response assertions, https://docs.newrelic.com/docs/synthetics/synthetic-monitoring/scripting-monitors/write-synthetic-api-tests/ . Checkly offers AI root cause analysis, https://www.checklyhq.com/docs/resolve/ai-root-cause-analysis/overview/ . No industry-first claim. Differentiation here is the focused demonstrable connection from missing business outcome to evidence, approval, and original-order verification.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release status: Local browser journey verified. Render backend deployed and 18/18 public HTTP smoke checks passed. Netlify dashboard deployment, public browser acceptance, hosted cold-start and second-device checks remain pending.. Backend: https://bizplus-ai-api.onrender.com. Public dashboard: Not yet deployed. Repository: https://github.com/Emadfar007/bizplus-ai. Local sandbox measurements on slide 6 remain from the local replay, not the hosted replay. Priorities are production authentication and an action audit policy, durable shared storage, then evaluated optional LLM summaries and additional owned journeys. Keep a local tested fallback for free-host cold starts. Hosting references: https://render.com/docs/free and https://docs.netlify.com/build/frameworks/framework-setup-guides/vite/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f752aca95af456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60a945e811a491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a0c7298902440c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666d2a8d46f48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e28b8c3b921447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bebdabc010a449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903EB77-A65D-45A0-A7EE-FDDBCB7CC80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E3B656E-48A3-42EF-A2CF-00829347FF3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0E6EE42-10E1-44F5-9655-865CD505028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02A0095-E093-416E-A1B3-BF4F1DC2B58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6666C5C-05CA-4E14-B8B3-736B9A3F8F7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B50A635-7AE2-4F13-99B3-D41AB04F2E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4AFADEB-5ECC-4491-B321-AECEB30FAA2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52F0CEF-B098-4145-BB83-3F37DA68ADE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B165005-408C-426A-BE22-4D5DC8FED0B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D3993AA-5D57-4FE9-ADBA-12AED421920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eb5b28c15c441d5" /><Relationship Type="http://schemas.openxmlformats.org/officeDocument/2006/relationships/slideLayout" Target="/ppt/slideLayouts/slideLayout1.xml" Id="R297d8623a8aa428e" /><Relationship Type="http://schemas.openxmlformats.org/officeDocument/2006/relationships/slideLayout" Target="/ppt/slideLayouts/slideLayout2.xml" Id="R9068c75e8ba44c2d" /><Relationship Type="http://schemas.openxmlformats.org/officeDocument/2006/relationships/slideLayout" Target="/ppt/slideLayouts/slideLayout3.xml" Id="Re7b560f27a804cca" /><Relationship Type="http://schemas.openxmlformats.org/officeDocument/2006/relationships/slideLayout" Target="/ppt/slideLayouts/slideLayout4.xml" Id="Rb4249609b6014668" /><Relationship Type="http://schemas.openxmlformats.org/officeDocument/2006/relationships/slideLayout" Target="/ppt/slideLayouts/slideLayout5.xml" Id="Rb3dc2a97906c499c" /><Relationship Type="http://schemas.openxmlformats.org/officeDocument/2006/relationships/slideLayout" Target="/ppt/slideLayouts/slideLayout6.xml" Id="Rd8b8b54438694b0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97d8623a8aa428e"/>
    <p:sldLayoutId xmlns:r="http://schemas.openxmlformats.org/officeDocument/2006/relationships" id="2147483650" r:id="R9068c75e8ba44c2d"/>
    <p:sldLayoutId xmlns:r="http://schemas.openxmlformats.org/officeDocument/2006/relationships" id="2147483651" r:id="Re7b560f27a804cca"/>
    <p:sldLayoutId xmlns:r="http://schemas.openxmlformats.org/officeDocument/2006/relationships" id="2147483652" r:id="Rb4249609b6014668"/>
    <p:sldLayoutId xmlns:r="http://schemas.openxmlformats.org/officeDocument/2006/relationships" id="2147483653" r:id="Rb3dc2a97906c499c"/>
    <p:sldLayoutId xmlns:r="http://schemas.openxmlformats.org/officeDocument/2006/relationships" id="2147483654" r:id="Rd8b8b54438694b0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6a725686f564749" /><Relationship Type="http://schemas.openxmlformats.org/officeDocument/2006/relationships/notesSlide" Target="/ppt/notesSlides/notesSlide1.xml" Id="Rb18e4101428b4e7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92946295a434cb7" /><Relationship Type="http://schemas.openxmlformats.org/officeDocument/2006/relationships/notesSlide" Target="/ppt/notesSlides/notesSlide2.xml" Id="R595c74c88781463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938fadba38749e3" /><Relationship Type="http://schemas.openxmlformats.org/officeDocument/2006/relationships/image" Target="/ppt/media/image.jpeg" Id="Rd698679109114a12" /><Relationship Type="http://schemas.openxmlformats.org/officeDocument/2006/relationships/notesSlide" Target="/ppt/notesSlides/notesSlide3.xml" Id="R094b6de3efb2488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359c5a0c4b14c6b" /><Relationship Type="http://schemas.openxmlformats.org/officeDocument/2006/relationships/notesSlide" Target="/ppt/notesSlides/notesSlide4.xml" Id="R0117d70adca74c6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dddef89f1434e35" /><Relationship Type="http://schemas.openxmlformats.org/officeDocument/2006/relationships/image" Target="/ppt/media/image2.jpeg" Id="Rc3bd1cb469724cfa" /><Relationship Type="http://schemas.openxmlformats.org/officeDocument/2006/relationships/notesSlide" Target="/ppt/notesSlides/notesSlide5.xml" Id="R3e73c2d90c8a401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fbf2b924ce54615" /><Relationship Type="http://schemas.openxmlformats.org/officeDocument/2006/relationships/notesSlide" Target="/ppt/notesSlides/notesSlide6.xml" Id="Red66be143260448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7566e2e3d434e2f" /><Relationship Type="http://schemas.openxmlformats.org/officeDocument/2006/relationships/hyperlink" Target="https://bizplus-ai-api.onrender.com/health" TargetMode="External" Id="R2a084b31efd04979" /><Relationship Type="http://schemas.openxmlformats.org/officeDocument/2006/relationships/notesSlide" Target="/ppt/notesSlides/notesSlide7.xml" Id="R07d2c8db4fa140b9" /></Relationships>
</file>

<file path=ppt/slides/slide1.xml><?xml version="1.0" encoding="utf-8"?>
<p:sld xmlns:p="http://schemas.openxmlformats.org/presentationml/2006/main">
  <p:cSld>
    <p:bg>
      <p:bgPr>
        <a:solidFill xmlns:a="http://schemas.openxmlformats.org/drawingml/2006/main">
          <a:srgbClr val="081523"/>
        </a:solidFill>
      </p:bgPr>
    </p:bg>
    <p:spTree>
      <p:nvGrpSpPr>
        <p:cNvPr id="1" name=""/>
        <p:cNvGrpSpPr/>
        <p:nvPr/>
      </p:nvGrpSpPr>
      <p:grpSpPr>
        <a:xfrm xmlns:a="http://schemas.openxmlformats.org/drawingml/2006/main"/>
      </p:grpSpPr>
      <p:sp>
        <p:nvSpPr>
          <p:cNvPr id="6" name="BizPlus AI">
            <a:extLst xmlns:a="http://schemas.openxmlformats.org/drawingml/2006/main">
              <a:ext uri="{FF2B5EF4-FFF2-40B4-BE49-F238E27FC236}">
                <a16:creationId xmlns:a16="http://schemas.microsoft.com/office/drawing/2014/main" id="{34F738BF-F742-432A-86EC-AA2D353CB8F8}"/>
              </a:ext>
            </a:extLst>
          </p:cNvPr>
          <p:cNvSpPr>
            <a:spLocks xmlns:a="http://schemas.openxmlformats.org/drawingml/2006/main" noGrp="1"/>
          </p:cNvSpPr>
          <p:nvPr/>
        </p:nvSpPr>
        <p:spPr>
          <a:xfrm xmlns:a="http://schemas.openxmlformats.org/drawingml/2006/main">
            <a:off x="609600" y="4762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F1F7FC"/>
                </a:solidFill>
                <a:latin typeface="Arial"/>
                <a:ea typeface="Arial"/>
                <a:cs typeface="Arial"/>
              </a:defRPr>
            </a:defPPr>
          </a:lstStyle>
          <a:p xmlns:a="http://schemas.openxmlformats.org/drawingml/2006/main">
            <a:pPr algn="l">
              <a:defRPr sz="3300" b="1">
                <a:solidFill>
                  <a:srgbClr val="F1F7FC"/>
                </a:solidFill>
                <a:latin typeface="Arial"/>
                <a:ea typeface="Arial"/>
                <a:cs typeface="Arial"/>
              </a:defRPr>
            </a:pPr>
            <a:r>
              <a:rPr sz="3300" b="1">
                <a:solidFill>
                  <a:srgbClr val="F1F7FC"/>
                </a:solidFill>
                <a:latin typeface="Arial"/>
                <a:ea typeface="Arial"/>
                <a:cs typeface="Arial"/>
              </a:rPr>
              <a:t>BizPlus AI</a:t>
            </a:r>
          </a:p>
        </p:txBody>
      </p:sp>
      <p:sp>
        <p:nvSpPr>
          <p:cNvPr id="2" name="BizPlus AI     1/7">
            <a:extLst xmlns:a="http://schemas.openxmlformats.org/drawingml/2006/main">
              <a:ext uri="{FF2B5EF4-FFF2-40B4-BE49-F238E27FC236}">
                <a16:creationId xmlns:a16="http://schemas.microsoft.com/office/drawing/2014/main" id="{EF5677AD-5121-44A2-873F-5C8FB06564AD}"/>
              </a:ext>
            </a:extLst>
          </p:cNvPr>
          <p:cNvSpPr>
            <a:spLocks xmlns:a="http://schemas.openxmlformats.org/drawingml/2006/main" noGrp="1"/>
          </p:cNvSpPr>
          <p:nvPr/>
        </p:nvSpPr>
        <p:spPr>
          <a:xfrm xmlns:a="http://schemas.openxmlformats.org/drawingml/2006/main">
            <a:off x="6096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B1C3D2"/>
                </a:solidFill>
                <a:latin typeface="Arial"/>
                <a:ea typeface="Arial"/>
                <a:cs typeface="Arial"/>
              </a:defRPr>
            </a:defPPr>
          </a:lstStyle>
          <a:p xmlns:a="http://schemas.openxmlformats.org/drawingml/2006/main">
            <a:pPr algn="l">
              <a:defRPr sz="1275" b="0">
                <a:solidFill>
                  <a:srgbClr val="B1C3D2"/>
                </a:solidFill>
                <a:latin typeface="Arial"/>
                <a:ea typeface="Arial"/>
                <a:cs typeface="Arial"/>
              </a:defRPr>
            </a:pPr>
            <a:r>
              <a:rPr sz="1275" b="0">
                <a:solidFill>
                  <a:srgbClr val="B1C3D2"/>
                </a:solidFill>
                <a:latin typeface="Arial"/>
                <a:ea typeface="Arial"/>
                <a:cs typeface="Arial"/>
              </a:rPr>
              <a:t>BizPlus AI     1/7</a:t>
            </a:r>
          </a:p>
        </p:txBody>
      </p:sp>
      <p:sp>
        <p:nvSpPr>
          <p:cNvPr id="3" name="A successful HTTP response can hide&#10;a missing customer order">
            <a:extLst xmlns:a="http://schemas.openxmlformats.org/drawingml/2006/main">
              <a:ext uri="{FF2B5EF4-FFF2-40B4-BE49-F238E27FC236}">
                <a16:creationId xmlns:a16="http://schemas.microsoft.com/office/drawing/2014/main" id="{8CB69B21-FBE2-4CFD-B78F-AFB9D2E91FCF}"/>
              </a:ext>
            </a:extLst>
          </p:cNvPr>
          <p:cNvSpPr>
            <a:spLocks xmlns:a="http://schemas.openxmlformats.org/drawingml/2006/main" noGrp="1"/>
          </p:cNvSpPr>
          <p:nvPr/>
        </p:nvSpPr>
        <p:spPr>
          <a:xfrm xmlns:a="http://schemas.openxmlformats.org/drawingml/2006/main">
            <a:off x="609600" y="1581150"/>
            <a:ext cx="10858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1F7FC"/>
                </a:solidFill>
                <a:latin typeface="Arial"/>
                <a:ea typeface="Arial"/>
                <a:cs typeface="Arial"/>
              </a:defRPr>
            </a:defPPr>
          </a:lstStyle>
          <a:p xmlns:a="http://schemas.openxmlformats.org/drawingml/2006/main">
            <a:pPr algn="l">
              <a:defRPr sz="4500" b="1">
                <a:solidFill>
                  <a:srgbClr val="F1F7FC"/>
                </a:solidFill>
                <a:latin typeface="Arial"/>
                <a:ea typeface="Arial"/>
                <a:cs typeface="Arial"/>
              </a:defRPr>
            </a:pPr>
            <a:r>
              <a:rPr sz="4500" b="1">
                <a:solidFill>
                  <a:srgbClr val="F1F7FC"/>
                </a:solidFill>
                <a:latin typeface="Arial"/>
                <a:ea typeface="Arial"/>
                <a:cs typeface="Arial"/>
              </a:rPr>
              <a:t>A successful HTTP response can hide</a:t>
            </a:r>
          </a:p>
          <a:p xmlns:a="http://schemas.openxmlformats.org/drawingml/2006/main">
            <a:pPr algn="l">
              <a:defRPr sz="4500" b="1">
                <a:solidFill>
                  <a:srgbClr val="F1F7FC"/>
                </a:solidFill>
                <a:latin typeface="Arial"/>
                <a:ea typeface="Arial"/>
                <a:cs typeface="Arial"/>
              </a:defRPr>
            </a:pPr>
            <a:r>
              <a:rPr sz="4500" b="1">
                <a:solidFill>
                  <a:srgbClr val="F1F7FC"/>
                </a:solidFill>
                <a:latin typeface="Arial"/>
                <a:ea typeface="Arial"/>
                <a:cs typeface="Arial"/>
              </a:rPr>
              <a:t>a missing customer order</a:t>
            </a:r>
          </a:p>
        </p:txBody>
      </p:sp>
      <p:sp>
        <p:nvSpPr>
          <p:cNvPr id="4" name="Business transaction monitoring and approved recovery">
            <a:extLst xmlns:a="http://schemas.openxmlformats.org/drawingml/2006/main">
              <a:ext uri="{FF2B5EF4-FFF2-40B4-BE49-F238E27FC236}">
                <a16:creationId xmlns:a16="http://schemas.microsoft.com/office/drawing/2014/main" id="{71BA1D6A-F5CC-4E80-A0EB-72C7BBA715FD}"/>
              </a:ext>
            </a:extLst>
          </p:cNvPr>
          <p:cNvSpPr>
            <a:spLocks xmlns:a="http://schemas.openxmlformats.org/drawingml/2006/main" noGrp="1"/>
          </p:cNvSpPr>
          <p:nvPr/>
        </p:nvSpPr>
        <p:spPr>
          <a:xfrm xmlns:a="http://schemas.openxmlformats.org/drawingml/2006/main">
            <a:off x="609600" y="3667125"/>
            <a:ext cx="10191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44DCE3"/>
                </a:solidFill>
                <a:latin typeface="Arial"/>
                <a:ea typeface="Arial"/>
                <a:cs typeface="Arial"/>
              </a:defRPr>
            </a:defPPr>
          </a:lstStyle>
          <a:p xmlns:a="http://schemas.openxmlformats.org/drawingml/2006/main">
            <a:pPr algn="l">
              <a:defRPr sz="2250" b="0">
                <a:solidFill>
                  <a:srgbClr val="44DCE3"/>
                </a:solidFill>
                <a:latin typeface="Arial"/>
                <a:ea typeface="Arial"/>
                <a:cs typeface="Arial"/>
              </a:defRPr>
            </a:pPr>
            <a:r>
              <a:rPr sz="2250" b="0">
                <a:solidFill>
                  <a:srgbClr val="44DCE3"/>
                </a:solidFill>
                <a:latin typeface="Arial"/>
                <a:ea typeface="Arial"/>
                <a:cs typeface="Arial"/>
              </a:rPr>
              <a:t>Business transaction monitoring and approved recovery</a:t>
            </a:r>
          </a:p>
        </p:txBody>
      </p:sp>
      <p:sp>
        <p:nvSpPr>
          <p:cNvPr id="5" name="The demo checks the outcome, captures evidence,&#10;and verifies the origi">
            <a:extLst xmlns:a="http://schemas.openxmlformats.org/drawingml/2006/main">
              <a:ext uri="{FF2B5EF4-FFF2-40B4-BE49-F238E27FC236}">
                <a16:creationId xmlns:a16="http://schemas.microsoft.com/office/drawing/2014/main" id="{F9CBEB10-B2CD-4265-9576-DDDF6E21AB5A}"/>
              </a:ext>
            </a:extLst>
          </p:cNvPr>
          <p:cNvSpPr>
            <a:spLocks xmlns:a="http://schemas.openxmlformats.org/drawingml/2006/main" noGrp="1"/>
          </p:cNvSpPr>
          <p:nvPr/>
        </p:nvSpPr>
        <p:spPr>
          <a:xfrm xmlns:a="http://schemas.openxmlformats.org/drawingml/2006/main">
            <a:off x="609600" y="4695825"/>
            <a:ext cx="10001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B1C3D2"/>
                </a:solidFill>
                <a:latin typeface="Arial"/>
                <a:ea typeface="Arial"/>
                <a:cs typeface="Arial"/>
              </a:defRPr>
            </a:defPPr>
          </a:lstStyle>
          <a:p xmlns:a="http://schemas.openxmlformats.org/drawingml/2006/main">
            <a:pPr algn="l">
              <a:defRPr sz="2250" b="0">
                <a:solidFill>
                  <a:srgbClr val="B1C3D2"/>
                </a:solidFill>
                <a:latin typeface="Arial"/>
                <a:ea typeface="Arial"/>
                <a:cs typeface="Arial"/>
              </a:defRPr>
            </a:pPr>
            <a:r>
              <a:rPr sz="2250" b="0">
                <a:solidFill>
                  <a:srgbClr val="B1C3D2"/>
                </a:solidFill>
                <a:latin typeface="Arial"/>
                <a:ea typeface="Arial"/>
                <a:cs typeface="Arial"/>
              </a:rPr>
              <a:t>The demo checks the outcome, captures evidence,</a:t>
            </a:r>
          </a:p>
          <a:p xmlns:a="http://schemas.openxmlformats.org/drawingml/2006/main">
            <a:pPr algn="l">
              <a:defRPr sz="2250" b="0">
                <a:solidFill>
                  <a:srgbClr val="B1C3D2"/>
                </a:solidFill>
                <a:latin typeface="Arial"/>
                <a:ea typeface="Arial"/>
                <a:cs typeface="Arial"/>
              </a:defRPr>
            </a:pPr>
            <a:r>
              <a:rPr sz="2250" b="0">
                <a:solidFill>
                  <a:srgbClr val="B1C3D2"/>
                </a:solidFill>
                <a:latin typeface="Arial"/>
                <a:ea typeface="Arial"/>
                <a:cs typeface="Arial"/>
              </a:rPr>
              <a:t>and verifies the original order after a worker resume.</a:t>
            </a:r>
          </a:p>
        </p:txBody>
      </p:sp>
    </p:spTree>
    <p:extLst>
      <p:ext uri="{BB962C8B-B14F-4D97-AF65-F5344CB8AC3E}">
        <p14:creationId xmlns:p14="http://schemas.microsoft.com/office/powerpoint/2010/main" val="1575166472"/>
      </p:ext>
    </p:extLst>
  </p:cSld>
</p:sld>
</file>

<file path=ppt/slides/slide2.xml><?xml version="1.0" encoding="utf-8"?>
<p:sld xmlns:p="http://schemas.openxmlformats.org/presentationml/2006/main">
  <p:cSld>
    <p:bg>
      <p:bgPr>
        <a:solidFill xmlns:a="http://schemas.openxmlformats.org/drawingml/2006/main">
          <a:srgbClr val="081523"/>
        </a:solidFill>
      </p:bgPr>
    </p:bg>
    <p:spTree>
      <p:nvGrpSpPr>
        <p:cNvPr id="1" name=""/>
        <p:cNvGrpSpPr/>
        <p:nvPr/>
      </p:nvGrpSpPr>
      <p:grpSpPr>
        <a:xfrm xmlns:a="http://schemas.openxmlformats.org/drawingml/2006/main"/>
      </p:grpSpPr>
      <p:sp>
        <p:nvSpPr>
          <p:cNvPr id="6" name="Customer impact of missing confirmation">
            <a:extLst xmlns:a="http://schemas.openxmlformats.org/drawingml/2006/main">
              <a:ext uri="{FF2B5EF4-FFF2-40B4-BE49-F238E27FC236}">
                <a16:creationId xmlns:a16="http://schemas.microsoft.com/office/drawing/2014/main" id="{EAF53E70-640E-4970-B589-39122E44E65B}"/>
              </a:ext>
            </a:extLst>
          </p:cNvPr>
          <p:cNvSpPr>
            <a:spLocks xmlns:a="http://schemas.openxmlformats.org/drawingml/2006/main" noGrp="1"/>
          </p:cNvSpPr>
          <p:nvPr/>
        </p:nvSpPr>
        <p:spPr>
          <a:xfrm xmlns:a="http://schemas.openxmlformats.org/drawingml/2006/main">
            <a:off x="609600" y="4762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F1F7FC"/>
                </a:solidFill>
                <a:latin typeface="Arial"/>
                <a:ea typeface="Arial"/>
                <a:cs typeface="Arial"/>
              </a:defRPr>
            </a:defPPr>
          </a:lstStyle>
          <a:p xmlns:a="http://schemas.openxmlformats.org/drawingml/2006/main">
            <a:pPr algn="l">
              <a:defRPr sz="3300" b="1">
                <a:solidFill>
                  <a:srgbClr val="F1F7FC"/>
                </a:solidFill>
                <a:latin typeface="Arial"/>
                <a:ea typeface="Arial"/>
                <a:cs typeface="Arial"/>
              </a:defRPr>
            </a:pPr>
            <a:r>
              <a:rPr sz="3300" b="1">
                <a:solidFill>
                  <a:srgbClr val="F1F7FC"/>
                </a:solidFill>
                <a:latin typeface="Arial"/>
                <a:ea typeface="Arial"/>
                <a:cs typeface="Arial"/>
              </a:rPr>
              <a:t>Customer impact of missing confirmation</a:t>
            </a:r>
          </a:p>
        </p:txBody>
      </p:sp>
      <p:sp>
        <p:nvSpPr>
          <p:cNvPr id="2" name="BizPlus AI     2/7">
            <a:extLst xmlns:a="http://schemas.openxmlformats.org/drawingml/2006/main">
              <a:ext uri="{FF2B5EF4-FFF2-40B4-BE49-F238E27FC236}">
                <a16:creationId xmlns:a16="http://schemas.microsoft.com/office/drawing/2014/main" id="{A77DBB65-D9E3-47F0-AA48-047C1C861E07}"/>
              </a:ext>
            </a:extLst>
          </p:cNvPr>
          <p:cNvSpPr>
            <a:spLocks xmlns:a="http://schemas.openxmlformats.org/drawingml/2006/main" noGrp="1"/>
          </p:cNvSpPr>
          <p:nvPr/>
        </p:nvSpPr>
        <p:spPr>
          <a:xfrm xmlns:a="http://schemas.openxmlformats.org/drawingml/2006/main">
            <a:off x="6096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B1C3D2"/>
                </a:solidFill>
                <a:latin typeface="Arial"/>
                <a:ea typeface="Arial"/>
                <a:cs typeface="Arial"/>
              </a:defRPr>
            </a:defPPr>
          </a:lstStyle>
          <a:p xmlns:a="http://schemas.openxmlformats.org/drawingml/2006/main">
            <a:pPr algn="l">
              <a:defRPr sz="1275" b="0">
                <a:solidFill>
                  <a:srgbClr val="B1C3D2"/>
                </a:solidFill>
                <a:latin typeface="Arial"/>
                <a:ea typeface="Arial"/>
                <a:cs typeface="Arial"/>
              </a:defRPr>
            </a:pPr>
            <a:r>
              <a:rPr sz="1275" b="0">
                <a:solidFill>
                  <a:srgbClr val="B1C3D2"/>
                </a:solidFill>
                <a:latin typeface="Arial"/>
                <a:ea typeface="Arial"/>
                <a:cs typeface="Arial"/>
              </a:rPr>
              <a:t>BizPlus AI     2/7</a:t>
            </a:r>
          </a:p>
        </p:txBody>
      </p:sp>
      <p:graphicFrame>
        <p:nvGraphicFramePr>
          <p:cNvPr id="3" name="">
            <a:extLst xmlns:a="http://schemas.openxmlformats.org/drawingml/2006/main">
              <a:ext uri="{FF2B5EF4-FFF2-40B4-BE49-F238E27FC236}">
                <a16:creationId xmlns:a16="http://schemas.microsoft.com/office/drawing/2014/main" id="{74793578-14F4-4F55-9A46-50C55CC1FA71}"/>
              </a:ext>
            </a:extLst>
          </p:cNvPr>
          <p:cNvGraphicFramePr/>
          <p:nvPr/>
        </p:nvGraphicFramePr>
        <p:xfrm>
          <a:off xmlns:a="http://schemas.openxmlformats.org/drawingml/2006/main" x="609600" y="1600200"/>
          <a:ext xmlns:a="http://schemas.openxmlformats.org/drawingml/2006/main" cx="10972800" cy="3171825"/>
        </p:xfrm>
        <a:graphic xmlns:a="http://schemas.openxmlformats.org/drawingml/2006/main">
          <a:graphicData uri="http://schemas.openxmlformats.org/drawingml/2006/table">
            <a:tbl>
              <a:tblPr/>
              <a:tblGrid>
                <a:gridCol w="4991100"/>
                <a:gridCol w="5981700"/>
              </a:tblGrid>
              <a:tr h="792956">
                <a:tc>
                  <a:txBody>
                    <a:bodyPr/>
                    <a:lstStyle/>
                    <a:p>
                      <a:r>
                        <a:rPr sz="2175" b="1">
                          <a:solidFill>
                            <a:srgbClr val="F1F7FC"/>
                          </a:solidFill>
                          <a:latin typeface="Arial"/>
                          <a:ea typeface="Arial"/>
                          <a:cs typeface="Arial"/>
                        </a:rPr>
                        <a:t>What the system shows</a:t>
                      </a:r>
                    </a:p>
                  </a:txBody>
                  <a:tcPr marL="152400" marR="152400" marT="114300" marB="114300" anchor="ctr">
                    <a:lnL w="9525">
                      <a:solidFill>
                        <a:srgbClr val="41596E"/>
                      </a:solidFill>
                      <a:prstDash val="solid"/>
                    </a:lnL>
                    <a:lnR w="9525">
                      <a:solidFill>
                        <a:srgbClr val="41596E"/>
                      </a:solidFill>
                      <a:prstDash val="solid"/>
                    </a:lnR>
                    <a:lnT w="9525">
                      <a:solidFill>
                        <a:srgbClr val="41596E"/>
                      </a:solidFill>
                      <a:prstDash val="solid"/>
                    </a:lnT>
                    <a:lnB w="9525">
                      <a:solidFill>
                        <a:srgbClr val="41596E"/>
                      </a:solidFill>
                      <a:prstDash val="solid"/>
                    </a:lnB>
                    <a:solidFill>
                      <a:srgbClr val="17344B"/>
                    </a:solidFill>
                  </a:tcPr>
                </a:tc>
                <a:tc>
                  <a:txBody>
                    <a:bodyPr/>
                    <a:lstStyle/>
                    <a:p>
                      <a:r>
                        <a:rPr sz="2175" b="1">
                          <a:solidFill>
                            <a:srgbClr val="F1F7FC"/>
                          </a:solidFill>
                          <a:latin typeface="Arial"/>
                          <a:ea typeface="Arial"/>
                          <a:cs typeface="Arial"/>
                        </a:rPr>
                        <a:t>What the customer experiences</a:t>
                      </a:r>
                    </a:p>
                  </a:txBody>
                  <a:tcPr marL="152400" marR="152400" marT="114300" marB="114300" anchor="ctr">
                    <a:lnR w="9525">
                      <a:solidFill>
                        <a:srgbClr val="41596E"/>
                      </a:solidFill>
                      <a:prstDash val="solid"/>
                    </a:lnR>
                    <a:lnT w="9525">
                      <a:solidFill>
                        <a:srgbClr val="41596E"/>
                      </a:solidFill>
                      <a:prstDash val="solid"/>
                    </a:lnT>
                    <a:lnB w="9525">
                      <a:solidFill>
                        <a:srgbClr val="41596E"/>
                      </a:solidFill>
                      <a:prstDash val="solid"/>
                    </a:lnB>
                    <a:solidFill>
                      <a:srgbClr val="17344B"/>
                    </a:solidFill>
                  </a:tcPr>
                </a:tc>
              </a:tr>
              <a:tr h="792956">
                <a:tc>
                  <a:txBody>
                    <a:bodyPr/>
                    <a:lstStyle/>
                    <a:p>
                      <a:r>
                        <a:rPr sz="2175">
                          <a:solidFill>
                            <a:srgbClr val="F1F7FC"/>
                          </a:solidFill>
                          <a:latin typeface="Arial"/>
                          <a:ea typeface="Arial"/>
                          <a:cs typeface="Arial"/>
                        </a:rPr>
                        <a:t>Checkout succeeded</a:t>
                      </a:r>
                    </a:p>
                  </a:txBody>
                  <a:tcPr marL="152400" marR="152400" marT="114300" marB="114300" anchor="ctr">
                    <a:lnL w="9525">
                      <a:solidFill>
                        <a:srgbClr val="41596E"/>
                      </a:solidFill>
                      <a:prstDash val="solid"/>
                    </a:lnL>
                    <a:lnR w="9525">
                      <a:solidFill>
                        <a:srgbClr val="41596E"/>
                      </a:solidFill>
                      <a:prstDash val="solid"/>
                    </a:lnR>
                    <a:lnB w="9525">
                      <a:solidFill>
                        <a:srgbClr val="41596E"/>
                      </a:solidFill>
                      <a:prstDash val="solid"/>
                    </a:lnB>
                    <a:solidFill>
                      <a:srgbClr val="081523"/>
                    </a:solidFill>
                  </a:tcPr>
                </a:tc>
                <a:tc>
                  <a:txBody>
                    <a:bodyPr/>
                    <a:lstStyle/>
                    <a:p>
                      <a:r>
                        <a:rPr sz="2175">
                          <a:solidFill>
                            <a:srgbClr val="F1F7FC"/>
                          </a:solidFill>
                          <a:latin typeface="Arial"/>
                          <a:ea typeface="Arial"/>
                          <a:cs typeface="Arial"/>
                        </a:rPr>
                        <a:t>No confirmed order to rely on</a:t>
                      </a:r>
                    </a:p>
                  </a:txBody>
                  <a:tcPr marL="152400" marR="152400" marT="114300" marB="114300" anchor="ctr">
                    <a:lnR w="9525">
                      <a:solidFill>
                        <a:srgbClr val="41596E"/>
                      </a:solidFill>
                      <a:prstDash val="solid"/>
                    </a:lnR>
                    <a:lnB w="9525">
                      <a:solidFill>
                        <a:srgbClr val="41596E"/>
                      </a:solidFill>
                      <a:prstDash val="solid"/>
                    </a:lnB>
                    <a:solidFill>
                      <a:srgbClr val="081523"/>
                    </a:solidFill>
                  </a:tcPr>
                </a:tc>
              </a:tr>
              <a:tr h="792956">
                <a:tc>
                  <a:txBody>
                    <a:bodyPr/>
                    <a:lstStyle/>
                    <a:p>
                      <a:r>
                        <a:rPr sz="2175">
                          <a:solidFill>
                            <a:srgbClr val="F1F7FC"/>
                          </a:solidFill>
                          <a:latin typeface="Arial"/>
                          <a:ea typeface="Arial"/>
                          <a:cs typeface="Arial"/>
                        </a:rPr>
                        <a:t>Confirmation returned HTTP 200</a:t>
                      </a:r>
                    </a:p>
                  </a:txBody>
                  <a:tcPr marL="152400" marR="152400" marT="114300" marB="114300" anchor="ctr">
                    <a:lnL w="9525">
                      <a:solidFill>
                        <a:srgbClr val="41596E"/>
                      </a:solidFill>
                      <a:prstDash val="solid"/>
                    </a:lnL>
                    <a:lnR w="9525">
                      <a:solidFill>
                        <a:srgbClr val="41596E"/>
                      </a:solidFill>
                      <a:prstDash val="solid"/>
                    </a:lnR>
                    <a:lnB w="9525">
                      <a:solidFill>
                        <a:srgbClr val="41596E"/>
                      </a:solidFill>
                      <a:prstDash val="solid"/>
                    </a:lnB>
                    <a:solidFill>
                      <a:srgbClr val="081523"/>
                    </a:solidFill>
                  </a:tcPr>
                </a:tc>
                <a:tc>
                  <a:txBody>
                    <a:bodyPr/>
                    <a:lstStyle/>
                    <a:p>
                      <a:r>
                        <a:rPr sz="2175">
                          <a:solidFill>
                            <a:srgbClr val="F1F7FC"/>
                          </a:solidFill>
                          <a:latin typeface="Arial"/>
                          <a:ea typeface="Arial"/>
                          <a:cs typeface="Arial"/>
                        </a:rPr>
                        <a:t>The order field is empty</a:t>
                      </a:r>
                    </a:p>
                  </a:txBody>
                  <a:tcPr marL="152400" marR="152400" marT="114300" marB="114300" anchor="ctr">
                    <a:lnR w="9525">
                      <a:solidFill>
                        <a:srgbClr val="41596E"/>
                      </a:solidFill>
                      <a:prstDash val="solid"/>
                    </a:lnR>
                    <a:lnB w="9525">
                      <a:solidFill>
                        <a:srgbClr val="41596E"/>
                      </a:solidFill>
                      <a:prstDash val="solid"/>
                    </a:lnB>
                    <a:solidFill>
                      <a:srgbClr val="081523"/>
                    </a:solidFill>
                  </a:tcPr>
                </a:tc>
              </a:tr>
              <a:tr h="792956">
                <a:tc>
                  <a:txBody>
                    <a:bodyPr/>
                    <a:lstStyle/>
                    <a:p>
                      <a:r>
                        <a:rPr sz="2175">
                          <a:solidFill>
                            <a:srgbClr val="F1F7FC"/>
                          </a:solidFill>
                          <a:latin typeface="Arial"/>
                          <a:ea typeface="Arial"/>
                          <a:cs typeface="Arial"/>
                        </a:rPr>
                        <a:t>Payment recorded once</a:t>
                      </a:r>
                    </a:p>
                  </a:txBody>
                  <a:tcPr marL="152400" marR="152400" marT="114300" marB="114300" anchor="ctr">
                    <a:lnL w="9525">
                      <a:solidFill>
                        <a:srgbClr val="41596E"/>
                      </a:solidFill>
                      <a:prstDash val="solid"/>
                    </a:lnL>
                    <a:lnR w="9525">
                      <a:solidFill>
                        <a:srgbClr val="41596E"/>
                      </a:solidFill>
                      <a:prstDash val="solid"/>
                    </a:lnR>
                    <a:lnB w="9525">
                      <a:solidFill>
                        <a:srgbClr val="41596E"/>
                      </a:solidFill>
                      <a:prstDash val="solid"/>
                    </a:lnB>
                    <a:solidFill>
                      <a:srgbClr val="081523"/>
                    </a:solidFill>
                  </a:tcPr>
                </a:tc>
                <a:tc>
                  <a:txBody>
                    <a:bodyPr/>
                    <a:lstStyle/>
                    <a:p>
                      <a:r>
                        <a:rPr sz="2175">
                          <a:solidFill>
                            <a:srgbClr val="F1F7FC"/>
                          </a:solidFill>
                          <a:latin typeface="Arial"/>
                          <a:ea typeface="Arial"/>
                          <a:cs typeface="Arial"/>
                        </a:rPr>
                        <a:t>Uncertainty may encourage a retry</a:t>
                      </a:r>
                    </a:p>
                  </a:txBody>
                  <a:tcPr marL="152400" marR="152400" marT="114300" marB="114300" anchor="ctr">
                    <a:lnR w="9525">
                      <a:solidFill>
                        <a:srgbClr val="41596E"/>
                      </a:solidFill>
                      <a:prstDash val="solid"/>
                    </a:lnR>
                    <a:lnB w="9525">
                      <a:solidFill>
                        <a:srgbClr val="41596E"/>
                      </a:solidFill>
                      <a:prstDash val="solid"/>
                    </a:lnB>
                    <a:solidFill>
                      <a:srgbClr val="081523"/>
                    </a:solidFill>
                  </a:tcPr>
                </a:tc>
              </a:tr>
            </a:tbl>
          </a:graphicData>
        </a:graphic>
      </p:graphicFrame>
      <p:sp>
        <p:nvSpPr>
          <p:cNvPr id="4" name="Recovery must preserve the original payment">
            <a:extLst xmlns:a="http://schemas.openxmlformats.org/drawingml/2006/main">
              <a:ext uri="{FF2B5EF4-FFF2-40B4-BE49-F238E27FC236}">
                <a16:creationId xmlns:a16="http://schemas.microsoft.com/office/drawing/2014/main" id="{56099B39-8F88-4F29-8C23-A9BA3BA03B7C}"/>
              </a:ext>
            </a:extLst>
          </p:cNvPr>
          <p:cNvSpPr>
            <a:spLocks xmlns:a="http://schemas.openxmlformats.org/drawingml/2006/main" noGrp="1"/>
          </p:cNvSpPr>
          <p:nvPr/>
        </p:nvSpPr>
        <p:spPr>
          <a:xfrm xmlns:a="http://schemas.openxmlformats.org/drawingml/2006/main">
            <a:off x="609600" y="5257800"/>
            <a:ext cx="109061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44DCE3"/>
                </a:solidFill>
                <a:latin typeface="Arial"/>
                <a:ea typeface="Arial"/>
                <a:cs typeface="Arial"/>
              </a:defRPr>
            </a:defPPr>
          </a:lstStyle>
          <a:p xmlns:a="http://schemas.openxmlformats.org/drawingml/2006/main">
            <a:pPr algn="l">
              <a:defRPr sz="2700" b="1">
                <a:solidFill>
                  <a:srgbClr val="44DCE3"/>
                </a:solidFill>
                <a:latin typeface="Arial"/>
                <a:ea typeface="Arial"/>
                <a:cs typeface="Arial"/>
              </a:defRPr>
            </a:pPr>
            <a:r>
              <a:rPr sz="2700" b="1">
                <a:solidFill>
                  <a:srgbClr val="44DCE3"/>
                </a:solidFill>
                <a:latin typeface="Arial"/>
                <a:ea typeface="Arial"/>
                <a:cs typeface="Arial"/>
              </a:rPr>
              <a:t>Recovery must preserve the original payment</a:t>
            </a:r>
          </a:p>
        </p:txBody>
      </p:sp>
      <p:sp>
        <p:nvSpPr>
          <p:cNvPr id="5" name="A business assertion checks the order and amount, alongside status cod">
            <a:extLst xmlns:a="http://schemas.openxmlformats.org/drawingml/2006/main">
              <a:ext uri="{FF2B5EF4-FFF2-40B4-BE49-F238E27FC236}">
                <a16:creationId xmlns:a16="http://schemas.microsoft.com/office/drawing/2014/main" id="{96713473-23BC-49C2-8670-272C0C35406F}"/>
              </a:ext>
            </a:extLst>
          </p:cNvPr>
          <p:cNvSpPr>
            <a:spLocks xmlns:a="http://schemas.openxmlformats.org/drawingml/2006/main" noGrp="1"/>
          </p:cNvSpPr>
          <p:nvPr/>
        </p:nvSpPr>
        <p:spPr>
          <a:xfrm xmlns:a="http://schemas.openxmlformats.org/drawingml/2006/main">
            <a:off x="609600" y="58674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B1C3D2"/>
                </a:solidFill>
                <a:latin typeface="Arial"/>
                <a:ea typeface="Arial"/>
                <a:cs typeface="Arial"/>
              </a:defRPr>
            </a:defPPr>
          </a:lstStyle>
          <a:p xmlns:a="http://schemas.openxmlformats.org/drawingml/2006/main">
            <a:pPr algn="l">
              <a:defRPr sz="1800" b="0">
                <a:solidFill>
                  <a:srgbClr val="B1C3D2"/>
                </a:solidFill>
                <a:latin typeface="Arial"/>
                <a:ea typeface="Arial"/>
                <a:cs typeface="Arial"/>
              </a:defRPr>
            </a:pPr>
            <a:r>
              <a:rPr sz="1800" b="0">
                <a:solidFill>
                  <a:srgbClr val="B1C3D2"/>
                </a:solidFill>
                <a:latin typeface="Arial"/>
                <a:ea typeface="Arial"/>
                <a:cs typeface="Arial"/>
              </a:rPr>
              <a:t>A business assertion checks the order and amount, alongside status codes.</a:t>
            </a:r>
          </a:p>
        </p:txBody>
      </p:sp>
    </p:spTree>
    <p:extLst>
      <p:ext uri="{BB962C8B-B14F-4D97-AF65-F5344CB8AC3E}">
        <p14:creationId xmlns:p14="http://schemas.microsoft.com/office/powerpoint/2010/main" val="653772035"/>
      </p:ext>
    </p:extLst>
  </p:cSld>
</p:sld>
</file>

<file path=ppt/slides/slide3.xml><?xml version="1.0" encoding="utf-8"?>
<p:sld xmlns:p="http://schemas.openxmlformats.org/presentationml/2006/main">
  <p:cSld>
    <p:bg>
      <p:bgPr>
        <a:solidFill xmlns:a="http://schemas.openxmlformats.org/drawingml/2006/main">
          <a:srgbClr val="081523"/>
        </a:solidFill>
      </p:bgPr>
    </p:bg>
    <p:spTree>
      <p:nvGrpSpPr>
        <p:cNvPr id="1" name=""/>
        <p:cNvGrpSpPr/>
        <p:nvPr/>
      </p:nvGrpSpPr>
      <p:grpSpPr>
        <a:xfrm xmlns:a="http://schemas.openxmlformats.org/drawingml/2006/main"/>
      </p:grpSpPr>
      <p:sp>
        <p:nvSpPr>
          <p:cNvPr id="6" name="Monitoring with visible evidence">
            <a:extLst xmlns:a="http://schemas.openxmlformats.org/drawingml/2006/main">
              <a:ext uri="{FF2B5EF4-FFF2-40B4-BE49-F238E27FC236}">
                <a16:creationId xmlns:a16="http://schemas.microsoft.com/office/drawing/2014/main" id="{9C64857C-56EC-4AA7-AD6E-F5CD3BE948A3}"/>
              </a:ext>
            </a:extLst>
          </p:cNvPr>
          <p:cNvSpPr>
            <a:spLocks xmlns:a="http://schemas.openxmlformats.org/drawingml/2006/main" noGrp="1"/>
          </p:cNvSpPr>
          <p:nvPr/>
        </p:nvSpPr>
        <p:spPr>
          <a:xfrm xmlns:a="http://schemas.openxmlformats.org/drawingml/2006/main">
            <a:off x="609600" y="4762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F1F7FC"/>
                </a:solidFill>
                <a:latin typeface="Arial"/>
                <a:ea typeface="Arial"/>
                <a:cs typeface="Arial"/>
              </a:defRPr>
            </a:defPPr>
          </a:lstStyle>
          <a:p xmlns:a="http://schemas.openxmlformats.org/drawingml/2006/main">
            <a:pPr algn="l">
              <a:defRPr sz="3300" b="1">
                <a:solidFill>
                  <a:srgbClr val="F1F7FC"/>
                </a:solidFill>
                <a:latin typeface="Arial"/>
                <a:ea typeface="Arial"/>
                <a:cs typeface="Arial"/>
              </a:defRPr>
            </a:pPr>
            <a:r>
              <a:rPr sz="3300" b="1">
                <a:solidFill>
                  <a:srgbClr val="F1F7FC"/>
                </a:solidFill>
                <a:latin typeface="Arial"/>
                <a:ea typeface="Arial"/>
                <a:cs typeface="Arial"/>
              </a:rPr>
              <a:t>Monitoring with visible evidence</a:t>
            </a:r>
          </a:p>
        </p:txBody>
      </p:sp>
      <p:sp>
        <p:nvSpPr>
          <p:cNvPr id="2" name="BizPlus AI     3/7">
            <a:extLst xmlns:a="http://schemas.openxmlformats.org/drawingml/2006/main">
              <a:ext uri="{FF2B5EF4-FFF2-40B4-BE49-F238E27FC236}">
                <a16:creationId xmlns:a16="http://schemas.microsoft.com/office/drawing/2014/main" id="{3127CA1F-1FD3-4D50-B23A-801AF1EFB052}"/>
              </a:ext>
            </a:extLst>
          </p:cNvPr>
          <p:cNvSpPr>
            <a:spLocks xmlns:a="http://schemas.openxmlformats.org/drawingml/2006/main" noGrp="1"/>
          </p:cNvSpPr>
          <p:nvPr/>
        </p:nvSpPr>
        <p:spPr>
          <a:xfrm xmlns:a="http://schemas.openxmlformats.org/drawingml/2006/main">
            <a:off x="6096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B1C3D2"/>
                </a:solidFill>
                <a:latin typeface="Arial"/>
                <a:ea typeface="Arial"/>
                <a:cs typeface="Arial"/>
              </a:defRPr>
            </a:defPPr>
          </a:lstStyle>
          <a:p xmlns:a="http://schemas.openxmlformats.org/drawingml/2006/main">
            <a:pPr algn="l">
              <a:defRPr sz="1275" b="0">
                <a:solidFill>
                  <a:srgbClr val="B1C3D2"/>
                </a:solidFill>
                <a:latin typeface="Arial"/>
                <a:ea typeface="Arial"/>
                <a:cs typeface="Arial"/>
              </a:defRPr>
            </a:pPr>
            <a:r>
              <a:rPr sz="1275" b="0">
                <a:solidFill>
                  <a:srgbClr val="B1C3D2"/>
                </a:solidFill>
                <a:latin typeface="Arial"/>
                <a:ea typeface="Arial"/>
                <a:cs typeface="Arial"/>
              </a:rPr>
              <a:t>BizPlus AI     3/7</a:t>
            </a:r>
          </a:p>
        </p:txBody>
      </p:sp>
      <p:sp>
        <p:nvSpPr>
          <p:cNvPr id="3" name="Run a scenario and inspect its actual HTTP results">
            <a:extLst xmlns:a="http://schemas.openxmlformats.org/drawingml/2006/main">
              <a:ext uri="{FF2B5EF4-FFF2-40B4-BE49-F238E27FC236}">
                <a16:creationId xmlns:a16="http://schemas.microsoft.com/office/drawing/2014/main" id="{E5F59C59-97C5-49F4-AD81-0DE7898E3828}"/>
              </a:ext>
            </a:extLst>
          </p:cNvPr>
          <p:cNvSpPr>
            <a:spLocks xmlns:a="http://schemas.openxmlformats.org/drawingml/2006/main" noGrp="1"/>
          </p:cNvSpPr>
          <p:nvPr/>
        </p:nvSpPr>
        <p:spPr>
          <a:xfrm xmlns:a="http://schemas.openxmlformats.org/drawingml/2006/main">
            <a:off x="609600" y="12573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44DCE3"/>
                </a:solidFill>
                <a:latin typeface="Arial"/>
                <a:ea typeface="Arial"/>
                <a:cs typeface="Arial"/>
              </a:defRPr>
            </a:defPPr>
          </a:lstStyle>
          <a:p xmlns:a="http://schemas.openxmlformats.org/drawingml/2006/main">
            <a:pPr algn="l">
              <a:defRPr sz="2100" b="0">
                <a:solidFill>
                  <a:srgbClr val="44DCE3"/>
                </a:solidFill>
                <a:latin typeface="Arial"/>
                <a:ea typeface="Arial"/>
                <a:cs typeface="Arial"/>
              </a:defRPr>
            </a:pPr>
            <a:r>
              <a:rPr sz="2100" b="0">
                <a:solidFill>
                  <a:srgbClr val="44DCE3"/>
                </a:solidFill>
                <a:latin typeface="Arial"/>
                <a:ea typeface="Arial"/>
                <a:cs typeface="Arial"/>
              </a:rPr>
              <a:t>Run a scenario and inspect its actual HTTP results</a:t>
            </a:r>
          </a:p>
        </p:txBody>
      </p:sp>
      <p:pic>
        <p:nvPicPr>
          <p:cNvPr id="4" name="">
            <a:extLst xmlns:a="http://schemas.openxmlformats.org/drawingml/2006/main">
              <a:ext uri="{FF2B5EF4-FFF2-40B4-BE49-F238E27FC236}">
                <a16:creationId xmlns:a16="http://schemas.microsoft.com/office/drawing/2014/main" id="{71D637C4-DB31-40C5-AD7A-8F6EA2F3181C}"/>
              </a:ext>
            </a:extLst>
          </p:cNvPr>
          <p:cNvPicPr>
            <a:picLocks xmlns:a="http://schemas.openxmlformats.org/drawingml/2006/main" noChangeAspect="1"/>
          </p:cNvPicPr>
          <p:nvPr/>
        </p:nvPicPr>
        <p:blipFill>
          <a:blip xmlns:r="http://schemas.openxmlformats.org/officeDocument/2006/relationships" xmlns:a="http://schemas.openxmlformats.org/drawingml/2006/main" r:embed="Rd698679109114a12"/>
          <a:srcRect xmlns:a="http://schemas.openxmlformats.org/drawingml/2006/main" l="18300" t="11000" r="3500" b="35500"/>
          <a:stretch xmlns:a="http://schemas.openxmlformats.org/drawingml/2006/main"/>
        </p:blipFill>
        <p:spPr>
          <a:xfrm xmlns:a="http://schemas.openxmlformats.org/drawingml/2006/main">
            <a:off x="609600" y="1790700"/>
            <a:ext cx="10972800" cy="4057650"/>
          </a:xfrm>
          <a:prstGeom xmlns:a="http://schemas.openxmlformats.org/drawingml/2006/main" prst="rect">
            <a:avLst/>
          </a:prstGeom>
        </p:spPr>
      </p:pic>
      <p:sp>
        <p:nvSpPr>
          <p:cNvPr id="5" name="Rules-based diagnosis     Synthetic payments     Isolated demo session">
            <a:extLst xmlns:a="http://schemas.openxmlformats.org/drawingml/2006/main">
              <a:ext uri="{FF2B5EF4-FFF2-40B4-BE49-F238E27FC236}">
                <a16:creationId xmlns:a16="http://schemas.microsoft.com/office/drawing/2014/main" id="{91FAEEF0-C520-4A96-B8E8-2D4834868270}"/>
              </a:ext>
            </a:extLst>
          </p:cNvPr>
          <p:cNvSpPr>
            <a:spLocks xmlns:a="http://schemas.openxmlformats.org/drawingml/2006/main" noGrp="1"/>
          </p:cNvSpPr>
          <p:nvPr/>
        </p:nvSpPr>
        <p:spPr>
          <a:xfrm xmlns:a="http://schemas.openxmlformats.org/drawingml/2006/main">
            <a:off x="609600" y="600075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B1C3D2"/>
                </a:solidFill>
                <a:latin typeface="Arial"/>
                <a:ea typeface="Arial"/>
                <a:cs typeface="Arial"/>
              </a:defRPr>
            </a:defPPr>
          </a:lstStyle>
          <a:p xmlns:a="http://schemas.openxmlformats.org/drawingml/2006/main">
            <a:pPr algn="l">
              <a:defRPr sz="1650" b="0">
                <a:solidFill>
                  <a:srgbClr val="B1C3D2"/>
                </a:solidFill>
                <a:latin typeface="Arial"/>
                <a:ea typeface="Arial"/>
                <a:cs typeface="Arial"/>
              </a:defRPr>
            </a:pPr>
            <a:r>
              <a:rPr sz="1650" b="0">
                <a:solidFill>
                  <a:srgbClr val="B1C3D2"/>
                </a:solidFill>
                <a:latin typeface="Arial"/>
                <a:ea typeface="Arial"/>
                <a:cs typeface="Arial"/>
              </a:rPr>
              <a:t>Rules-based diagnosis     Synthetic payments     Isolated demo sessions</a:t>
            </a:r>
          </a:p>
        </p:txBody>
      </p:sp>
    </p:spTree>
    <p:extLst>
      <p:ext uri="{BB962C8B-B14F-4D97-AF65-F5344CB8AC3E}">
        <p14:creationId xmlns:p14="http://schemas.microsoft.com/office/powerpoint/2010/main" val="1056808587"/>
      </p:ext>
    </p:extLst>
  </p:cSld>
</p:sld>
</file>

<file path=ppt/slides/slide4.xml><?xml version="1.0" encoding="utf-8"?>
<p:sld xmlns:p="http://schemas.openxmlformats.org/presentationml/2006/main">
  <p:cSld>
    <p:bg>
      <p:bgPr>
        <a:solidFill xmlns:a="http://schemas.openxmlformats.org/drawingml/2006/main">
          <a:srgbClr val="081523"/>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A00A14C4-D354-4873-9DB1-26421EC1E962}"/>
              </a:ext>
            </a:extLst>
          </p:cNvPr>
          <p:cNvCxnSpPr>
            <a:stCxn xmlns:a="http://schemas.openxmlformats.org/drawingml/2006/main" id="16" idx="3"/>
            <a:endCxn xmlns:a="http://schemas.openxmlformats.org/drawingml/2006/main" id="10" idx="1"/>
          </p:cNvCxnSpPr>
          <p:nvPr/>
        </p:nvCxnSpPr>
        <p:spPr>
          <a:xfrm xmlns:a="http://schemas.openxmlformats.org/drawingml/2006/main">
            <a:off x="6838950" y="5091113"/>
            <a:ext cx="609600" cy="0"/>
          </a:xfrm>
          <a:prstGeom xmlns:a="http://schemas.openxmlformats.org/drawingml/2006/main" prst="straightConnector1">
            <a:avLst/>
          </a:prstGeom>
          <a:ln xmlns:a="http://schemas.openxmlformats.org/drawingml/2006/main" w="28575">
            <a:solidFill>
              <a:srgbClr val="44DCE3"/>
            </a:solidFill>
            <a:tailEnd type="triangle" w="med" len="med"/>
          </a:ln>
        </p:spPr>
      </p:cxnSp>
      <p:cxnSp>
        <p:nvCxnSpPr>
          <p:cNvPr id="17" name="">
            <a:extLst xmlns:a="http://schemas.openxmlformats.org/drawingml/2006/main">
              <a:ext uri="{FF2B5EF4-FFF2-40B4-BE49-F238E27FC236}">
                <a16:creationId xmlns:a16="http://schemas.microsoft.com/office/drawing/2014/main" id="{5C635EC3-3E19-4E8C-A870-E3CECAF86A26}"/>
              </a:ext>
            </a:extLst>
          </p:cNvPr>
          <p:cNvCxnSpPr>
            <a:stCxn xmlns:a="http://schemas.openxmlformats.org/drawingml/2006/main" id="12" idx="2"/>
            <a:endCxn xmlns:a="http://schemas.openxmlformats.org/drawingml/2006/main" id="16" idx="0"/>
          </p:cNvCxnSpPr>
          <p:nvPr/>
        </p:nvCxnSpPr>
        <p:spPr>
          <a:xfrm xmlns:a="http://schemas.openxmlformats.org/drawingml/2006/main">
            <a:off x="5286375" y="3895725"/>
            <a:ext cx="0" cy="790575"/>
          </a:xfrm>
          <a:prstGeom xmlns:a="http://schemas.openxmlformats.org/drawingml/2006/main" prst="straightConnector1">
            <a:avLst/>
          </a:prstGeom>
          <a:ln xmlns:a="http://schemas.openxmlformats.org/drawingml/2006/main" w="28575">
            <a:solidFill>
              <a:srgbClr val="44DCE3"/>
            </a:solidFill>
            <a:tailEnd type="triangle" w="med" len="med"/>
          </a:ln>
        </p:spPr>
      </p:cxnSp>
      <p:cxnSp>
        <p:nvCxnSpPr>
          <p:cNvPr id="15" name="">
            <a:extLst xmlns:a="http://schemas.openxmlformats.org/drawingml/2006/main">
              <a:ext uri="{FF2B5EF4-FFF2-40B4-BE49-F238E27FC236}">
                <a16:creationId xmlns:a16="http://schemas.microsoft.com/office/drawing/2014/main" id="{F1E2E7DF-47B9-4A21-81C8-563E2C8AC3B5}"/>
              </a:ext>
            </a:extLst>
          </p:cNvPr>
          <p:cNvCxnSpPr>
            <a:stCxn xmlns:a="http://schemas.openxmlformats.org/drawingml/2006/main" id="12" idx="1"/>
            <a:endCxn xmlns:a="http://schemas.openxmlformats.org/drawingml/2006/main" id="14" idx="3"/>
          </p:cNvCxnSpPr>
          <p:nvPr/>
        </p:nvCxnSpPr>
        <p:spPr>
          <a:xfrm xmlns:a="http://schemas.openxmlformats.org/drawingml/2006/main" flipH="1">
            <a:off x="3133725" y="3490913"/>
            <a:ext cx="600075" cy="0"/>
          </a:xfrm>
          <a:prstGeom xmlns:a="http://schemas.openxmlformats.org/drawingml/2006/main" prst="straightConnector1">
            <a:avLst/>
          </a:prstGeom>
          <a:ln xmlns:a="http://schemas.openxmlformats.org/drawingml/2006/main" w="28575">
            <a:solidFill>
              <a:srgbClr val="44DCE3"/>
            </a:solidFill>
            <a:tailEnd type="triangle" w="med" len="med"/>
          </a:ln>
        </p:spPr>
      </p:cxnSp>
      <p:cxnSp>
        <p:nvCxnSpPr>
          <p:cNvPr id="13" name="">
            <a:extLst xmlns:a="http://schemas.openxmlformats.org/drawingml/2006/main">
              <a:ext uri="{FF2B5EF4-FFF2-40B4-BE49-F238E27FC236}">
                <a16:creationId xmlns:a16="http://schemas.microsoft.com/office/drawing/2014/main" id="{1539F419-70ED-41B0-A128-3AA1368C97DE}"/>
              </a:ext>
            </a:extLst>
          </p:cNvPr>
          <p:cNvCxnSpPr>
            <a:stCxn xmlns:a="http://schemas.openxmlformats.org/drawingml/2006/main" id="8" idx="1"/>
            <a:endCxn xmlns:a="http://schemas.openxmlformats.org/drawingml/2006/main" id="12" idx="3"/>
          </p:cNvCxnSpPr>
          <p:nvPr/>
        </p:nvCxnSpPr>
        <p:spPr>
          <a:xfrm xmlns:a="http://schemas.openxmlformats.org/drawingml/2006/main" flipH="1">
            <a:off x="6838950" y="3490913"/>
            <a:ext cx="609600" cy="0"/>
          </a:xfrm>
          <a:prstGeom xmlns:a="http://schemas.openxmlformats.org/drawingml/2006/main" prst="straightConnector1">
            <a:avLst/>
          </a:prstGeom>
          <a:ln xmlns:a="http://schemas.openxmlformats.org/drawingml/2006/main" w="28575">
            <a:solidFill>
              <a:srgbClr val="44DCE3"/>
            </a:solidFill>
            <a:tailEnd type="triangle" w="med" len="med"/>
          </a:ln>
        </p:spPr>
      </p:cxnSp>
      <p:cxnSp>
        <p:nvCxnSpPr>
          <p:cNvPr id="11" name="">
            <a:extLst xmlns:a="http://schemas.openxmlformats.org/drawingml/2006/main">
              <a:ext uri="{FF2B5EF4-FFF2-40B4-BE49-F238E27FC236}">
                <a16:creationId xmlns:a16="http://schemas.microsoft.com/office/drawing/2014/main" id="{19F2892C-E44A-45AB-9234-49C0436AC06B}"/>
              </a:ext>
            </a:extLst>
          </p:cNvPr>
          <p:cNvCxnSpPr>
            <a:stCxn xmlns:a="http://schemas.openxmlformats.org/drawingml/2006/main" id="8" idx="2"/>
            <a:endCxn xmlns:a="http://schemas.openxmlformats.org/drawingml/2006/main" id="10" idx="0"/>
          </p:cNvCxnSpPr>
          <p:nvPr/>
        </p:nvCxnSpPr>
        <p:spPr>
          <a:xfrm xmlns:a="http://schemas.openxmlformats.org/drawingml/2006/main">
            <a:off x="9505950" y="3895725"/>
            <a:ext cx="0" cy="790575"/>
          </a:xfrm>
          <a:prstGeom xmlns:a="http://schemas.openxmlformats.org/drawingml/2006/main" prst="straightConnector1">
            <a:avLst/>
          </a:prstGeom>
          <a:ln xmlns:a="http://schemas.openxmlformats.org/drawingml/2006/main" w="28575">
            <a:solidFill>
              <a:srgbClr val="44DCE3"/>
            </a:solidFill>
            <a:tailEnd type="triangle" w="med" len="med"/>
          </a:ln>
        </p:spPr>
      </p:cxnSp>
      <p:cxnSp>
        <p:nvCxnSpPr>
          <p:cNvPr id="9" name="">
            <a:extLst xmlns:a="http://schemas.openxmlformats.org/drawingml/2006/main">
              <a:ext uri="{FF2B5EF4-FFF2-40B4-BE49-F238E27FC236}">
                <a16:creationId xmlns:a16="http://schemas.microsoft.com/office/drawing/2014/main" id="{5E0290B3-7237-4BC0-81C0-236261564B81}"/>
              </a:ext>
            </a:extLst>
          </p:cNvPr>
          <p:cNvCxnSpPr>
            <a:stCxn xmlns:a="http://schemas.openxmlformats.org/drawingml/2006/main" id="5" idx="2"/>
            <a:endCxn xmlns:a="http://schemas.openxmlformats.org/drawingml/2006/main" id="8" idx="0"/>
          </p:cNvCxnSpPr>
          <p:nvPr/>
        </p:nvCxnSpPr>
        <p:spPr>
          <a:xfrm xmlns:a="http://schemas.openxmlformats.org/drawingml/2006/main">
            <a:off x="9505950" y="2409825"/>
            <a:ext cx="0" cy="676275"/>
          </a:xfrm>
          <a:prstGeom xmlns:a="http://schemas.openxmlformats.org/drawingml/2006/main" prst="straightConnector1">
            <a:avLst/>
          </a:prstGeom>
          <a:ln xmlns:a="http://schemas.openxmlformats.org/drawingml/2006/main" w="28575">
            <a:solidFill>
              <a:srgbClr val="44DCE3"/>
            </a:solidFill>
            <a:tailEnd type="triangle" w="med" len="med"/>
          </a:ln>
        </p:spPr>
      </p:cxnSp>
      <p:cxnSp>
        <p:nvCxnSpPr>
          <p:cNvPr id="7" name="">
            <a:extLst xmlns:a="http://schemas.openxmlformats.org/drawingml/2006/main">
              <a:ext uri="{FF2B5EF4-FFF2-40B4-BE49-F238E27FC236}">
                <a16:creationId xmlns:a16="http://schemas.microsoft.com/office/drawing/2014/main" id="{523B92ED-6B79-4866-9D21-F265108194A6}"/>
              </a:ext>
            </a:extLst>
          </p:cNvPr>
          <p:cNvCxnSpPr>
            <a:stCxn xmlns:a="http://schemas.openxmlformats.org/drawingml/2006/main" id="4" idx="3"/>
            <a:endCxn xmlns:a="http://schemas.openxmlformats.org/drawingml/2006/main" id="5" idx="1"/>
          </p:cNvCxnSpPr>
          <p:nvPr/>
        </p:nvCxnSpPr>
        <p:spPr>
          <a:xfrm xmlns:a="http://schemas.openxmlformats.org/drawingml/2006/main">
            <a:off x="6838950" y="2005013"/>
            <a:ext cx="609600" cy="0"/>
          </a:xfrm>
          <a:prstGeom xmlns:a="http://schemas.openxmlformats.org/drawingml/2006/main" prst="straightConnector1">
            <a:avLst/>
          </a:prstGeom>
          <a:ln xmlns:a="http://schemas.openxmlformats.org/drawingml/2006/main" w="28575">
            <a:solidFill>
              <a:srgbClr val="44DCE3"/>
            </a:solidFill>
            <a:tailEnd type="triangle" w="med" len="med"/>
          </a:ln>
        </p:spPr>
      </p:cxnSp>
      <p:cxnSp>
        <p:nvCxnSpPr>
          <p:cNvPr id="6" name="">
            <a:extLst xmlns:a="http://schemas.openxmlformats.org/drawingml/2006/main">
              <a:ext uri="{FF2B5EF4-FFF2-40B4-BE49-F238E27FC236}">
                <a16:creationId xmlns:a16="http://schemas.microsoft.com/office/drawing/2014/main" id="{FADD1365-7B25-4309-A54B-A1EF03DB4F0D}"/>
              </a:ext>
            </a:extLst>
          </p:cNvPr>
          <p:cNvCxnSpPr>
            <a:stCxn xmlns:a="http://schemas.openxmlformats.org/drawingml/2006/main" id="3" idx="3"/>
            <a:endCxn xmlns:a="http://schemas.openxmlformats.org/drawingml/2006/main" id="4" idx="1"/>
          </p:cNvCxnSpPr>
          <p:nvPr/>
        </p:nvCxnSpPr>
        <p:spPr>
          <a:xfrm xmlns:a="http://schemas.openxmlformats.org/drawingml/2006/main">
            <a:off x="3133725" y="2005013"/>
            <a:ext cx="600075" cy="0"/>
          </a:xfrm>
          <a:prstGeom xmlns:a="http://schemas.openxmlformats.org/drawingml/2006/main" prst="straightConnector1">
            <a:avLst/>
          </a:prstGeom>
          <a:ln xmlns:a="http://schemas.openxmlformats.org/drawingml/2006/main" w="28575">
            <a:solidFill>
              <a:srgbClr val="44DCE3"/>
            </a:solidFill>
            <a:tailEnd type="triangle" w="med" len="med"/>
          </a:ln>
        </p:spPr>
      </p:cxnSp>
      <p:sp>
        <p:nvSpPr>
          <p:cNvPr id="21" name="Application architecture">
            <a:extLst xmlns:a="http://schemas.openxmlformats.org/drawingml/2006/main">
              <a:ext uri="{FF2B5EF4-FFF2-40B4-BE49-F238E27FC236}">
                <a16:creationId xmlns:a16="http://schemas.microsoft.com/office/drawing/2014/main" id="{19CFF738-A3BB-4535-868F-273DEDBE77BC}"/>
              </a:ext>
            </a:extLst>
          </p:cNvPr>
          <p:cNvSpPr>
            <a:spLocks xmlns:a="http://schemas.openxmlformats.org/drawingml/2006/main" noGrp="1"/>
          </p:cNvSpPr>
          <p:nvPr/>
        </p:nvSpPr>
        <p:spPr>
          <a:xfrm xmlns:a="http://schemas.openxmlformats.org/drawingml/2006/main">
            <a:off x="609600" y="4762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F1F7FC"/>
                </a:solidFill>
                <a:latin typeface="Arial"/>
                <a:ea typeface="Arial"/>
                <a:cs typeface="Arial"/>
              </a:defRPr>
            </a:defPPr>
          </a:lstStyle>
          <a:p xmlns:a="http://schemas.openxmlformats.org/drawingml/2006/main">
            <a:pPr algn="l">
              <a:defRPr sz="3300" b="1">
                <a:solidFill>
                  <a:srgbClr val="F1F7FC"/>
                </a:solidFill>
                <a:latin typeface="Arial"/>
                <a:ea typeface="Arial"/>
                <a:cs typeface="Arial"/>
              </a:defRPr>
            </a:pPr>
            <a:r>
              <a:rPr sz="3300" b="1">
                <a:solidFill>
                  <a:srgbClr val="F1F7FC"/>
                </a:solidFill>
                <a:latin typeface="Arial"/>
                <a:ea typeface="Arial"/>
                <a:cs typeface="Arial"/>
              </a:rPr>
              <a:t>Application architecture</a:t>
            </a:r>
          </a:p>
        </p:txBody>
      </p:sp>
      <p:sp>
        <p:nvSpPr>
          <p:cNvPr id="2" name="BizPlus AI     4/7">
            <a:extLst xmlns:a="http://schemas.openxmlformats.org/drawingml/2006/main">
              <a:ext uri="{FF2B5EF4-FFF2-40B4-BE49-F238E27FC236}">
                <a16:creationId xmlns:a16="http://schemas.microsoft.com/office/drawing/2014/main" id="{6EEAE2DD-4DF0-4277-B163-2E44DDB572FE}"/>
              </a:ext>
            </a:extLst>
          </p:cNvPr>
          <p:cNvSpPr>
            <a:spLocks xmlns:a="http://schemas.openxmlformats.org/drawingml/2006/main" noGrp="1"/>
          </p:cNvSpPr>
          <p:nvPr/>
        </p:nvSpPr>
        <p:spPr>
          <a:xfrm xmlns:a="http://schemas.openxmlformats.org/drawingml/2006/main">
            <a:off x="6096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B1C3D2"/>
                </a:solidFill>
                <a:latin typeface="Arial"/>
                <a:ea typeface="Arial"/>
                <a:cs typeface="Arial"/>
              </a:defRPr>
            </a:defPPr>
          </a:lstStyle>
          <a:p xmlns:a="http://schemas.openxmlformats.org/drawingml/2006/main">
            <a:pPr algn="l">
              <a:defRPr sz="1275" b="0">
                <a:solidFill>
                  <a:srgbClr val="B1C3D2"/>
                </a:solidFill>
                <a:latin typeface="Arial"/>
                <a:ea typeface="Arial"/>
                <a:cs typeface="Arial"/>
              </a:defRPr>
            </a:pPr>
            <a:r>
              <a:rPr sz="1275" b="0">
                <a:solidFill>
                  <a:srgbClr val="B1C3D2"/>
                </a:solidFill>
                <a:latin typeface="Arial"/>
                <a:ea typeface="Arial"/>
                <a:cs typeface="Arial"/>
              </a:rPr>
              <a:t>BizPlus AI     4/7</a:t>
            </a:r>
          </a:p>
        </p:txBody>
      </p:sp>
      <p:sp>
        <p:nvSpPr>
          <p:cNvPr id="3" name="Judge browser">
            <a:extLst xmlns:a="http://schemas.openxmlformats.org/drawingml/2006/main">
              <a:ext uri="{FF2B5EF4-FFF2-40B4-BE49-F238E27FC236}">
                <a16:creationId xmlns:a16="http://schemas.microsoft.com/office/drawing/2014/main" id="{F4BE8B5C-1C38-4E84-9A4E-8C628E295F78}"/>
              </a:ext>
            </a:extLst>
          </p:cNvPr>
          <p:cNvSpPr>
            <a:spLocks xmlns:a="http://schemas.openxmlformats.org/drawingml/2006/main" noGrp="1"/>
          </p:cNvSpPr>
          <p:nvPr/>
        </p:nvSpPr>
        <p:spPr>
          <a:xfrm xmlns:a="http://schemas.openxmlformats.org/drawingml/2006/main">
            <a:off x="609600" y="1600200"/>
            <a:ext cx="2524125" cy="809625"/>
          </a:xfrm>
          <a:prstGeom xmlns:a="http://schemas.openxmlformats.org/drawingml/2006/main" prst="rect">
            <a:avLst/>
          </a:prstGeom>
          <a:solidFill xmlns:a="http://schemas.openxmlformats.org/drawingml/2006/main">
            <a:srgbClr val="122C42"/>
          </a:solidFill>
          <a:ln xmlns:a="http://schemas.openxmlformats.org/drawingml/2006/main" w="19050">
            <a:solidFill>
              <a:srgbClr val="41596E"/>
            </a:solidFill>
          </a:ln>
        </p:spPr>
        <p:txBody>
          <a:bodyPr xmlns:a="http://schemas.openxmlformats.org/drawingml/2006/main" lIns="114300" tIns="114300" rIns="114300" bIns="114300" anchor="ctr"/>
          <a:lstStyle xmlns:a="http://schemas.openxmlformats.org/drawingml/2006/main">
            <a:defPPr algn="ctr">
              <a:defRPr sz="1875" b="1">
                <a:solidFill>
                  <a:srgbClr val="F1F7FC"/>
                </a:solidFill>
                <a:latin typeface="Arial"/>
                <a:ea typeface="Arial"/>
                <a:cs typeface="Arial"/>
              </a:defRPr>
            </a:defPPr>
          </a:lstStyle>
          <a:p xmlns:a="http://schemas.openxmlformats.org/drawingml/2006/main">
            <a:pPr algn="ctr">
              <a:defRPr sz="1875" b="1">
                <a:solidFill>
                  <a:srgbClr val="F1F7FC"/>
                </a:solidFill>
                <a:latin typeface="Arial"/>
                <a:ea typeface="Arial"/>
                <a:cs typeface="Arial"/>
              </a:defRPr>
            </a:pPr>
            <a:r>
              <a:rPr sz="1875" b="1">
                <a:solidFill>
                  <a:srgbClr val="F1F7FC"/>
                </a:solidFill>
                <a:latin typeface="Arial"/>
                <a:ea typeface="Arial"/>
                <a:cs typeface="Arial"/>
              </a:rPr>
              <a:t>Judge browser</a:t>
            </a:r>
          </a:p>
        </p:txBody>
      </p:sp>
      <p:sp>
        <p:nvSpPr>
          <p:cNvPr id="4" name="React on Netlify">
            <a:extLst xmlns:a="http://schemas.openxmlformats.org/drawingml/2006/main">
              <a:ext uri="{FF2B5EF4-FFF2-40B4-BE49-F238E27FC236}">
                <a16:creationId xmlns:a16="http://schemas.microsoft.com/office/drawing/2014/main" id="{B8983C75-F54B-4A3D-9166-DB3B06503F6B}"/>
              </a:ext>
            </a:extLst>
          </p:cNvPr>
          <p:cNvSpPr>
            <a:spLocks xmlns:a="http://schemas.openxmlformats.org/drawingml/2006/main" noGrp="1"/>
          </p:cNvSpPr>
          <p:nvPr/>
        </p:nvSpPr>
        <p:spPr>
          <a:xfrm xmlns:a="http://schemas.openxmlformats.org/drawingml/2006/main">
            <a:off x="3733800" y="1600200"/>
            <a:ext cx="3105150" cy="809625"/>
          </a:xfrm>
          <a:prstGeom xmlns:a="http://schemas.openxmlformats.org/drawingml/2006/main" prst="rect">
            <a:avLst/>
          </a:prstGeom>
          <a:solidFill xmlns:a="http://schemas.openxmlformats.org/drawingml/2006/main">
            <a:srgbClr val="122C42"/>
          </a:solidFill>
          <a:ln xmlns:a="http://schemas.openxmlformats.org/drawingml/2006/main" w="19050">
            <a:solidFill>
              <a:srgbClr val="41596E"/>
            </a:solidFill>
          </a:ln>
        </p:spPr>
        <p:txBody>
          <a:bodyPr xmlns:a="http://schemas.openxmlformats.org/drawingml/2006/main" lIns="114300" tIns="114300" rIns="114300" bIns="114300" anchor="ctr"/>
          <a:lstStyle xmlns:a="http://schemas.openxmlformats.org/drawingml/2006/main">
            <a:defPPr algn="ctr">
              <a:defRPr sz="1875" b="1">
                <a:solidFill>
                  <a:srgbClr val="F1F7FC"/>
                </a:solidFill>
                <a:latin typeface="Arial"/>
                <a:ea typeface="Arial"/>
                <a:cs typeface="Arial"/>
              </a:defRPr>
            </a:defPPr>
          </a:lstStyle>
          <a:p xmlns:a="http://schemas.openxmlformats.org/drawingml/2006/main">
            <a:pPr algn="ctr">
              <a:defRPr sz="1875" b="1">
                <a:solidFill>
                  <a:srgbClr val="F1F7FC"/>
                </a:solidFill>
                <a:latin typeface="Arial"/>
                <a:ea typeface="Arial"/>
                <a:cs typeface="Arial"/>
              </a:defRPr>
            </a:pPr>
            <a:r>
              <a:rPr sz="1875" b="1">
                <a:solidFill>
                  <a:srgbClr val="F1F7FC"/>
                </a:solidFill>
                <a:latin typeface="Arial"/>
                <a:ea typeface="Arial"/>
                <a:cs typeface="Arial"/>
              </a:rPr>
              <a:t>React on Netlify</a:t>
            </a:r>
          </a:p>
        </p:txBody>
      </p:sp>
      <p:sp>
        <p:nvSpPr>
          <p:cNvPr id="5" name="Express on Render">
            <a:extLst xmlns:a="http://schemas.openxmlformats.org/drawingml/2006/main">
              <a:ext uri="{FF2B5EF4-FFF2-40B4-BE49-F238E27FC236}">
                <a16:creationId xmlns:a16="http://schemas.microsoft.com/office/drawing/2014/main" id="{BBF81FBE-C676-4ED3-9FE9-38068F824819}"/>
              </a:ext>
            </a:extLst>
          </p:cNvPr>
          <p:cNvSpPr>
            <a:spLocks xmlns:a="http://schemas.openxmlformats.org/drawingml/2006/main" noGrp="1"/>
          </p:cNvSpPr>
          <p:nvPr/>
        </p:nvSpPr>
        <p:spPr>
          <a:xfrm xmlns:a="http://schemas.openxmlformats.org/drawingml/2006/main">
            <a:off x="7448550" y="1600200"/>
            <a:ext cx="4114800" cy="809625"/>
          </a:xfrm>
          <a:prstGeom xmlns:a="http://schemas.openxmlformats.org/drawingml/2006/main" prst="rect">
            <a:avLst/>
          </a:prstGeom>
          <a:solidFill xmlns:a="http://schemas.openxmlformats.org/drawingml/2006/main">
            <a:srgbClr val="122C42"/>
          </a:solidFill>
          <a:ln xmlns:a="http://schemas.openxmlformats.org/drawingml/2006/main" w="19050">
            <a:solidFill>
              <a:srgbClr val="41596E"/>
            </a:solidFill>
          </a:ln>
        </p:spPr>
        <p:txBody>
          <a:bodyPr xmlns:a="http://schemas.openxmlformats.org/drawingml/2006/main" lIns="114300" tIns="114300" rIns="114300" bIns="114300" anchor="ctr"/>
          <a:lstStyle xmlns:a="http://schemas.openxmlformats.org/drawingml/2006/main">
            <a:defPPr algn="ctr">
              <a:defRPr sz="1875" b="1">
                <a:solidFill>
                  <a:srgbClr val="F1F7FC"/>
                </a:solidFill>
                <a:latin typeface="Arial"/>
                <a:ea typeface="Arial"/>
                <a:cs typeface="Arial"/>
              </a:defRPr>
            </a:defPPr>
          </a:lstStyle>
          <a:p xmlns:a="http://schemas.openxmlformats.org/drawingml/2006/main">
            <a:pPr algn="ctr">
              <a:defRPr sz="1875" b="1">
                <a:solidFill>
                  <a:srgbClr val="F1F7FC"/>
                </a:solidFill>
                <a:latin typeface="Arial"/>
                <a:ea typeface="Arial"/>
                <a:cs typeface="Arial"/>
              </a:defRPr>
            </a:pPr>
            <a:r>
              <a:rPr sz="1875" b="1">
                <a:solidFill>
                  <a:srgbClr val="F1F7FC"/>
                </a:solidFill>
                <a:latin typeface="Arial"/>
                <a:ea typeface="Arial"/>
                <a:cs typeface="Arial"/>
              </a:rPr>
              <a:t>Express on Render</a:t>
            </a:r>
          </a:p>
        </p:txBody>
      </p:sp>
      <p:sp>
        <p:nvSpPr>
          <p:cNvPr id="8" name="HTTP workflow runner">
            <a:extLst xmlns:a="http://schemas.openxmlformats.org/drawingml/2006/main">
              <a:ext uri="{FF2B5EF4-FFF2-40B4-BE49-F238E27FC236}">
                <a16:creationId xmlns:a16="http://schemas.microsoft.com/office/drawing/2014/main" id="{9AD13A49-F98C-487F-8145-A477F56D8F44}"/>
              </a:ext>
            </a:extLst>
          </p:cNvPr>
          <p:cNvSpPr>
            <a:spLocks xmlns:a="http://schemas.openxmlformats.org/drawingml/2006/main" noGrp="1"/>
          </p:cNvSpPr>
          <p:nvPr/>
        </p:nvSpPr>
        <p:spPr>
          <a:xfrm xmlns:a="http://schemas.openxmlformats.org/drawingml/2006/main">
            <a:off x="7448550" y="3086100"/>
            <a:ext cx="4114800" cy="809625"/>
          </a:xfrm>
          <a:prstGeom xmlns:a="http://schemas.openxmlformats.org/drawingml/2006/main" prst="rect">
            <a:avLst/>
          </a:prstGeom>
          <a:solidFill xmlns:a="http://schemas.openxmlformats.org/drawingml/2006/main">
            <a:srgbClr val="122C42"/>
          </a:solidFill>
          <a:ln xmlns:a="http://schemas.openxmlformats.org/drawingml/2006/main" w="19050">
            <a:solidFill>
              <a:srgbClr val="41596E"/>
            </a:solidFill>
          </a:ln>
        </p:spPr>
        <p:txBody>
          <a:bodyPr xmlns:a="http://schemas.openxmlformats.org/drawingml/2006/main" lIns="114300" tIns="114300" rIns="114300" bIns="114300" anchor="ctr"/>
          <a:lstStyle xmlns:a="http://schemas.openxmlformats.org/drawingml/2006/main">
            <a:defPPr algn="ctr">
              <a:defRPr sz="1875" b="1">
                <a:solidFill>
                  <a:srgbClr val="F1F7FC"/>
                </a:solidFill>
                <a:latin typeface="Arial"/>
                <a:ea typeface="Arial"/>
                <a:cs typeface="Arial"/>
              </a:defRPr>
            </a:defPPr>
          </a:lstStyle>
          <a:p xmlns:a="http://schemas.openxmlformats.org/drawingml/2006/main">
            <a:pPr algn="ctr">
              <a:defRPr sz="1875" b="1">
                <a:solidFill>
                  <a:srgbClr val="F1F7FC"/>
                </a:solidFill>
                <a:latin typeface="Arial"/>
                <a:ea typeface="Arial"/>
                <a:cs typeface="Arial"/>
              </a:defRPr>
            </a:pPr>
            <a:r>
              <a:rPr sz="1875" b="1">
                <a:solidFill>
                  <a:srgbClr val="F1F7FC"/>
                </a:solidFill>
                <a:latin typeface="Arial"/>
                <a:ea typeface="Arial"/>
                <a:cs typeface="Arial"/>
              </a:rPr>
              <a:t>HTTP workflow runner</a:t>
            </a:r>
          </a:p>
        </p:txBody>
      </p:sp>
      <p:sp>
        <p:nvSpPr>
          <p:cNvPr id="10" name="Owned shop sandbox">
            <a:extLst xmlns:a="http://schemas.openxmlformats.org/drawingml/2006/main">
              <a:ext uri="{FF2B5EF4-FFF2-40B4-BE49-F238E27FC236}">
                <a16:creationId xmlns:a16="http://schemas.microsoft.com/office/drawing/2014/main" id="{E7F67003-D97F-4A20-9563-62FFB954B90D}"/>
              </a:ext>
            </a:extLst>
          </p:cNvPr>
          <p:cNvSpPr>
            <a:spLocks xmlns:a="http://schemas.openxmlformats.org/drawingml/2006/main" noGrp="1"/>
          </p:cNvSpPr>
          <p:nvPr/>
        </p:nvSpPr>
        <p:spPr>
          <a:xfrm xmlns:a="http://schemas.openxmlformats.org/drawingml/2006/main">
            <a:off x="7448550" y="4686300"/>
            <a:ext cx="4114800" cy="809625"/>
          </a:xfrm>
          <a:prstGeom xmlns:a="http://schemas.openxmlformats.org/drawingml/2006/main" prst="rect">
            <a:avLst/>
          </a:prstGeom>
          <a:solidFill xmlns:a="http://schemas.openxmlformats.org/drawingml/2006/main">
            <a:srgbClr val="122C42"/>
          </a:solidFill>
          <a:ln xmlns:a="http://schemas.openxmlformats.org/drawingml/2006/main" w="19050">
            <a:solidFill>
              <a:srgbClr val="41596E"/>
            </a:solidFill>
          </a:ln>
        </p:spPr>
        <p:txBody>
          <a:bodyPr xmlns:a="http://schemas.openxmlformats.org/drawingml/2006/main" lIns="114300" tIns="114300" rIns="114300" bIns="114300" anchor="ctr"/>
          <a:lstStyle xmlns:a="http://schemas.openxmlformats.org/drawingml/2006/main">
            <a:defPPr algn="ctr">
              <a:defRPr sz="1875" b="1">
                <a:solidFill>
                  <a:srgbClr val="F1F7FC"/>
                </a:solidFill>
                <a:latin typeface="Arial"/>
                <a:ea typeface="Arial"/>
                <a:cs typeface="Arial"/>
              </a:defRPr>
            </a:defPPr>
          </a:lstStyle>
          <a:p xmlns:a="http://schemas.openxmlformats.org/drawingml/2006/main">
            <a:pPr algn="ctr">
              <a:defRPr sz="1875" b="1">
                <a:solidFill>
                  <a:srgbClr val="F1F7FC"/>
                </a:solidFill>
                <a:latin typeface="Arial"/>
                <a:ea typeface="Arial"/>
                <a:cs typeface="Arial"/>
              </a:defRPr>
            </a:pPr>
            <a:r>
              <a:rPr sz="1875" b="1">
                <a:solidFill>
                  <a:srgbClr val="F1F7FC"/>
                </a:solidFill>
                <a:latin typeface="Arial"/>
                <a:ea typeface="Arial"/>
                <a:cs typeface="Arial"/>
              </a:rPr>
              <a:t>Owned shop sandbox</a:t>
            </a:r>
          </a:p>
        </p:txBody>
      </p:sp>
      <p:sp>
        <p:nvSpPr>
          <p:cNvPr id="12" name="Rules and fingerprints">
            <a:extLst xmlns:a="http://schemas.openxmlformats.org/drawingml/2006/main">
              <a:ext uri="{FF2B5EF4-FFF2-40B4-BE49-F238E27FC236}">
                <a16:creationId xmlns:a16="http://schemas.microsoft.com/office/drawing/2014/main" id="{588D5E51-B582-454C-BDE5-F186C557FDD9}"/>
              </a:ext>
            </a:extLst>
          </p:cNvPr>
          <p:cNvSpPr>
            <a:spLocks xmlns:a="http://schemas.openxmlformats.org/drawingml/2006/main" noGrp="1"/>
          </p:cNvSpPr>
          <p:nvPr/>
        </p:nvSpPr>
        <p:spPr>
          <a:xfrm xmlns:a="http://schemas.openxmlformats.org/drawingml/2006/main">
            <a:off x="3733800" y="3086100"/>
            <a:ext cx="3105150" cy="809625"/>
          </a:xfrm>
          <a:prstGeom xmlns:a="http://schemas.openxmlformats.org/drawingml/2006/main" prst="rect">
            <a:avLst/>
          </a:prstGeom>
          <a:solidFill xmlns:a="http://schemas.openxmlformats.org/drawingml/2006/main">
            <a:srgbClr val="122C42"/>
          </a:solidFill>
          <a:ln xmlns:a="http://schemas.openxmlformats.org/drawingml/2006/main" w="19050">
            <a:solidFill>
              <a:srgbClr val="41596E"/>
            </a:solidFill>
          </a:ln>
        </p:spPr>
        <p:txBody>
          <a:bodyPr xmlns:a="http://schemas.openxmlformats.org/drawingml/2006/main" lIns="114300" tIns="114300" rIns="114300" bIns="114300" anchor="ctr"/>
          <a:lstStyle xmlns:a="http://schemas.openxmlformats.org/drawingml/2006/main">
            <a:defPPr algn="ctr">
              <a:defRPr sz="1875" b="1">
                <a:solidFill>
                  <a:srgbClr val="F1F7FC"/>
                </a:solidFill>
                <a:latin typeface="Arial"/>
                <a:ea typeface="Arial"/>
                <a:cs typeface="Arial"/>
              </a:defRPr>
            </a:defPPr>
          </a:lstStyle>
          <a:p xmlns:a="http://schemas.openxmlformats.org/drawingml/2006/main">
            <a:pPr algn="ctr">
              <a:defRPr sz="1875" b="1">
                <a:solidFill>
                  <a:srgbClr val="F1F7FC"/>
                </a:solidFill>
                <a:latin typeface="Arial"/>
                <a:ea typeface="Arial"/>
                <a:cs typeface="Arial"/>
              </a:defRPr>
            </a:pPr>
            <a:r>
              <a:rPr sz="1875" b="1">
                <a:solidFill>
                  <a:srgbClr val="F1F7FC"/>
                </a:solidFill>
                <a:latin typeface="Arial"/>
                <a:ea typeface="Arial"/>
                <a:cs typeface="Arial"/>
              </a:rPr>
              <a:t>Rules and fingerprints</a:t>
            </a:r>
          </a:p>
        </p:txBody>
      </p:sp>
      <p:sp>
        <p:nvSpPr>
          <p:cNvPr id="14" name="SQLite evidence history">
            <a:extLst xmlns:a="http://schemas.openxmlformats.org/drawingml/2006/main">
              <a:ext uri="{FF2B5EF4-FFF2-40B4-BE49-F238E27FC236}">
                <a16:creationId xmlns:a16="http://schemas.microsoft.com/office/drawing/2014/main" id="{1ACFD432-E40C-4B58-9016-96FA6C3CF2C9}"/>
              </a:ext>
            </a:extLst>
          </p:cNvPr>
          <p:cNvSpPr>
            <a:spLocks xmlns:a="http://schemas.openxmlformats.org/drawingml/2006/main" noGrp="1"/>
          </p:cNvSpPr>
          <p:nvPr/>
        </p:nvSpPr>
        <p:spPr>
          <a:xfrm xmlns:a="http://schemas.openxmlformats.org/drawingml/2006/main">
            <a:off x="609600" y="3086100"/>
            <a:ext cx="2524125" cy="809625"/>
          </a:xfrm>
          <a:prstGeom xmlns:a="http://schemas.openxmlformats.org/drawingml/2006/main" prst="rect">
            <a:avLst/>
          </a:prstGeom>
          <a:solidFill xmlns:a="http://schemas.openxmlformats.org/drawingml/2006/main">
            <a:srgbClr val="122C42"/>
          </a:solidFill>
          <a:ln xmlns:a="http://schemas.openxmlformats.org/drawingml/2006/main" w="19050">
            <a:solidFill>
              <a:srgbClr val="41596E"/>
            </a:solidFill>
          </a:ln>
        </p:spPr>
        <p:txBody>
          <a:bodyPr xmlns:a="http://schemas.openxmlformats.org/drawingml/2006/main" lIns="114300" tIns="114300" rIns="114300" bIns="114300" anchor="ctr"/>
          <a:lstStyle xmlns:a="http://schemas.openxmlformats.org/drawingml/2006/main">
            <a:defPPr algn="ctr">
              <a:defRPr sz="1875" b="1">
                <a:solidFill>
                  <a:srgbClr val="F1F7FC"/>
                </a:solidFill>
                <a:latin typeface="Arial"/>
                <a:ea typeface="Arial"/>
                <a:cs typeface="Arial"/>
              </a:defRPr>
            </a:defPPr>
          </a:lstStyle>
          <a:p xmlns:a="http://schemas.openxmlformats.org/drawingml/2006/main">
            <a:pPr algn="ctr">
              <a:defRPr sz="1875" b="1">
                <a:solidFill>
                  <a:srgbClr val="F1F7FC"/>
                </a:solidFill>
                <a:latin typeface="Arial"/>
                <a:ea typeface="Arial"/>
                <a:cs typeface="Arial"/>
              </a:defRPr>
            </a:pPr>
            <a:r>
              <a:rPr sz="1875" b="1">
                <a:solidFill>
                  <a:srgbClr val="F1F7FC"/>
                </a:solidFill>
                <a:latin typeface="Arial"/>
                <a:ea typeface="Arial"/>
                <a:cs typeface="Arial"/>
              </a:rPr>
              <a:t>SQLite evidence history</a:t>
            </a:r>
          </a:p>
        </p:txBody>
      </p:sp>
      <p:sp>
        <p:nvSpPr>
          <p:cNvPr id="16" name="Approved worker resume">
            <a:extLst xmlns:a="http://schemas.openxmlformats.org/drawingml/2006/main">
              <a:ext uri="{FF2B5EF4-FFF2-40B4-BE49-F238E27FC236}">
                <a16:creationId xmlns:a16="http://schemas.microsoft.com/office/drawing/2014/main" id="{4D6F9DBC-42A0-4665-B276-8330495E25C8}"/>
              </a:ext>
            </a:extLst>
          </p:cNvPr>
          <p:cNvSpPr>
            <a:spLocks xmlns:a="http://schemas.openxmlformats.org/drawingml/2006/main" noGrp="1"/>
          </p:cNvSpPr>
          <p:nvPr/>
        </p:nvSpPr>
        <p:spPr>
          <a:xfrm xmlns:a="http://schemas.openxmlformats.org/drawingml/2006/main">
            <a:off x="3733800" y="4686300"/>
            <a:ext cx="3105150" cy="809625"/>
          </a:xfrm>
          <a:prstGeom xmlns:a="http://schemas.openxmlformats.org/drawingml/2006/main" prst="rect">
            <a:avLst/>
          </a:prstGeom>
          <a:solidFill xmlns:a="http://schemas.openxmlformats.org/drawingml/2006/main">
            <a:srgbClr val="122C42"/>
          </a:solidFill>
          <a:ln xmlns:a="http://schemas.openxmlformats.org/drawingml/2006/main" w="19050">
            <a:solidFill>
              <a:srgbClr val="41596E"/>
            </a:solidFill>
          </a:ln>
        </p:spPr>
        <p:txBody>
          <a:bodyPr xmlns:a="http://schemas.openxmlformats.org/drawingml/2006/main" lIns="114300" tIns="114300" rIns="114300" bIns="114300" anchor="ctr"/>
          <a:lstStyle xmlns:a="http://schemas.openxmlformats.org/drawingml/2006/main">
            <a:defPPr algn="ctr">
              <a:defRPr sz="1875" b="1">
                <a:solidFill>
                  <a:srgbClr val="F1F7FC"/>
                </a:solidFill>
                <a:latin typeface="Arial"/>
                <a:ea typeface="Arial"/>
                <a:cs typeface="Arial"/>
              </a:defRPr>
            </a:defPPr>
          </a:lstStyle>
          <a:p xmlns:a="http://schemas.openxmlformats.org/drawingml/2006/main">
            <a:pPr algn="ctr">
              <a:defRPr sz="1875" b="1">
                <a:solidFill>
                  <a:srgbClr val="F1F7FC"/>
                </a:solidFill>
                <a:latin typeface="Arial"/>
                <a:ea typeface="Arial"/>
                <a:cs typeface="Arial"/>
              </a:defRPr>
            </a:pPr>
            <a:r>
              <a:rPr sz="1875" b="1">
                <a:solidFill>
                  <a:srgbClr val="F1F7FC"/>
                </a:solidFill>
                <a:latin typeface="Arial"/>
                <a:ea typeface="Arial"/>
                <a:cs typeface="Arial"/>
              </a:rPr>
              <a:t>Approved worker resume</a:t>
            </a:r>
          </a:p>
        </p:txBody>
      </p:sp>
      <p:sp>
        <p:nvSpPr>
          <p:cNvPr id="19" name="Shared TypeScript contracts">
            <a:extLst xmlns:a="http://schemas.openxmlformats.org/drawingml/2006/main">
              <a:ext uri="{FF2B5EF4-FFF2-40B4-BE49-F238E27FC236}">
                <a16:creationId xmlns:a16="http://schemas.microsoft.com/office/drawing/2014/main" id="{5EFCDDC2-1AD7-4FDC-B7A4-06525A797D2C}"/>
              </a:ext>
            </a:extLst>
          </p:cNvPr>
          <p:cNvSpPr>
            <a:spLocks xmlns:a="http://schemas.openxmlformats.org/drawingml/2006/main" noGrp="1"/>
          </p:cNvSpPr>
          <p:nvPr/>
        </p:nvSpPr>
        <p:spPr>
          <a:xfrm xmlns:a="http://schemas.openxmlformats.org/drawingml/2006/main">
            <a:off x="609600" y="4429125"/>
            <a:ext cx="25146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44DCE3"/>
                </a:solidFill>
                <a:latin typeface="Arial"/>
                <a:ea typeface="Arial"/>
                <a:cs typeface="Arial"/>
              </a:defRPr>
            </a:defPPr>
          </a:lstStyle>
          <a:p xmlns:a="http://schemas.openxmlformats.org/drawingml/2006/main">
            <a:pPr algn="l">
              <a:defRPr sz="1875" b="1">
                <a:solidFill>
                  <a:srgbClr val="44DCE3"/>
                </a:solidFill>
                <a:latin typeface="Arial"/>
                <a:ea typeface="Arial"/>
                <a:cs typeface="Arial"/>
              </a:defRPr>
            </a:pPr>
            <a:r>
              <a:rPr sz="1875" b="1">
                <a:solidFill>
                  <a:srgbClr val="44DCE3"/>
                </a:solidFill>
                <a:latin typeface="Arial"/>
                <a:ea typeface="Arial"/>
                <a:cs typeface="Arial"/>
              </a:rPr>
              <a:t>Shared TypeScript contracts</a:t>
            </a:r>
          </a:p>
        </p:txBody>
      </p:sp>
      <p:sp>
        <p:nvSpPr>
          <p:cNvPr id="20" name="Temporary hosted history&#10;Local offline fallback">
            <a:extLst xmlns:a="http://schemas.openxmlformats.org/drawingml/2006/main">
              <a:ext uri="{FF2B5EF4-FFF2-40B4-BE49-F238E27FC236}">
                <a16:creationId xmlns:a16="http://schemas.microsoft.com/office/drawing/2014/main" id="{CD629E42-29FF-493D-8491-808EAFB30947}"/>
              </a:ext>
            </a:extLst>
          </p:cNvPr>
          <p:cNvSpPr>
            <a:spLocks xmlns:a="http://schemas.openxmlformats.org/drawingml/2006/main" noGrp="1"/>
          </p:cNvSpPr>
          <p:nvPr/>
        </p:nvSpPr>
        <p:spPr>
          <a:xfrm xmlns:a="http://schemas.openxmlformats.org/drawingml/2006/main">
            <a:off x="609600" y="5324475"/>
            <a:ext cx="6096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1C3D2"/>
                </a:solidFill>
                <a:latin typeface="Arial"/>
                <a:ea typeface="Arial"/>
                <a:cs typeface="Arial"/>
              </a:defRPr>
            </a:defPPr>
          </a:lstStyle>
          <a:p xmlns:a="http://schemas.openxmlformats.org/drawingml/2006/main">
            <a:pPr algn="l">
              <a:defRPr sz="1875" b="0">
                <a:solidFill>
                  <a:srgbClr val="B1C3D2"/>
                </a:solidFill>
                <a:latin typeface="Arial"/>
                <a:ea typeface="Arial"/>
                <a:cs typeface="Arial"/>
              </a:defRPr>
            </a:pPr>
            <a:r>
              <a:rPr sz="1875" b="0">
                <a:solidFill>
                  <a:srgbClr val="B1C3D2"/>
                </a:solidFill>
                <a:latin typeface="Arial"/>
                <a:ea typeface="Arial"/>
                <a:cs typeface="Arial"/>
              </a:rPr>
              <a:t>Temporary hosted history</a:t>
            </a:r>
          </a:p>
          <a:p xmlns:a="http://schemas.openxmlformats.org/drawingml/2006/main">
            <a:pPr algn="l">
              <a:defRPr sz="1875" b="0">
                <a:solidFill>
                  <a:srgbClr val="B1C3D2"/>
                </a:solidFill>
                <a:latin typeface="Arial"/>
                <a:ea typeface="Arial"/>
                <a:cs typeface="Arial"/>
              </a:defRPr>
            </a:pPr>
            <a:r>
              <a:rPr sz="1875" b="0">
                <a:solidFill>
                  <a:srgbClr val="B1C3D2"/>
                </a:solidFill>
                <a:latin typeface="Arial"/>
                <a:ea typeface="Arial"/>
                <a:cs typeface="Arial"/>
              </a:rPr>
              <a:t>Local offline fallback</a:t>
            </a:r>
          </a:p>
        </p:txBody>
      </p:sp>
    </p:spTree>
    <p:extLst>
      <p:ext uri="{BB962C8B-B14F-4D97-AF65-F5344CB8AC3E}">
        <p14:creationId xmlns:p14="http://schemas.microsoft.com/office/powerpoint/2010/main" val="1799598821"/>
      </p:ext>
    </p:extLst>
  </p:cSld>
</p:sld>
</file>

<file path=ppt/slides/slide5.xml><?xml version="1.0" encoding="utf-8"?>
<p:sld xmlns:p="http://schemas.openxmlformats.org/presentationml/2006/main">
  <p:cSld>
    <p:bg>
      <p:bgPr>
        <a:solidFill xmlns:a="http://schemas.openxmlformats.org/drawingml/2006/main">
          <a:srgbClr val="081523"/>
        </a:solidFill>
      </p:bgPr>
    </p:bg>
    <p:spTree>
      <p:nvGrpSpPr>
        <p:cNvPr id="1" name=""/>
        <p:cNvGrpSpPr/>
        <p:nvPr/>
      </p:nvGrpSpPr>
      <p:grpSpPr>
        <a:xfrm xmlns:a="http://schemas.openxmlformats.org/drawingml/2006/main"/>
      </p:grpSpPr>
      <p:sp>
        <p:nvSpPr>
          <p:cNvPr id="6" name="Failure investigation and verified recovery">
            <a:extLst xmlns:a="http://schemas.openxmlformats.org/drawingml/2006/main">
              <a:ext uri="{FF2B5EF4-FFF2-40B4-BE49-F238E27FC236}">
                <a16:creationId xmlns:a16="http://schemas.microsoft.com/office/drawing/2014/main" id="{74B31F50-31EA-49C4-BD01-8B31C82A57B4}"/>
              </a:ext>
            </a:extLst>
          </p:cNvPr>
          <p:cNvSpPr>
            <a:spLocks xmlns:a="http://schemas.openxmlformats.org/drawingml/2006/main" noGrp="1"/>
          </p:cNvSpPr>
          <p:nvPr/>
        </p:nvSpPr>
        <p:spPr>
          <a:xfrm xmlns:a="http://schemas.openxmlformats.org/drawingml/2006/main">
            <a:off x="609600" y="4762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F1F7FC"/>
                </a:solidFill>
                <a:latin typeface="Arial"/>
                <a:ea typeface="Arial"/>
                <a:cs typeface="Arial"/>
              </a:defRPr>
            </a:defPPr>
          </a:lstStyle>
          <a:p xmlns:a="http://schemas.openxmlformats.org/drawingml/2006/main">
            <a:pPr algn="l">
              <a:defRPr sz="3300" b="1">
                <a:solidFill>
                  <a:srgbClr val="F1F7FC"/>
                </a:solidFill>
                <a:latin typeface="Arial"/>
                <a:ea typeface="Arial"/>
                <a:cs typeface="Arial"/>
              </a:defRPr>
            </a:pPr>
            <a:r>
              <a:rPr sz="3300" b="1">
                <a:solidFill>
                  <a:srgbClr val="F1F7FC"/>
                </a:solidFill>
                <a:latin typeface="Arial"/>
                <a:ea typeface="Arial"/>
                <a:cs typeface="Arial"/>
              </a:rPr>
              <a:t>Failure investigation and verified recovery</a:t>
            </a:r>
          </a:p>
        </p:txBody>
      </p:sp>
      <p:sp>
        <p:nvSpPr>
          <p:cNvPr id="2" name="BizPlus AI     5/7">
            <a:extLst xmlns:a="http://schemas.openxmlformats.org/drawingml/2006/main">
              <a:ext uri="{FF2B5EF4-FFF2-40B4-BE49-F238E27FC236}">
                <a16:creationId xmlns:a16="http://schemas.microsoft.com/office/drawing/2014/main" id="{BF281953-1721-428B-B22C-A4446C0E714D}"/>
              </a:ext>
            </a:extLst>
          </p:cNvPr>
          <p:cNvSpPr>
            <a:spLocks xmlns:a="http://schemas.openxmlformats.org/drawingml/2006/main" noGrp="1"/>
          </p:cNvSpPr>
          <p:nvPr/>
        </p:nvSpPr>
        <p:spPr>
          <a:xfrm xmlns:a="http://schemas.openxmlformats.org/drawingml/2006/main">
            <a:off x="6096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B1C3D2"/>
                </a:solidFill>
                <a:latin typeface="Arial"/>
                <a:ea typeface="Arial"/>
                <a:cs typeface="Arial"/>
              </a:defRPr>
            </a:defPPr>
          </a:lstStyle>
          <a:p xmlns:a="http://schemas.openxmlformats.org/drawingml/2006/main">
            <a:pPr algn="l">
              <a:defRPr sz="1275" b="0">
                <a:solidFill>
                  <a:srgbClr val="B1C3D2"/>
                </a:solidFill>
                <a:latin typeface="Arial"/>
                <a:ea typeface="Arial"/>
                <a:cs typeface="Arial"/>
              </a:defRPr>
            </a:pPr>
            <a:r>
              <a:rPr sz="1275" b="0">
                <a:solidFill>
                  <a:srgbClr val="B1C3D2"/>
                </a:solidFill>
                <a:latin typeface="Arial"/>
                <a:ea typeface="Arial"/>
                <a:cs typeface="Arial"/>
              </a:rPr>
              <a:t>BizPlus AI     5/7</a:t>
            </a:r>
          </a:p>
        </p:txBody>
      </p:sp>
      <p:sp>
        <p:nvSpPr>
          <p:cNvPr id="3" name="1  Run Missing confirmation&#10;&#10;2  Inspect response and logs&#10;&#10;3  Approve ">
            <a:extLst xmlns:a="http://schemas.openxmlformats.org/drawingml/2006/main">
              <a:ext uri="{FF2B5EF4-FFF2-40B4-BE49-F238E27FC236}">
                <a16:creationId xmlns:a16="http://schemas.microsoft.com/office/drawing/2014/main" id="{E57FD8F6-CD8A-4134-B8D5-4F1813709678}"/>
              </a:ext>
            </a:extLst>
          </p:cNvPr>
          <p:cNvSpPr>
            <a:spLocks xmlns:a="http://schemas.openxmlformats.org/drawingml/2006/main" noGrp="1"/>
          </p:cNvSpPr>
          <p:nvPr/>
        </p:nvSpPr>
        <p:spPr>
          <a:xfrm xmlns:a="http://schemas.openxmlformats.org/drawingml/2006/main">
            <a:off x="609600" y="1657350"/>
            <a:ext cx="364807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1F7FC"/>
                </a:solidFill>
                <a:latin typeface="Arial"/>
                <a:ea typeface="Arial"/>
                <a:cs typeface="Arial"/>
              </a:defRPr>
            </a:defPPr>
          </a:lstStyle>
          <a:p xmlns:a="http://schemas.openxmlformats.org/drawingml/2006/main">
            <a:pPr algn="l">
              <a:defRPr sz="2175" b="0">
                <a:solidFill>
                  <a:srgbClr val="F1F7FC"/>
                </a:solidFill>
                <a:latin typeface="Arial"/>
                <a:ea typeface="Arial"/>
                <a:cs typeface="Arial"/>
              </a:defRPr>
            </a:pPr>
            <a:r>
              <a:rPr sz="2175" b="0">
                <a:solidFill>
                  <a:srgbClr val="F1F7FC"/>
                </a:solidFill>
                <a:latin typeface="Arial"/>
                <a:ea typeface="Arial"/>
                <a:cs typeface="Arial"/>
              </a:rPr>
              <a:t>1  Run Missing confirmation</a:t>
            </a:r>
          </a:p>
          <a:p xmlns:a="http://schemas.openxmlformats.org/drawingml/2006/main">
            <a:r>
              <a:t/>
            </a:r>
          </a:p>
          <a:p xmlns:a="http://schemas.openxmlformats.org/drawingml/2006/main">
            <a:pPr algn="l">
              <a:defRPr sz="2175" b="0">
                <a:solidFill>
                  <a:srgbClr val="F1F7FC"/>
                </a:solidFill>
                <a:latin typeface="Arial"/>
                <a:ea typeface="Arial"/>
                <a:cs typeface="Arial"/>
              </a:defRPr>
            </a:pPr>
            <a:r>
              <a:rPr sz="2175" b="0">
                <a:solidFill>
                  <a:srgbClr val="F1F7FC"/>
                </a:solidFill>
                <a:latin typeface="Arial"/>
                <a:ea typeface="Arial"/>
                <a:cs typeface="Arial"/>
              </a:rPr>
              <a:t>2  Inspect response and logs</a:t>
            </a:r>
          </a:p>
          <a:p xmlns:a="http://schemas.openxmlformats.org/drawingml/2006/main">
            <a:r>
              <a:t/>
            </a:r>
          </a:p>
          <a:p xmlns:a="http://schemas.openxmlformats.org/drawingml/2006/main">
            <a:pPr algn="l">
              <a:defRPr sz="2175" b="0">
                <a:solidFill>
                  <a:srgbClr val="F1F7FC"/>
                </a:solidFill>
                <a:latin typeface="Arial"/>
                <a:ea typeface="Arial"/>
                <a:cs typeface="Arial"/>
              </a:defRPr>
            </a:pPr>
            <a:r>
              <a:rPr sz="2175" b="0">
                <a:solidFill>
                  <a:srgbClr val="F1F7FC"/>
                </a:solidFill>
                <a:latin typeface="Arial"/>
                <a:ea typeface="Arial"/>
                <a:cs typeface="Arial"/>
              </a:rPr>
              <a:t>3  Approve worker resume</a:t>
            </a:r>
          </a:p>
          <a:p xmlns:a="http://schemas.openxmlformats.org/drawingml/2006/main">
            <a:r>
              <a:t/>
            </a:r>
          </a:p>
          <a:p xmlns:a="http://schemas.openxmlformats.org/drawingml/2006/main">
            <a:pPr algn="l">
              <a:defRPr sz="2175" b="0">
                <a:solidFill>
                  <a:srgbClr val="F1F7FC"/>
                </a:solidFill>
                <a:latin typeface="Arial"/>
                <a:ea typeface="Arial"/>
                <a:cs typeface="Arial"/>
              </a:defRPr>
            </a:pPr>
            <a:r>
              <a:rPr sz="2175" b="0">
                <a:solidFill>
                  <a:srgbClr val="F1F7FC"/>
                </a:solidFill>
                <a:latin typeface="Arial"/>
                <a:ea typeface="Arial"/>
                <a:cs typeface="Arial"/>
              </a:rPr>
              <a:t>4  Verify the original order</a:t>
            </a:r>
          </a:p>
        </p:txBody>
      </p:sp>
      <p:pic>
        <p:nvPicPr>
          <p:cNvPr id="4" name="">
            <a:extLst xmlns:a="http://schemas.openxmlformats.org/drawingml/2006/main">
              <a:ext uri="{FF2B5EF4-FFF2-40B4-BE49-F238E27FC236}">
                <a16:creationId xmlns:a16="http://schemas.microsoft.com/office/drawing/2014/main" id="{2DAE4BC0-35A8-41BE-BC30-A5394B718478}"/>
              </a:ext>
            </a:extLst>
          </p:cNvPr>
          <p:cNvPicPr>
            <a:picLocks xmlns:a="http://schemas.openxmlformats.org/drawingml/2006/main" noChangeAspect="1"/>
          </p:cNvPicPr>
          <p:nvPr/>
        </p:nvPicPr>
        <p:blipFill>
          <a:blip xmlns:r="http://schemas.openxmlformats.org/officeDocument/2006/relationships" xmlns:a="http://schemas.openxmlformats.org/drawingml/2006/main" r:embed="Rc3bd1cb469724cfa"/>
          <a:srcRect xmlns:a="http://schemas.openxmlformats.org/drawingml/2006/main" l="18300" t="33700" r="3500" b="0"/>
          <a:stretch xmlns:a="http://schemas.openxmlformats.org/drawingml/2006/main"/>
        </p:blipFill>
        <p:spPr>
          <a:xfrm xmlns:a="http://schemas.openxmlformats.org/drawingml/2006/main">
            <a:off x="4572000" y="1562100"/>
            <a:ext cx="7010400" cy="4171950"/>
          </a:xfrm>
          <a:prstGeom xmlns:a="http://schemas.openxmlformats.org/drawingml/2006/main" prst="rect">
            <a:avLst/>
          </a:prstGeom>
        </p:spPr>
      </p:pic>
      <p:sp>
        <p:nvSpPr>
          <p:cNvPr id="5" name="1 payment before recovery     1 payment after recovery">
            <a:extLst xmlns:a="http://schemas.openxmlformats.org/drawingml/2006/main">
              <a:ext uri="{FF2B5EF4-FFF2-40B4-BE49-F238E27FC236}">
                <a16:creationId xmlns:a16="http://schemas.microsoft.com/office/drawing/2014/main" id="{6C0CCF7B-A895-4D89-B78C-806D6A95C2E6}"/>
              </a:ext>
            </a:extLst>
          </p:cNvPr>
          <p:cNvSpPr>
            <a:spLocks xmlns:a="http://schemas.openxmlformats.org/drawingml/2006/main" noGrp="1"/>
          </p:cNvSpPr>
          <p:nvPr/>
        </p:nvSpPr>
        <p:spPr>
          <a:xfrm xmlns:a="http://schemas.openxmlformats.org/drawingml/2006/main">
            <a:off x="4572000" y="5915025"/>
            <a:ext cx="7019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7CE7BB"/>
                </a:solidFill>
                <a:latin typeface="Arial"/>
                <a:ea typeface="Arial"/>
                <a:cs typeface="Arial"/>
              </a:defRPr>
            </a:defPPr>
          </a:lstStyle>
          <a:p xmlns:a="http://schemas.openxmlformats.org/drawingml/2006/main">
            <a:pPr algn="l">
              <a:defRPr sz="1800" b="1">
                <a:solidFill>
                  <a:srgbClr val="7CE7BB"/>
                </a:solidFill>
                <a:latin typeface="Arial"/>
                <a:ea typeface="Arial"/>
                <a:cs typeface="Arial"/>
              </a:defRPr>
            </a:pPr>
            <a:r>
              <a:rPr sz="1800" b="1">
                <a:solidFill>
                  <a:srgbClr val="7CE7BB"/>
                </a:solidFill>
                <a:latin typeface="Arial"/>
                <a:ea typeface="Arial"/>
                <a:cs typeface="Arial"/>
              </a:rPr>
              <a:t>1 payment before recovery     1 payment after recovery</a:t>
            </a:r>
          </a:p>
        </p:txBody>
      </p:sp>
    </p:spTree>
    <p:extLst>
      <p:ext uri="{BB962C8B-B14F-4D97-AF65-F5344CB8AC3E}">
        <p14:creationId xmlns:p14="http://schemas.microsoft.com/office/powerpoint/2010/main" val="246266806"/>
      </p:ext>
    </p:extLst>
  </p:cSld>
</p:sld>
</file>

<file path=ppt/slides/slide6.xml><?xml version="1.0" encoding="utf-8"?>
<p:sld xmlns:p="http://schemas.openxmlformats.org/presentationml/2006/main">
  <p:cSld>
    <p:bg>
      <p:bgPr>
        <a:solidFill xmlns:a="http://schemas.openxmlformats.org/drawingml/2006/main">
          <a:srgbClr val="081523"/>
        </a:solidFill>
      </p:bgPr>
    </p:bg>
    <p:spTree>
      <p:nvGrpSpPr>
        <p:cNvPr id="1" name=""/>
        <p:cNvGrpSpPr/>
        <p:nvPr/>
      </p:nvGrpSpPr>
      <p:grpSpPr>
        <a:xfrm xmlns:a="http://schemas.openxmlformats.org/drawingml/2006/main"/>
      </p:grpSpPr>
      <p:sp>
        <p:nvSpPr>
          <p:cNvPr id="7" name="Measured sandbox results">
            <a:extLst xmlns:a="http://schemas.openxmlformats.org/drawingml/2006/main">
              <a:ext uri="{FF2B5EF4-FFF2-40B4-BE49-F238E27FC236}">
                <a16:creationId xmlns:a16="http://schemas.microsoft.com/office/drawing/2014/main" id="{7C4F8E21-4CAA-42E4-8E15-D292F61A1E0A}"/>
              </a:ext>
            </a:extLst>
          </p:cNvPr>
          <p:cNvSpPr>
            <a:spLocks xmlns:a="http://schemas.openxmlformats.org/drawingml/2006/main" noGrp="1"/>
          </p:cNvSpPr>
          <p:nvPr/>
        </p:nvSpPr>
        <p:spPr>
          <a:xfrm xmlns:a="http://schemas.openxmlformats.org/drawingml/2006/main">
            <a:off x="609600" y="4762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F1F7FC"/>
                </a:solidFill>
                <a:latin typeface="Arial"/>
                <a:ea typeface="Arial"/>
                <a:cs typeface="Arial"/>
              </a:defRPr>
            </a:defPPr>
          </a:lstStyle>
          <a:p xmlns:a="http://schemas.openxmlformats.org/drawingml/2006/main">
            <a:pPr algn="l">
              <a:defRPr sz="3300" b="1">
                <a:solidFill>
                  <a:srgbClr val="F1F7FC"/>
                </a:solidFill>
                <a:latin typeface="Arial"/>
                <a:ea typeface="Arial"/>
                <a:cs typeface="Arial"/>
              </a:defRPr>
            </a:pPr>
            <a:r>
              <a:rPr sz="3300" b="1">
                <a:solidFill>
                  <a:srgbClr val="F1F7FC"/>
                </a:solidFill>
                <a:latin typeface="Arial"/>
                <a:ea typeface="Arial"/>
                <a:cs typeface="Arial"/>
              </a:rPr>
              <a:t>Measured sandbox results</a:t>
            </a:r>
          </a:p>
        </p:txBody>
      </p:sp>
      <p:sp>
        <p:nvSpPr>
          <p:cNvPr id="2" name="BizPlus AI     6/7">
            <a:extLst xmlns:a="http://schemas.openxmlformats.org/drawingml/2006/main">
              <a:ext uri="{FF2B5EF4-FFF2-40B4-BE49-F238E27FC236}">
                <a16:creationId xmlns:a16="http://schemas.microsoft.com/office/drawing/2014/main" id="{28303E56-2541-400B-8EDA-597868E9BA16}"/>
              </a:ext>
            </a:extLst>
          </p:cNvPr>
          <p:cNvSpPr>
            <a:spLocks xmlns:a="http://schemas.openxmlformats.org/drawingml/2006/main" noGrp="1"/>
          </p:cNvSpPr>
          <p:nvPr/>
        </p:nvSpPr>
        <p:spPr>
          <a:xfrm xmlns:a="http://schemas.openxmlformats.org/drawingml/2006/main">
            <a:off x="6096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B1C3D2"/>
                </a:solidFill>
                <a:latin typeface="Arial"/>
                <a:ea typeface="Arial"/>
                <a:cs typeface="Arial"/>
              </a:defRPr>
            </a:defPPr>
          </a:lstStyle>
          <a:p xmlns:a="http://schemas.openxmlformats.org/drawingml/2006/main">
            <a:pPr algn="l">
              <a:defRPr sz="1275" b="0">
                <a:solidFill>
                  <a:srgbClr val="B1C3D2"/>
                </a:solidFill>
                <a:latin typeface="Arial"/>
                <a:ea typeface="Arial"/>
                <a:cs typeface="Arial"/>
              </a:defRPr>
            </a:pPr>
            <a:r>
              <a:rPr sz="1275" b="0">
                <a:solidFill>
                  <a:srgbClr val="B1C3D2"/>
                </a:solidFill>
                <a:latin typeface="Arial"/>
                <a:ea typeface="Arial"/>
                <a:cs typeface="Arial"/>
              </a:rPr>
              <a:t>BizPlus AI     6/7</a:t>
            </a:r>
          </a:p>
        </p:txBody>
      </p:sp>
      <p:graphicFrame>
        <p:nvGraphicFramePr>
          <p:cNvPr id="3" name="">
            <a:extLst xmlns:a="http://schemas.openxmlformats.org/drawingml/2006/main">
              <a:ext uri="{FF2B5EF4-FFF2-40B4-BE49-F238E27FC236}">
                <a16:creationId xmlns:a16="http://schemas.microsoft.com/office/drawing/2014/main" id="{4A650798-D8E7-46BD-B198-5F51B2D14C4D}"/>
              </a:ext>
            </a:extLst>
          </p:cNvPr>
          <p:cNvGraphicFramePr/>
          <p:nvPr/>
        </p:nvGraphicFramePr>
        <p:xfrm>
          <a:off xmlns:a="http://schemas.openxmlformats.org/drawingml/2006/main" x="609600" y="1438275"/>
          <a:ext xmlns:a="http://schemas.openxmlformats.org/drawingml/2006/main" cx="6191250" cy="3667125"/>
        </p:xfrm>
        <a:graphic xmlns:a="http://schemas.openxmlformats.org/drawingml/2006/main">
          <a:graphicData uri="http://schemas.openxmlformats.org/drawingml/2006/table">
            <a:tbl>
              <a:tblPr/>
              <a:tblGrid>
                <a:gridCol w="3867150"/>
                <a:gridCol w="2324100"/>
              </a:tblGrid>
              <a:tr h="611188">
                <a:tc>
                  <a:txBody>
                    <a:bodyPr/>
                    <a:lstStyle/>
                    <a:p>
                      <a:r>
                        <a:rPr sz="1875" b="1">
                          <a:solidFill>
                            <a:srgbClr val="F1F7FC"/>
                          </a:solidFill>
                          <a:latin typeface="Arial"/>
                          <a:ea typeface="Arial"/>
                          <a:cs typeface="Arial"/>
                        </a:rPr>
                        <a:t>Measured check</a:t>
                      </a:r>
                    </a:p>
                  </a:txBody>
                  <a:tcPr marL="152400" marR="152400" marT="114300" marB="114300" anchor="ctr">
                    <a:lnL w="9525">
                      <a:solidFill>
                        <a:srgbClr val="41596E"/>
                      </a:solidFill>
                      <a:prstDash val="solid"/>
                    </a:lnL>
                    <a:lnR w="9525">
                      <a:solidFill>
                        <a:srgbClr val="41596E"/>
                      </a:solidFill>
                      <a:prstDash val="solid"/>
                    </a:lnR>
                    <a:lnT w="9525">
                      <a:solidFill>
                        <a:srgbClr val="41596E"/>
                      </a:solidFill>
                      <a:prstDash val="solid"/>
                    </a:lnT>
                    <a:lnB w="9525">
                      <a:solidFill>
                        <a:srgbClr val="41596E"/>
                      </a:solidFill>
                      <a:prstDash val="solid"/>
                    </a:lnB>
                    <a:solidFill>
                      <a:srgbClr val="17344B"/>
                    </a:solidFill>
                  </a:tcPr>
                </a:tc>
                <a:tc>
                  <a:txBody>
                    <a:bodyPr/>
                    <a:lstStyle/>
                    <a:p>
                      <a:r>
                        <a:rPr sz="1875" b="1">
                          <a:solidFill>
                            <a:srgbClr val="F1F7FC"/>
                          </a:solidFill>
                          <a:latin typeface="Arial"/>
                          <a:ea typeface="Arial"/>
                          <a:cs typeface="Arial"/>
                        </a:rPr>
                        <a:t>Observed result</a:t>
                      </a:r>
                    </a:p>
                  </a:txBody>
                  <a:tcPr marL="152400" marR="152400" marT="114300" marB="114300" anchor="ctr">
                    <a:lnR w="9525">
                      <a:solidFill>
                        <a:srgbClr val="41596E"/>
                      </a:solidFill>
                      <a:prstDash val="solid"/>
                    </a:lnR>
                    <a:lnT w="9525">
                      <a:solidFill>
                        <a:srgbClr val="41596E"/>
                      </a:solidFill>
                      <a:prstDash val="solid"/>
                    </a:lnT>
                    <a:lnB w="9525">
                      <a:solidFill>
                        <a:srgbClr val="41596E"/>
                      </a:solidFill>
                      <a:prstDash val="solid"/>
                    </a:lnB>
                    <a:solidFill>
                      <a:srgbClr val="17344B"/>
                    </a:solidFill>
                  </a:tcPr>
                </a:tc>
              </a:tr>
              <a:tr h="611188">
                <a:tc>
                  <a:txBody>
                    <a:bodyPr/>
                    <a:lstStyle/>
                    <a:p>
                      <a:r>
                        <a:rPr sz="1875">
                          <a:solidFill>
                            <a:srgbClr val="F1F7FC"/>
                          </a:solidFill>
                          <a:latin typeface="Arial"/>
                          <a:ea typeface="Arial"/>
                          <a:cs typeface="Arial"/>
                        </a:rPr>
                        <a:t>Automated tests</a:t>
                      </a:r>
                    </a:p>
                  </a:txBody>
                  <a:tcPr marL="152400" marR="152400" marT="114300" marB="114300" anchor="ctr">
                    <a:lnL w="9525">
                      <a:solidFill>
                        <a:srgbClr val="41596E"/>
                      </a:solidFill>
                      <a:prstDash val="solid"/>
                    </a:lnL>
                    <a:lnR w="9525">
                      <a:solidFill>
                        <a:srgbClr val="41596E"/>
                      </a:solidFill>
                      <a:prstDash val="solid"/>
                    </a:lnR>
                    <a:lnB w="9525">
                      <a:solidFill>
                        <a:srgbClr val="41596E"/>
                      </a:solidFill>
                      <a:prstDash val="solid"/>
                    </a:lnB>
                    <a:solidFill>
                      <a:srgbClr val="081523"/>
                    </a:solidFill>
                  </a:tcPr>
                </a:tc>
                <a:tc>
                  <a:txBody>
                    <a:bodyPr/>
                    <a:lstStyle/>
                    <a:p>
                      <a:r>
                        <a:rPr sz="1875">
                          <a:solidFill>
                            <a:srgbClr val="F1F7FC"/>
                          </a:solidFill>
                          <a:latin typeface="Arial"/>
                          <a:ea typeface="Arial"/>
                          <a:cs typeface="Arial"/>
                        </a:rPr>
                        <a:t>11 / 11 passed</a:t>
                      </a:r>
                    </a:p>
                  </a:txBody>
                  <a:tcPr marL="152400" marR="152400" marT="114300" marB="114300" anchor="ctr">
                    <a:lnR w="9525">
                      <a:solidFill>
                        <a:srgbClr val="41596E"/>
                      </a:solidFill>
                      <a:prstDash val="solid"/>
                    </a:lnR>
                    <a:lnB w="9525">
                      <a:solidFill>
                        <a:srgbClr val="41596E"/>
                      </a:solidFill>
                      <a:prstDash val="solid"/>
                    </a:lnB>
                    <a:solidFill>
                      <a:srgbClr val="081523"/>
                    </a:solidFill>
                  </a:tcPr>
                </a:tc>
              </a:tr>
              <a:tr h="611188">
                <a:tc>
                  <a:txBody>
                    <a:bodyPr/>
                    <a:lstStyle/>
                    <a:p>
                      <a:r>
                        <a:rPr sz="1875">
                          <a:solidFill>
                            <a:srgbClr val="F1F7FC"/>
                          </a:solidFill>
                          <a:latin typeface="Arial"/>
                          <a:ea typeface="Arial"/>
                          <a:cs typeface="Arial"/>
                        </a:rPr>
                        <a:t>Healthy journey</a:t>
                      </a:r>
                    </a:p>
                  </a:txBody>
                  <a:tcPr marL="152400" marR="152400" marT="114300" marB="114300" anchor="ctr">
                    <a:lnL w="9525">
                      <a:solidFill>
                        <a:srgbClr val="41596E"/>
                      </a:solidFill>
                      <a:prstDash val="solid"/>
                    </a:lnL>
                    <a:lnR w="9525">
                      <a:solidFill>
                        <a:srgbClr val="41596E"/>
                      </a:solidFill>
                      <a:prstDash val="solid"/>
                    </a:lnR>
                    <a:lnB w="9525">
                      <a:solidFill>
                        <a:srgbClr val="41596E"/>
                      </a:solidFill>
                      <a:prstDash val="solid"/>
                    </a:lnB>
                    <a:solidFill>
                      <a:srgbClr val="081523"/>
                    </a:solidFill>
                  </a:tcPr>
                </a:tc>
                <a:tc>
                  <a:txBody>
                    <a:bodyPr/>
                    <a:lstStyle/>
                    <a:p>
                      <a:r>
                        <a:rPr sz="1875">
                          <a:solidFill>
                            <a:srgbClr val="F1F7FC"/>
                          </a:solidFill>
                          <a:latin typeface="Arial"/>
                          <a:ea typeface="Arial"/>
                          <a:cs typeface="Arial"/>
                        </a:rPr>
                        <a:t>1221 ms</a:t>
                      </a:r>
                    </a:p>
                  </a:txBody>
                  <a:tcPr marL="152400" marR="152400" marT="114300" marB="114300" anchor="ctr">
                    <a:lnR w="9525">
                      <a:solidFill>
                        <a:srgbClr val="41596E"/>
                      </a:solidFill>
                      <a:prstDash val="solid"/>
                    </a:lnR>
                    <a:lnB w="9525">
                      <a:solidFill>
                        <a:srgbClr val="41596E"/>
                      </a:solidFill>
                      <a:prstDash val="solid"/>
                    </a:lnB>
                    <a:solidFill>
                      <a:srgbClr val="081523"/>
                    </a:solidFill>
                  </a:tcPr>
                </a:tc>
              </a:tr>
              <a:tr h="611188">
                <a:tc>
                  <a:txBody>
                    <a:bodyPr/>
                    <a:lstStyle/>
                    <a:p>
                      <a:r>
                        <a:rPr sz="1875">
                          <a:solidFill>
                            <a:srgbClr val="F1F7FC"/>
                          </a:solidFill>
                          <a:latin typeface="Arial"/>
                          <a:ea typeface="Arial"/>
                          <a:cs typeface="Arial"/>
                        </a:rPr>
                        <a:t>Missing confirmation</a:t>
                      </a:r>
                    </a:p>
                  </a:txBody>
                  <a:tcPr marL="152400" marR="152400" marT="114300" marB="114300" anchor="ctr">
                    <a:lnL w="9525">
                      <a:solidFill>
                        <a:srgbClr val="41596E"/>
                      </a:solidFill>
                      <a:prstDash val="solid"/>
                    </a:lnL>
                    <a:lnR w="9525">
                      <a:solidFill>
                        <a:srgbClr val="41596E"/>
                      </a:solidFill>
                      <a:prstDash val="solid"/>
                    </a:lnR>
                    <a:lnB w="9525">
                      <a:solidFill>
                        <a:srgbClr val="41596E"/>
                      </a:solidFill>
                      <a:prstDash val="solid"/>
                    </a:lnB>
                    <a:solidFill>
                      <a:srgbClr val="081523"/>
                    </a:solidFill>
                  </a:tcPr>
                </a:tc>
                <a:tc>
                  <a:txBody>
                    <a:bodyPr/>
                    <a:lstStyle/>
                    <a:p>
                      <a:r>
                        <a:rPr sz="1875">
                          <a:solidFill>
                            <a:srgbClr val="F1F7FC"/>
                          </a:solidFill>
                          <a:latin typeface="Arial"/>
                          <a:ea typeface="Arial"/>
                          <a:cs typeface="Arial"/>
                        </a:rPr>
                        <a:t>1180 ms</a:t>
                      </a:r>
                    </a:p>
                  </a:txBody>
                  <a:tcPr marL="152400" marR="152400" marT="114300" marB="114300" anchor="ctr">
                    <a:lnR w="9525">
                      <a:solidFill>
                        <a:srgbClr val="41596E"/>
                      </a:solidFill>
                      <a:prstDash val="solid"/>
                    </a:lnR>
                    <a:lnB w="9525">
                      <a:solidFill>
                        <a:srgbClr val="41596E"/>
                      </a:solidFill>
                      <a:prstDash val="solid"/>
                    </a:lnB>
                    <a:solidFill>
                      <a:srgbClr val="081523"/>
                    </a:solidFill>
                  </a:tcPr>
                </a:tc>
              </a:tr>
              <a:tr h="611188">
                <a:tc>
                  <a:txBody>
                    <a:bodyPr/>
                    <a:lstStyle/>
                    <a:p>
                      <a:r>
                        <a:rPr sz="1875">
                          <a:solidFill>
                            <a:srgbClr val="F1F7FC"/>
                          </a:solidFill>
                          <a:latin typeface="Arial"/>
                          <a:ea typeface="Arial"/>
                          <a:cs typeface="Arial"/>
                        </a:rPr>
                        <a:t>Recovery verification</a:t>
                      </a:r>
                    </a:p>
                  </a:txBody>
                  <a:tcPr marL="152400" marR="152400" marT="114300" marB="114300" anchor="ctr">
                    <a:lnL w="9525">
                      <a:solidFill>
                        <a:srgbClr val="41596E"/>
                      </a:solidFill>
                      <a:prstDash val="solid"/>
                    </a:lnL>
                    <a:lnR w="9525">
                      <a:solidFill>
                        <a:srgbClr val="41596E"/>
                      </a:solidFill>
                      <a:prstDash val="solid"/>
                    </a:lnR>
                    <a:lnB w="9525">
                      <a:solidFill>
                        <a:srgbClr val="41596E"/>
                      </a:solidFill>
                      <a:prstDash val="solid"/>
                    </a:lnB>
                    <a:solidFill>
                      <a:srgbClr val="081523"/>
                    </a:solidFill>
                  </a:tcPr>
                </a:tc>
                <a:tc>
                  <a:txBody>
                    <a:bodyPr/>
                    <a:lstStyle/>
                    <a:p>
                      <a:r>
                        <a:rPr sz="1875">
                          <a:solidFill>
                            <a:srgbClr val="F1F7FC"/>
                          </a:solidFill>
                          <a:latin typeface="Arial"/>
                          <a:ea typeface="Arial"/>
                          <a:cs typeface="Arial"/>
                        </a:rPr>
                        <a:t>247 ms</a:t>
                      </a:r>
                    </a:p>
                  </a:txBody>
                  <a:tcPr marL="152400" marR="152400" marT="114300" marB="114300" anchor="ctr">
                    <a:lnR w="9525">
                      <a:solidFill>
                        <a:srgbClr val="41596E"/>
                      </a:solidFill>
                      <a:prstDash val="solid"/>
                    </a:lnR>
                    <a:lnB w="9525">
                      <a:solidFill>
                        <a:srgbClr val="41596E"/>
                      </a:solidFill>
                      <a:prstDash val="solid"/>
                    </a:lnB>
                    <a:solidFill>
                      <a:srgbClr val="081523"/>
                    </a:solidFill>
                  </a:tcPr>
                </a:tc>
              </a:tr>
              <a:tr h="611188">
                <a:tc>
                  <a:txBody>
                    <a:bodyPr/>
                    <a:lstStyle/>
                    <a:p>
                      <a:r>
                        <a:rPr sz="1875">
                          <a:solidFill>
                            <a:srgbClr val="F1F7FC"/>
                          </a:solidFill>
                          <a:latin typeface="Arial"/>
                          <a:ea typeface="Arial"/>
                          <a:cs typeface="Arial"/>
                        </a:rPr>
                        <a:t>Payments before and after</a:t>
                      </a:r>
                    </a:p>
                  </a:txBody>
                  <a:tcPr marL="152400" marR="152400" marT="114300" marB="114300" anchor="ctr">
                    <a:lnL w="9525">
                      <a:solidFill>
                        <a:srgbClr val="41596E"/>
                      </a:solidFill>
                      <a:prstDash val="solid"/>
                    </a:lnL>
                    <a:lnR w="9525">
                      <a:solidFill>
                        <a:srgbClr val="41596E"/>
                      </a:solidFill>
                      <a:prstDash val="solid"/>
                    </a:lnR>
                    <a:lnB w="9525">
                      <a:solidFill>
                        <a:srgbClr val="41596E"/>
                      </a:solidFill>
                      <a:prstDash val="solid"/>
                    </a:lnB>
                    <a:solidFill>
                      <a:srgbClr val="081523"/>
                    </a:solidFill>
                  </a:tcPr>
                </a:tc>
                <a:tc>
                  <a:txBody>
                    <a:bodyPr/>
                    <a:lstStyle/>
                    <a:p>
                      <a:r>
                        <a:rPr sz="1875">
                          <a:solidFill>
                            <a:srgbClr val="F1F7FC"/>
                          </a:solidFill>
                          <a:latin typeface="Arial"/>
                          <a:ea typeface="Arial"/>
                          <a:cs typeface="Arial"/>
                        </a:rPr>
                        <a:t>1 and 1</a:t>
                      </a:r>
                    </a:p>
                  </a:txBody>
                  <a:tcPr marL="152400" marR="152400" marT="114300" marB="114300" anchor="ctr">
                    <a:lnR w="9525">
                      <a:solidFill>
                        <a:srgbClr val="41596E"/>
                      </a:solidFill>
                      <a:prstDash val="solid"/>
                    </a:lnR>
                    <a:lnB w="9525">
                      <a:solidFill>
                        <a:srgbClr val="41596E"/>
                      </a:solidFill>
                      <a:prstDash val="solid"/>
                    </a:lnB>
                    <a:solidFill>
                      <a:srgbClr val="081523"/>
                    </a:solidFill>
                  </a:tcPr>
                </a:tc>
              </a:tr>
            </a:tbl>
          </a:graphicData>
        </a:graphic>
      </p:graphicFrame>
      <p:sp>
        <p:nvSpPr>
          <p:cNvPr id="4" name="Focused demonstration">
            <a:extLst xmlns:a="http://schemas.openxmlformats.org/drawingml/2006/main">
              <a:ext uri="{FF2B5EF4-FFF2-40B4-BE49-F238E27FC236}">
                <a16:creationId xmlns:a16="http://schemas.microsoft.com/office/drawing/2014/main" id="{F0860603-990A-4E19-8F09-EB7D4D3E3F9B}"/>
              </a:ext>
            </a:extLst>
          </p:cNvPr>
          <p:cNvSpPr>
            <a:spLocks xmlns:a="http://schemas.openxmlformats.org/drawingml/2006/main" noGrp="1"/>
          </p:cNvSpPr>
          <p:nvPr/>
        </p:nvSpPr>
        <p:spPr>
          <a:xfrm xmlns:a="http://schemas.openxmlformats.org/drawingml/2006/main">
            <a:off x="7229475" y="1628775"/>
            <a:ext cx="43529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4DCE3"/>
                </a:solidFill>
                <a:latin typeface="Arial"/>
                <a:ea typeface="Arial"/>
                <a:cs typeface="Arial"/>
              </a:defRPr>
            </a:defPPr>
          </a:lstStyle>
          <a:p xmlns:a="http://schemas.openxmlformats.org/drawingml/2006/main">
            <a:pPr algn="l">
              <a:defRPr sz="2250" b="1">
                <a:solidFill>
                  <a:srgbClr val="44DCE3"/>
                </a:solidFill>
                <a:latin typeface="Arial"/>
                <a:ea typeface="Arial"/>
                <a:cs typeface="Arial"/>
              </a:defRPr>
            </a:pPr>
            <a:r>
              <a:rPr sz="2250" b="1">
                <a:solidFill>
                  <a:srgbClr val="44DCE3"/>
                </a:solidFill>
                <a:latin typeface="Arial"/>
                <a:ea typeface="Arial"/>
                <a:cs typeface="Arial"/>
              </a:rPr>
              <a:t>Focused demonstration</a:t>
            </a:r>
          </a:p>
        </p:txBody>
      </p:sp>
      <p:sp>
        <p:nvSpPr>
          <p:cNvPr id="5" name="Missing business outcome&#10;&#10;Evidence linked to rules&#10;&#10;Approval with veri">
            <a:extLst xmlns:a="http://schemas.openxmlformats.org/drawingml/2006/main">
              <a:ext uri="{FF2B5EF4-FFF2-40B4-BE49-F238E27FC236}">
                <a16:creationId xmlns:a16="http://schemas.microsoft.com/office/drawing/2014/main" id="{E671733C-4874-4AAA-A4F8-1650BDD08687}"/>
              </a:ext>
            </a:extLst>
          </p:cNvPr>
          <p:cNvSpPr>
            <a:spLocks xmlns:a="http://schemas.openxmlformats.org/drawingml/2006/main" noGrp="1"/>
          </p:cNvSpPr>
          <p:nvPr/>
        </p:nvSpPr>
        <p:spPr>
          <a:xfrm xmlns:a="http://schemas.openxmlformats.org/drawingml/2006/main">
            <a:off x="7229475" y="2257425"/>
            <a:ext cx="4352925" cy="2266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1F7FC"/>
                </a:solidFill>
                <a:latin typeface="Arial"/>
                <a:ea typeface="Arial"/>
                <a:cs typeface="Arial"/>
              </a:defRPr>
            </a:defPPr>
          </a:lstStyle>
          <a:p xmlns:a="http://schemas.openxmlformats.org/drawingml/2006/main">
            <a:pPr algn="l">
              <a:defRPr sz="2100" b="0">
                <a:solidFill>
                  <a:srgbClr val="F1F7FC"/>
                </a:solidFill>
                <a:latin typeface="Arial"/>
                <a:ea typeface="Arial"/>
                <a:cs typeface="Arial"/>
              </a:defRPr>
            </a:pPr>
            <a:r>
              <a:rPr sz="2100" b="0">
                <a:solidFill>
                  <a:srgbClr val="F1F7FC"/>
                </a:solidFill>
                <a:latin typeface="Arial"/>
                <a:ea typeface="Arial"/>
                <a:cs typeface="Arial"/>
              </a:rPr>
              <a:t>Missing business outcome</a:t>
            </a:r>
          </a:p>
          <a:p xmlns:a="http://schemas.openxmlformats.org/drawingml/2006/main">
            <a:r>
              <a:t/>
            </a:r>
          </a:p>
          <a:p xmlns:a="http://schemas.openxmlformats.org/drawingml/2006/main">
            <a:pPr algn="l">
              <a:defRPr sz="2100" b="0">
                <a:solidFill>
                  <a:srgbClr val="F1F7FC"/>
                </a:solidFill>
                <a:latin typeface="Arial"/>
                <a:ea typeface="Arial"/>
                <a:cs typeface="Arial"/>
              </a:defRPr>
            </a:pPr>
            <a:r>
              <a:rPr sz="2100" b="0">
                <a:solidFill>
                  <a:srgbClr val="F1F7FC"/>
                </a:solidFill>
                <a:latin typeface="Arial"/>
                <a:ea typeface="Arial"/>
                <a:cs typeface="Arial"/>
              </a:rPr>
              <a:t>Evidence linked to rules</a:t>
            </a:r>
          </a:p>
          <a:p xmlns:a="http://schemas.openxmlformats.org/drawingml/2006/main">
            <a:r>
              <a:t/>
            </a:r>
          </a:p>
          <a:p xmlns:a="http://schemas.openxmlformats.org/drawingml/2006/main">
            <a:pPr algn="l">
              <a:defRPr sz="2100" b="0">
                <a:solidFill>
                  <a:srgbClr val="F1F7FC"/>
                </a:solidFill>
                <a:latin typeface="Arial"/>
                <a:ea typeface="Arial"/>
                <a:cs typeface="Arial"/>
              </a:defRPr>
            </a:pPr>
            <a:r>
              <a:rPr sz="2100" b="0">
                <a:solidFill>
                  <a:srgbClr val="F1F7FC"/>
                </a:solidFill>
                <a:latin typeface="Arial"/>
                <a:ea typeface="Arial"/>
                <a:cs typeface="Arial"/>
              </a:rPr>
              <a:t>Approval with verification</a:t>
            </a:r>
          </a:p>
        </p:txBody>
      </p:sp>
      <p:sp>
        <p:nvSpPr>
          <p:cNvPr id="6" name="Timings include the sandbox’s 220 ms request delay.&#10;Existing tools off">
            <a:extLst xmlns:a="http://schemas.openxmlformats.org/drawingml/2006/main">
              <a:ext uri="{FF2B5EF4-FFF2-40B4-BE49-F238E27FC236}">
                <a16:creationId xmlns:a16="http://schemas.microsoft.com/office/drawing/2014/main" id="{72BDB379-DAF1-4C7C-BA49-0D8F158EA6BE}"/>
              </a:ext>
            </a:extLst>
          </p:cNvPr>
          <p:cNvSpPr>
            <a:spLocks xmlns:a="http://schemas.openxmlformats.org/drawingml/2006/main" noGrp="1"/>
          </p:cNvSpPr>
          <p:nvPr/>
        </p:nvSpPr>
        <p:spPr>
          <a:xfrm xmlns:a="http://schemas.openxmlformats.org/drawingml/2006/main">
            <a:off x="609600" y="5324475"/>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B1C3D2"/>
                </a:solidFill>
                <a:latin typeface="Arial"/>
                <a:ea typeface="Arial"/>
                <a:cs typeface="Arial"/>
              </a:defRPr>
            </a:defPPr>
          </a:lstStyle>
          <a:p xmlns:a="http://schemas.openxmlformats.org/drawingml/2006/main">
            <a:pPr algn="l">
              <a:defRPr sz="1725" b="0">
                <a:solidFill>
                  <a:srgbClr val="B1C3D2"/>
                </a:solidFill>
                <a:latin typeface="Arial"/>
                <a:ea typeface="Arial"/>
                <a:cs typeface="Arial"/>
              </a:defRPr>
            </a:pPr>
            <a:r>
              <a:rPr sz="1725" b="0">
                <a:solidFill>
                  <a:srgbClr val="B1C3D2"/>
                </a:solidFill>
                <a:latin typeface="Arial"/>
                <a:ea typeface="Arial"/>
                <a:cs typeface="Arial"/>
              </a:rPr>
              <a:t>Timings include the sandbox’s 220 ms request delay.</a:t>
            </a:r>
          </a:p>
          <a:p xmlns:a="http://schemas.openxmlformats.org/drawingml/2006/main">
            <a:pPr algn="l">
              <a:defRPr sz="1725" b="0">
                <a:solidFill>
                  <a:srgbClr val="B1C3D2"/>
                </a:solidFill>
                <a:latin typeface="Arial"/>
                <a:ea typeface="Arial"/>
                <a:cs typeface="Arial"/>
              </a:defRPr>
            </a:pPr>
            <a:r>
              <a:rPr sz="1725" b="0">
                <a:solidFill>
                  <a:srgbClr val="B1C3D2"/>
                </a:solidFill>
                <a:latin typeface="Arial"/>
                <a:ea typeface="Arial"/>
                <a:cs typeface="Arial"/>
              </a:rPr>
              <a:t>Existing tools offer assertions and AI diagnosis.</a:t>
            </a:r>
          </a:p>
          <a:p xmlns:a="http://schemas.openxmlformats.org/drawingml/2006/main">
            <a:pPr algn="l">
              <a:defRPr sz="1725" b="0">
                <a:solidFill>
                  <a:srgbClr val="B1C3D2"/>
                </a:solidFill>
                <a:latin typeface="Arial"/>
                <a:ea typeface="Arial"/>
                <a:cs typeface="Arial"/>
              </a:defRPr>
            </a:pPr>
            <a:r>
              <a:rPr sz="1725" b="0">
                <a:solidFill>
                  <a:srgbClr val="B1C3D2"/>
                </a:solidFill>
                <a:latin typeface="Arial"/>
                <a:ea typeface="Arial"/>
                <a:cs typeface="Arial"/>
              </a:rPr>
              <a:t>Our demo connects evidence to approved recovery.</a:t>
            </a:r>
          </a:p>
        </p:txBody>
      </p:sp>
    </p:spTree>
    <p:extLst>
      <p:ext uri="{BB962C8B-B14F-4D97-AF65-F5344CB8AC3E}">
        <p14:creationId xmlns:p14="http://schemas.microsoft.com/office/powerpoint/2010/main" val="846429614"/>
      </p:ext>
    </p:extLst>
  </p:cSld>
</p:sld>
</file>

<file path=ppt/slides/slide7.xml><?xml version="1.0" encoding="utf-8"?>
<p:sld xmlns:p="http://schemas.openxmlformats.org/presentationml/2006/main">
  <p:cSld>
    <p:bg>
      <p:bgPr>
        <a:solidFill xmlns:a="http://schemas.openxmlformats.org/drawingml/2006/main">
          <a:srgbClr val="081523"/>
        </a:solidFill>
      </p:bgPr>
    </p:bg>
    <p:spTree>
      <p:nvGrpSpPr>
        <p:cNvPr id="1" name=""/>
        <p:cNvGrpSpPr/>
        <p:nvPr/>
      </p:nvGrpSpPr>
      <p:grpSpPr>
        <a:xfrm xmlns:a="http://schemas.openxmlformats.org/drawingml/2006/main"/>
      </p:grpSpPr>
      <p:sp>
        <p:nvSpPr>
          <p:cNvPr id="7" name="Release and roadmap">
            <a:extLst xmlns:a="http://schemas.openxmlformats.org/drawingml/2006/main">
              <a:ext uri="{FF2B5EF4-FFF2-40B4-BE49-F238E27FC236}">
                <a16:creationId xmlns:a16="http://schemas.microsoft.com/office/drawing/2014/main" id="{A8530F0D-BD98-4708-87E2-4034FCE44731}"/>
              </a:ext>
            </a:extLst>
          </p:cNvPr>
          <p:cNvSpPr>
            <a:spLocks xmlns:a="http://schemas.openxmlformats.org/drawingml/2006/main" noGrp="1"/>
          </p:cNvSpPr>
          <p:nvPr/>
        </p:nvSpPr>
        <p:spPr>
          <a:xfrm xmlns:a="http://schemas.openxmlformats.org/drawingml/2006/main">
            <a:off x="609600" y="4762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F1F7FC"/>
                </a:solidFill>
                <a:latin typeface="Arial"/>
                <a:ea typeface="Arial"/>
                <a:cs typeface="Arial"/>
              </a:defRPr>
            </a:defPPr>
          </a:lstStyle>
          <a:p xmlns:a="http://schemas.openxmlformats.org/drawingml/2006/main">
            <a:pPr algn="l">
              <a:defRPr sz="3300" b="1">
                <a:solidFill>
                  <a:srgbClr val="F1F7FC"/>
                </a:solidFill>
                <a:latin typeface="Arial"/>
                <a:ea typeface="Arial"/>
                <a:cs typeface="Arial"/>
              </a:defRPr>
            </a:pPr>
            <a:r>
              <a:rPr sz="3300" b="1">
                <a:solidFill>
                  <a:srgbClr val="F1F7FC"/>
                </a:solidFill>
                <a:latin typeface="Arial"/>
                <a:ea typeface="Arial"/>
                <a:cs typeface="Arial"/>
              </a:rPr>
              <a:t>Release and roadmap</a:t>
            </a:r>
          </a:p>
        </p:txBody>
      </p:sp>
      <p:sp>
        <p:nvSpPr>
          <p:cNvPr id="2" name="BizPlus AI     7/7">
            <a:extLst xmlns:a="http://schemas.openxmlformats.org/drawingml/2006/main">
              <a:ext uri="{FF2B5EF4-FFF2-40B4-BE49-F238E27FC236}">
                <a16:creationId xmlns:a16="http://schemas.microsoft.com/office/drawing/2014/main" id="{646BDE58-5D2E-4CCF-B39D-C40095519F42}"/>
              </a:ext>
            </a:extLst>
          </p:cNvPr>
          <p:cNvSpPr>
            <a:spLocks xmlns:a="http://schemas.openxmlformats.org/drawingml/2006/main" noGrp="1"/>
          </p:cNvSpPr>
          <p:nvPr/>
        </p:nvSpPr>
        <p:spPr>
          <a:xfrm xmlns:a="http://schemas.openxmlformats.org/drawingml/2006/main">
            <a:off x="6096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B1C3D2"/>
                </a:solidFill>
                <a:latin typeface="Arial"/>
                <a:ea typeface="Arial"/>
                <a:cs typeface="Arial"/>
              </a:defRPr>
            </a:defPPr>
          </a:lstStyle>
          <a:p xmlns:a="http://schemas.openxmlformats.org/drawingml/2006/main">
            <a:pPr algn="l">
              <a:defRPr sz="1275" b="0">
                <a:solidFill>
                  <a:srgbClr val="B1C3D2"/>
                </a:solidFill>
                <a:latin typeface="Arial"/>
                <a:ea typeface="Arial"/>
                <a:cs typeface="Arial"/>
              </a:defRPr>
            </a:pPr>
            <a:r>
              <a:rPr sz="1275" b="0">
                <a:solidFill>
                  <a:srgbClr val="B1C3D2"/>
                </a:solidFill>
                <a:latin typeface="Arial"/>
                <a:ea typeface="Arial"/>
                <a:cs typeface="Arial"/>
              </a:rPr>
              <a:t>BizPlus AI     7/7</a:t>
            </a:r>
          </a:p>
        </p:txBody>
      </p:sp>
      <p:graphicFrame>
        <p:nvGraphicFramePr>
          <p:cNvPr id="3" name="">
            <a:extLst xmlns:a="http://schemas.openxmlformats.org/drawingml/2006/main">
              <a:ext uri="{FF2B5EF4-FFF2-40B4-BE49-F238E27FC236}">
                <a16:creationId xmlns:a16="http://schemas.microsoft.com/office/drawing/2014/main" id="{9CA1A27F-8D3D-4CE4-86F8-FD91930662E3}"/>
              </a:ext>
            </a:extLst>
          </p:cNvPr>
          <p:cNvGraphicFramePr/>
          <p:nvPr/>
        </p:nvGraphicFramePr>
        <p:xfrm>
          <a:off xmlns:a="http://schemas.openxmlformats.org/drawingml/2006/main" x="609600" y="1533525"/>
          <a:ext xmlns:a="http://schemas.openxmlformats.org/drawingml/2006/main" cx="10972800" cy="2962275"/>
        </p:xfrm>
        <a:graphic xmlns:a="http://schemas.openxmlformats.org/drawingml/2006/main">
          <a:graphicData uri="http://schemas.openxmlformats.org/drawingml/2006/table">
            <a:tbl>
              <a:tblPr/>
              <a:tblGrid>
                <a:gridCol w="4762500"/>
                <a:gridCol w="6210300"/>
              </a:tblGrid>
              <a:tr h="592455">
                <a:tc>
                  <a:txBody>
                    <a:bodyPr/>
                    <a:lstStyle/>
                    <a:p>
                      <a:r>
                        <a:rPr sz="2025" b="1">
                          <a:solidFill>
                            <a:srgbClr val="F1F7FC"/>
                          </a:solidFill>
                          <a:latin typeface="Arial"/>
                          <a:ea typeface="Arial"/>
                          <a:cs typeface="Arial"/>
                        </a:rPr>
                        <a:t>MVP now</a:t>
                      </a:r>
                    </a:p>
                  </a:txBody>
                  <a:tcPr marL="152400" marR="152400" marT="114300" marB="114300" anchor="ctr">
                    <a:lnL w="9525">
                      <a:solidFill>
                        <a:srgbClr val="41596E"/>
                      </a:solidFill>
                      <a:prstDash val="solid"/>
                    </a:lnL>
                    <a:lnR w="9525">
                      <a:solidFill>
                        <a:srgbClr val="41596E"/>
                      </a:solidFill>
                      <a:prstDash val="solid"/>
                    </a:lnR>
                    <a:lnT w="9525">
                      <a:solidFill>
                        <a:srgbClr val="41596E"/>
                      </a:solidFill>
                      <a:prstDash val="solid"/>
                    </a:lnT>
                    <a:lnB w="9525">
                      <a:solidFill>
                        <a:srgbClr val="41596E"/>
                      </a:solidFill>
                      <a:prstDash val="solid"/>
                    </a:lnB>
                    <a:solidFill>
                      <a:srgbClr val="17344B"/>
                    </a:solidFill>
                  </a:tcPr>
                </a:tc>
                <a:tc>
                  <a:txBody>
                    <a:bodyPr/>
                    <a:lstStyle/>
                    <a:p>
                      <a:r>
                        <a:rPr sz="2025" b="1">
                          <a:solidFill>
                            <a:srgbClr val="F1F7FC"/>
                          </a:solidFill>
                          <a:latin typeface="Arial"/>
                          <a:ea typeface="Arial"/>
                          <a:cs typeface="Arial"/>
                        </a:rPr>
                        <a:t>Next release</a:t>
                      </a:r>
                    </a:p>
                  </a:txBody>
                  <a:tcPr marL="152400" marR="152400" marT="114300" marB="114300" anchor="ctr">
                    <a:lnR w="9525">
                      <a:solidFill>
                        <a:srgbClr val="41596E"/>
                      </a:solidFill>
                      <a:prstDash val="solid"/>
                    </a:lnR>
                    <a:lnT w="9525">
                      <a:solidFill>
                        <a:srgbClr val="41596E"/>
                      </a:solidFill>
                      <a:prstDash val="solid"/>
                    </a:lnT>
                    <a:lnB w="9525">
                      <a:solidFill>
                        <a:srgbClr val="41596E"/>
                      </a:solidFill>
                      <a:prstDash val="solid"/>
                    </a:lnB>
                    <a:solidFill>
                      <a:srgbClr val="17344B"/>
                    </a:solidFill>
                  </a:tcPr>
                </a:tc>
              </a:tr>
              <a:tr h="592455">
                <a:tc>
                  <a:txBody>
                    <a:bodyPr/>
                    <a:lstStyle/>
                    <a:p>
                      <a:r>
                        <a:rPr sz="2025">
                          <a:solidFill>
                            <a:srgbClr val="F1F7FC"/>
                          </a:solidFill>
                          <a:latin typeface="Arial"/>
                          <a:ea typeface="Arial"/>
                          <a:cs typeface="Arial"/>
                        </a:rPr>
                        <a:t>Fixed owned shop journey</a:t>
                      </a:r>
                    </a:p>
                  </a:txBody>
                  <a:tcPr marL="152400" marR="152400" marT="114300" marB="114300" anchor="ctr">
                    <a:lnL w="9525">
                      <a:solidFill>
                        <a:srgbClr val="41596E"/>
                      </a:solidFill>
                      <a:prstDash val="solid"/>
                    </a:lnL>
                    <a:lnR w="9525">
                      <a:solidFill>
                        <a:srgbClr val="41596E"/>
                      </a:solidFill>
                      <a:prstDash val="solid"/>
                    </a:lnR>
                    <a:lnB w="9525">
                      <a:solidFill>
                        <a:srgbClr val="41596E"/>
                      </a:solidFill>
                      <a:prstDash val="solid"/>
                    </a:lnB>
                    <a:solidFill>
                      <a:srgbClr val="081523"/>
                    </a:solidFill>
                  </a:tcPr>
                </a:tc>
                <a:tc>
                  <a:txBody>
                    <a:bodyPr/>
                    <a:lstStyle/>
                    <a:p>
                      <a:r>
                        <a:rPr sz="2025">
                          <a:solidFill>
                            <a:srgbClr val="F1F7FC"/>
                          </a:solidFill>
                          <a:latin typeface="Arial"/>
                          <a:ea typeface="Arial"/>
                          <a:cs typeface="Arial"/>
                        </a:rPr>
                        <a:t>Authenticated operators and action audit</a:t>
                      </a:r>
                    </a:p>
                  </a:txBody>
                  <a:tcPr marL="152400" marR="152400" marT="114300" marB="114300" anchor="ctr">
                    <a:lnR w="9525">
                      <a:solidFill>
                        <a:srgbClr val="41596E"/>
                      </a:solidFill>
                      <a:prstDash val="solid"/>
                    </a:lnR>
                    <a:lnB w="9525">
                      <a:solidFill>
                        <a:srgbClr val="41596E"/>
                      </a:solidFill>
                      <a:prstDash val="solid"/>
                    </a:lnB>
                    <a:solidFill>
                      <a:srgbClr val="081523"/>
                    </a:solidFill>
                  </a:tcPr>
                </a:tc>
              </a:tr>
              <a:tr h="592455">
                <a:tc>
                  <a:txBody>
                    <a:bodyPr/>
                    <a:lstStyle/>
                    <a:p>
                      <a:r>
                        <a:rPr sz="2025">
                          <a:solidFill>
                            <a:srgbClr val="F1F7FC"/>
                          </a:solidFill>
                          <a:latin typeface="Arial"/>
                          <a:ea typeface="Arial"/>
                          <a:cs typeface="Arial"/>
                        </a:rPr>
                        <a:t>Rules with captured evidence</a:t>
                      </a:r>
                    </a:p>
                  </a:txBody>
                  <a:tcPr marL="152400" marR="152400" marT="114300" marB="114300" anchor="ctr">
                    <a:lnL w="9525">
                      <a:solidFill>
                        <a:srgbClr val="41596E"/>
                      </a:solidFill>
                      <a:prstDash val="solid"/>
                    </a:lnL>
                    <a:lnR w="9525">
                      <a:solidFill>
                        <a:srgbClr val="41596E"/>
                      </a:solidFill>
                      <a:prstDash val="solid"/>
                    </a:lnR>
                    <a:lnB w="9525">
                      <a:solidFill>
                        <a:srgbClr val="41596E"/>
                      </a:solidFill>
                      <a:prstDash val="solid"/>
                    </a:lnB>
                    <a:solidFill>
                      <a:srgbClr val="081523"/>
                    </a:solidFill>
                  </a:tcPr>
                </a:tc>
                <a:tc>
                  <a:txBody>
                    <a:bodyPr/>
                    <a:lstStyle/>
                    <a:p>
                      <a:r>
                        <a:rPr sz="2025">
                          <a:solidFill>
                            <a:srgbClr val="F1F7FC"/>
                          </a:solidFill>
                          <a:latin typeface="Arial"/>
                          <a:ea typeface="Arial"/>
                          <a:cs typeface="Arial"/>
                        </a:rPr>
                        <a:t>Evaluate optional LLM summaries</a:t>
                      </a:r>
                    </a:p>
                  </a:txBody>
                  <a:tcPr marL="152400" marR="152400" marT="114300" marB="114300" anchor="ctr">
                    <a:lnR w="9525">
                      <a:solidFill>
                        <a:srgbClr val="41596E"/>
                      </a:solidFill>
                      <a:prstDash val="solid"/>
                    </a:lnR>
                    <a:lnB w="9525">
                      <a:solidFill>
                        <a:srgbClr val="41596E"/>
                      </a:solidFill>
                      <a:prstDash val="solid"/>
                    </a:lnB>
                    <a:solidFill>
                      <a:srgbClr val="081523"/>
                    </a:solidFill>
                  </a:tcPr>
                </a:tc>
              </a:tr>
              <a:tr h="592455">
                <a:tc>
                  <a:txBody>
                    <a:bodyPr/>
                    <a:lstStyle/>
                    <a:p>
                      <a:r>
                        <a:rPr sz="2025">
                          <a:solidFill>
                            <a:srgbClr val="F1F7FC"/>
                          </a:solidFill>
                          <a:latin typeface="Arial"/>
                          <a:ea typeface="Arial"/>
                          <a:cs typeface="Arial"/>
                        </a:rPr>
                        <a:t>One safe approved recovery</a:t>
                      </a:r>
                    </a:p>
                  </a:txBody>
                  <a:tcPr marL="152400" marR="152400" marT="114300" marB="114300" anchor="ctr">
                    <a:lnL w="9525">
                      <a:solidFill>
                        <a:srgbClr val="41596E"/>
                      </a:solidFill>
                      <a:prstDash val="solid"/>
                    </a:lnL>
                    <a:lnR w="9525">
                      <a:solidFill>
                        <a:srgbClr val="41596E"/>
                      </a:solidFill>
                      <a:prstDash val="solid"/>
                    </a:lnR>
                    <a:lnB w="9525">
                      <a:solidFill>
                        <a:srgbClr val="41596E"/>
                      </a:solidFill>
                      <a:prstDash val="solid"/>
                    </a:lnB>
                    <a:solidFill>
                      <a:srgbClr val="081523"/>
                    </a:solidFill>
                  </a:tcPr>
                </a:tc>
                <a:tc>
                  <a:txBody>
                    <a:bodyPr/>
                    <a:lstStyle/>
                    <a:p>
                      <a:r>
                        <a:rPr sz="2025">
                          <a:solidFill>
                            <a:srgbClr val="F1F7FC"/>
                          </a:solidFill>
                          <a:latin typeface="Arial"/>
                          <a:ea typeface="Arial"/>
                          <a:cs typeface="Arial"/>
                        </a:rPr>
                        <a:t>Additional owned recovery policies</a:t>
                      </a:r>
                    </a:p>
                  </a:txBody>
                  <a:tcPr marL="152400" marR="152400" marT="114300" marB="114300" anchor="ctr">
                    <a:lnR w="9525">
                      <a:solidFill>
                        <a:srgbClr val="41596E"/>
                      </a:solidFill>
                      <a:prstDash val="solid"/>
                    </a:lnR>
                    <a:lnB w="9525">
                      <a:solidFill>
                        <a:srgbClr val="41596E"/>
                      </a:solidFill>
                      <a:prstDash val="solid"/>
                    </a:lnB>
                    <a:solidFill>
                      <a:srgbClr val="081523"/>
                    </a:solidFill>
                  </a:tcPr>
                </a:tc>
              </a:tr>
              <a:tr h="592455">
                <a:tc>
                  <a:txBody>
                    <a:bodyPr/>
                    <a:lstStyle/>
                    <a:p>
                      <a:r>
                        <a:rPr sz="2025">
                          <a:solidFill>
                            <a:srgbClr val="F1F7FC"/>
                          </a:solidFill>
                          <a:latin typeface="Arial"/>
                          <a:ea typeface="Arial"/>
                          <a:cs typeface="Arial"/>
                        </a:rPr>
                        <a:t>Temporary hosted history</a:t>
                      </a:r>
                    </a:p>
                  </a:txBody>
                  <a:tcPr marL="152400" marR="152400" marT="114300" marB="114300" anchor="ctr">
                    <a:lnL w="9525">
                      <a:solidFill>
                        <a:srgbClr val="41596E"/>
                      </a:solidFill>
                      <a:prstDash val="solid"/>
                    </a:lnL>
                    <a:lnR w="9525">
                      <a:solidFill>
                        <a:srgbClr val="41596E"/>
                      </a:solidFill>
                      <a:prstDash val="solid"/>
                    </a:lnR>
                    <a:lnB w="9525">
                      <a:solidFill>
                        <a:srgbClr val="41596E"/>
                      </a:solidFill>
                      <a:prstDash val="solid"/>
                    </a:lnB>
                    <a:solidFill>
                      <a:srgbClr val="081523"/>
                    </a:solidFill>
                  </a:tcPr>
                </a:tc>
                <a:tc>
                  <a:txBody>
                    <a:bodyPr/>
                    <a:lstStyle/>
                    <a:p>
                      <a:r>
                        <a:rPr sz="2025">
                          <a:solidFill>
                            <a:srgbClr val="F1F7FC"/>
                          </a:solidFill>
                          <a:latin typeface="Arial"/>
                          <a:ea typeface="Arial"/>
                          <a:cs typeface="Arial"/>
                        </a:rPr>
                        <a:t>Durable managed data storage</a:t>
                      </a:r>
                    </a:p>
                  </a:txBody>
                  <a:tcPr marL="152400" marR="152400" marT="114300" marB="114300" anchor="ctr">
                    <a:lnR w="9525">
                      <a:solidFill>
                        <a:srgbClr val="41596E"/>
                      </a:solidFill>
                      <a:prstDash val="solid"/>
                    </a:lnR>
                    <a:lnB w="9525">
                      <a:solidFill>
                        <a:srgbClr val="41596E"/>
                      </a:solidFill>
                      <a:prstDash val="solid"/>
                    </a:lnB>
                    <a:solidFill>
                      <a:srgbClr val="081523"/>
                    </a:solidFill>
                  </a:tcPr>
                </a:tc>
              </a:tr>
            </a:tbl>
          </a:graphicData>
        </a:graphic>
      </p:graphicFrame>
      <p:sp>
        <p:nvSpPr>
          <p:cNvPr id="4" name="Live backend health">
            <a:extLst xmlns:a="http://schemas.openxmlformats.org/drawingml/2006/main">
              <a:ext uri="{FF2B5EF4-FFF2-40B4-BE49-F238E27FC236}">
                <a16:creationId xmlns:a16="http://schemas.microsoft.com/office/drawing/2014/main" id="{A0756F22-F8D9-4DA3-AA2F-DDB66ACE24F5}"/>
              </a:ext>
            </a:extLst>
          </p:cNvPr>
          <p:cNvSpPr>
            <a:spLocks xmlns:a="http://schemas.openxmlformats.org/drawingml/2006/main" noGrp="1"/>
          </p:cNvSpPr>
          <p:nvPr/>
        </p:nvSpPr>
        <p:spPr>
          <a:xfrm xmlns:a="http://schemas.openxmlformats.org/drawingml/2006/main">
            <a:off x="609600" y="4867275"/>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44DCE3"/>
                </a:solidFill>
                <a:latin typeface="Arial"/>
                <a:ea typeface="Arial"/>
                <a:cs typeface="Arial"/>
              </a:defRPr>
            </a:defPPr>
          </a:lstStyle>
          <a:p xmlns:a="http://schemas.openxmlformats.org/drawingml/2006/main">
            <a:pPr algn="l">
              <a:defRPr sz="2325" b="1">
                <a:solidFill>
                  <a:srgbClr val="44DCE3"/>
                </a:solidFill>
                <a:latin typeface="Arial"/>
                <a:ea typeface="Arial"/>
                <a:cs typeface="Arial"/>
              </a:defRPr>
            </a:pPr>
            <a:r>
              <a:rPr sz="2325" b="1">
                <a:solidFill>
                  <a:srgbClr val="44DCE3"/>
                </a:solidFill>
                <a:latin typeface="Arial"/>
                <a:ea typeface="Arial"/>
                <a:cs typeface="Arial"/>
              </a:rPr>
              <a:t>Live backend health</a:t>
            </a:r>
          </a:p>
        </p:txBody>
      </p:sp>
      <p:sp>
        <p:nvSpPr>
          <p:cNvPr id="5" name="https://bizplus-ai-api.onrender.com/health">
            <a:extLst xmlns:a="http://schemas.openxmlformats.org/drawingml/2006/main">
              <a:ext uri="{FF2B5EF4-FFF2-40B4-BE49-F238E27FC236}">
                <a16:creationId xmlns:a16="http://schemas.microsoft.com/office/drawing/2014/main" id="{4458D4C0-D7AE-4250-87EB-BF475DDF061C}"/>
              </a:ext>
            </a:extLst>
          </p:cNvPr>
          <p:cNvSpPr>
            <a:spLocks xmlns:a="http://schemas.openxmlformats.org/drawingml/2006/main" noGrp="1"/>
          </p:cNvSpPr>
          <p:nvPr/>
        </p:nvSpPr>
        <p:spPr>
          <a:xfrm xmlns:a="http://schemas.openxmlformats.org/drawingml/2006/main">
            <a:off x="609600" y="53911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1F7FC"/>
                </a:solidFill>
                <a:latin typeface="Arial"/>
                <a:ea typeface="Arial"/>
                <a:cs typeface="Arial"/>
              </a:defRPr>
            </a:defPPr>
          </a:lstStyle>
          <a:p xmlns:a="http://schemas.openxmlformats.org/drawingml/2006/main">
            <a:pPr algn="l">
              <a:defRPr sz="2025" b="0">
                <a:solidFill>
                  <a:srgbClr val="F1F7FC"/>
                </a:solidFill>
                <a:latin typeface="Arial"/>
                <a:ea typeface="Arial"/>
                <a:cs typeface="Arial"/>
              </a:defRPr>
            </a:pPr>
            <a:r>
              <a:rPr sz="2025" b="0">
                <a:solidFill>
                  <a:srgbClr val="F1F7FC"/>
                </a:solidFill>
                <a:latin typeface="Arial"/>
                <a:ea typeface="Arial"/>
                <a:cs typeface="Arial"/>
                <a:hlinkClick xmlns:r="http://schemas.openxmlformats.org/officeDocument/2006/relationships" r:id="R2a084b31efd04979"/>
              </a:rPr>
              <a:t>https://bizplus-ai-api.onrender.com/health</a:t>
            </a:r>
          </a:p>
        </p:txBody>
      </p:sp>
      <p:sp>
        <p:nvSpPr>
          <p:cNvPr id="6" name="18/18 hosted API checks passed. Public dashboard, cold-start and secon">
            <a:extLst xmlns:a="http://schemas.openxmlformats.org/drawingml/2006/main">
              <a:ext uri="{FF2B5EF4-FFF2-40B4-BE49-F238E27FC236}">
                <a16:creationId xmlns:a16="http://schemas.microsoft.com/office/drawing/2014/main" id="{13CE37D5-8230-423B-A65B-A11C9CB37F65}"/>
              </a:ext>
            </a:extLst>
          </p:cNvPr>
          <p:cNvSpPr>
            <a:spLocks xmlns:a="http://schemas.openxmlformats.org/drawingml/2006/main" noGrp="1"/>
          </p:cNvSpPr>
          <p:nvPr/>
        </p:nvSpPr>
        <p:spPr>
          <a:xfrm xmlns:a="http://schemas.openxmlformats.org/drawingml/2006/main">
            <a:off x="609600" y="606742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B1C3D2"/>
                </a:solidFill>
                <a:latin typeface="Arial"/>
                <a:ea typeface="Arial"/>
                <a:cs typeface="Arial"/>
              </a:defRPr>
            </a:defPPr>
          </a:lstStyle>
          <a:p xmlns:a="http://schemas.openxmlformats.org/drawingml/2006/main">
            <a:pPr algn="l">
              <a:defRPr sz="1575" b="0">
                <a:solidFill>
                  <a:srgbClr val="B1C3D2"/>
                </a:solidFill>
                <a:latin typeface="Arial"/>
                <a:ea typeface="Arial"/>
                <a:cs typeface="Arial"/>
              </a:defRPr>
            </a:pPr>
            <a:r>
              <a:rPr sz="1575" b="0">
                <a:solidFill>
                  <a:srgbClr val="B1C3D2"/>
                </a:solidFill>
                <a:latin typeface="Arial"/>
                <a:ea typeface="Arial"/>
                <a:cs typeface="Arial"/>
              </a:rPr>
              <a:t>18/18 hosted API checks passed. Public dashboard, cold-start and second-device checks pending.</a:t>
            </a:r>
          </a:p>
        </p:txBody>
      </p:sp>
    </p:spTree>
    <p:extLst>
      <p:ext uri="{BB962C8B-B14F-4D97-AF65-F5344CB8AC3E}">
        <p14:creationId xmlns:p14="http://schemas.microsoft.com/office/powerpoint/2010/main" val="2055174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2026-10-13T05:52:37.8140000Z</dcterms:created>
  <dcterms:modified xsi:type="dcterms:W3CDTF">2026-10-13T05:52:37.8140000Z</dcterms:modified>
</coreProperties>
</file>