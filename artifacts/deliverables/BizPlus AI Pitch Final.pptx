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8ede93e0c74372" /><Relationship Type="http://schemas.openxmlformats.org/officeDocument/2006/relationships/extended-properties" Target="/docProps/app.xml" Id="Re0603911779f456d" /><Relationship Type="http://schemas.openxmlformats.org/officeDocument/2006/relationships/officeDocument" Target="/ppt/presentation.xml" Id="Re4aa5e6684044ebb" /></Relationships>
</file>

<file path=ppt/presentation.xml><?xml version="1.0" encoding="utf-8"?>
<p:presentation xmlns:p="http://schemas.openxmlformats.org/presentationml/2006/main">
  <p:sldMasterIdLst>
    <p:sldMasterId xmlns:r="http://schemas.openxmlformats.org/officeDocument/2006/relationships" id="2147483648" r:id="R6bb45bee052c49f0"/>
  </p:sldMasterIdLst>
  <p:notesMasterIdLst>
    <p:notesMasterId xmlns:r="http://schemas.openxmlformats.org/officeDocument/2006/relationships" r:id="R3f48f8697c474873"/>
  </p:notesMasterIdLst>
  <p:sldIdLst>
    <p:sldId xmlns:r="http://schemas.openxmlformats.org/officeDocument/2006/relationships" id="256" r:id="R9b55455ad9e24942"/>
    <p:sldId xmlns:r="http://schemas.openxmlformats.org/officeDocument/2006/relationships" id="257" r:id="R8a781e6042874c6b"/>
    <p:sldId xmlns:r="http://schemas.openxmlformats.org/officeDocument/2006/relationships" id="258" r:id="R560b7ec95b634c61"/>
    <p:sldId xmlns:r="http://schemas.openxmlformats.org/officeDocument/2006/relationships" id="259" r:id="Reab706d12d14445b"/>
    <p:sldId xmlns:r="http://schemas.openxmlformats.org/officeDocument/2006/relationships" id="260" r:id="Rbfcff7a16ba1438c"/>
    <p:sldId xmlns:r="http://schemas.openxmlformats.org/officeDocument/2006/relationships" id="261" r:id="Rbcfca5b67f9a4e5a"/>
    <p:sldId xmlns:r="http://schemas.openxmlformats.org/officeDocument/2006/relationships" id="262" r:id="Rc71795bcb4674a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3c65d55aab49f4" /><Relationship Type="http://schemas.openxmlformats.org/officeDocument/2006/relationships/slideMaster" Target="/ppt/slideMasters/slideMaster1.xml" Id="R6bb45bee052c49f0" /><Relationship Type="http://schemas.openxmlformats.org/officeDocument/2006/relationships/notesMaster" Target="/ppt/notesMasters/notesMaster1.xml" Id="R3f48f8697c474873" /><Relationship Type="http://schemas.openxmlformats.org/officeDocument/2006/relationships/presProps" Target="/ppt/presProps.xml" Id="R624d882b787f461b" /><Relationship Type="http://schemas.openxmlformats.org/officeDocument/2006/relationships/tableStyles" Target="/ppt/tableStyles.xml" Id="Rf1d4e78286fb408a" /><Relationship Type="http://schemas.openxmlformats.org/officeDocument/2006/relationships/slide" Target="/ppt/slides/slide1.xml" Id="R9b55455ad9e24942" /><Relationship Type="http://schemas.openxmlformats.org/officeDocument/2006/relationships/slide" Target="/ppt/slides/slide2.xml" Id="R8a781e6042874c6b" /><Relationship Type="http://schemas.openxmlformats.org/officeDocument/2006/relationships/slide" Target="/ppt/slides/slide3.xml" Id="R560b7ec95b634c61" /><Relationship Type="http://schemas.openxmlformats.org/officeDocument/2006/relationships/slide" Target="/ppt/slides/slide4.xml" Id="Reab706d12d14445b" /><Relationship Type="http://schemas.openxmlformats.org/officeDocument/2006/relationships/slide" Target="/ppt/slides/slide5.xml" Id="Rbfcff7a16ba1438c" /><Relationship Type="http://schemas.openxmlformats.org/officeDocument/2006/relationships/slide" Target="/ppt/slides/slide6.xml" Id="Rbcfca5b67f9a4e5a" /><Relationship Type="http://schemas.openxmlformats.org/officeDocument/2006/relationships/slide" Target="/ppt/slides/slide7.xml" Id="Rc71795bcb4674a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834cd4caba4b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895f06fcba4527" /><Relationship Type="http://schemas.openxmlformats.org/officeDocument/2006/relationships/notesMaster" Target="/ppt/notesMasters/notesMaster1.xml" Id="Rb7be3bd397704b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92fc22028e491d" /><Relationship Type="http://schemas.openxmlformats.org/officeDocument/2006/relationships/notesMaster" Target="/ppt/notesMasters/notesMaster1.xml" Id="R9cc81519fd8f43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002858db8b4777" /><Relationship Type="http://schemas.openxmlformats.org/officeDocument/2006/relationships/notesMaster" Target="/ppt/notesMasters/notesMaster1.xml" Id="R28806622768f4c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fdca1dd4b849d3" /><Relationship Type="http://schemas.openxmlformats.org/officeDocument/2006/relationships/notesMaster" Target="/ppt/notesMasters/notesMaster1.xml" Id="R60d5e985551c41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4d721f0512461d" /><Relationship Type="http://schemas.openxmlformats.org/officeDocument/2006/relationships/notesMaster" Target="/ppt/notesMasters/notesMaster1.xml" Id="Rc9035c85216143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d16d9de071416e" /><Relationship Type="http://schemas.openxmlformats.org/officeDocument/2006/relationships/notesMaster" Target="/ppt/notesMasters/notesMaster1.xml" Id="Rbe61b070d2a24c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bbb581a84b4514" /><Relationship Type="http://schemas.openxmlformats.org/officeDocument/2006/relationships/notesMaster" Target="/ppt/notesMasters/notesMaster1.xml" Id="R8f6f9f0d715446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problem with the owned shop demo. A confirmation response returns HTTP 200 while the original order is missing. All payments and customers are synthetic. No external production failure or measured business loss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consequences qualitatively. A paid customer without confirmation may contact support or retry checkout. The prototype does not measure revenue saved, support cost, or production incidence. These are business risks illustrated by synthetic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the actual locally verified BizPlus AI dashboard. Its cards and charts derive from stored run results. Show run progression, expected and actual assertions, and the separate count of verified recoveries. State the rules-based diagnosis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native and editable. Netlify serves React. Render hosts Express on Node 24. The engine calls only owned sandbox endpoints over HTTP. SQLite stores evidence, runs, incidents, and recovery records. On free hosted storage, history can reset. The browser session ID is isolation rather than authentication. Shared TypeScript contracts link client and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an actual browser incident and recovery verification from a separate session. The failed confirmation has HTTP 200 with a missing order. Approval resumes that same transaction's worker. In the measured backend replay, verification preserved order 56200da6-f4c1-4088-a281-6cd9238c2d31. Payment count before: 1. Payment count after: 1. Never rerun checkout to recover this outcome. Repeated approvals are idempotent.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13 October 2026 10:27 IST. Local production backend and real HTTP sandbox replay. These are sandbox measurements, not production benchmarks. Healthy 1221 ms, checkout 500 1005 ms, missing confirmation 1180 ms, recovery verification 247 ms. Automated tests 11/11. Existing systems: New Relic supports synthetic API response assertions, https://docs.newrelic.com/docs/synthetics/synthetic-monitoring/scripting-monitors/write-synthetic-api-tests/ . Checkly offers AI root cause analysis, https://www.checklyhq.com/docs/resolve/ai-root-cause-analysis/overview/ . No industry-first claim. Differentiation here is the focused demonstrable connection from missing business outcome to evidence, approval, and original-order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release status: Local API and browser journey verified. Public deployment and cold-start checks remain pending.. Public demo: Not yet deployed. Repository: https://github.com/Emadfar007/bizplus-ai. Do not describe local verification as public deployment. Priorities are production authentication and an action audit policy, durable shared storage, then evaluated optional LLM summaries and additional owned journeys. Keep a local tested fallback for free-host cold starts. Hosting references: https://render.com/docs/free and https://docs.netlify.com/build/frameworks/framework-setup-guides/vite/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b41506576c4b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2939bbd73247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d258bb1f7547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71969493ad40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e1c6b7e97049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b8077990a5c41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300FF-BE36-4FB8-8862-C606DE141D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AA8281-0540-4218-9993-0015D0CC1E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5D1E08-B44B-4F66-A963-BFE6DF8D39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74D8AF-F3D1-4177-AECA-92865F8136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8523920-DAB0-4E44-AB59-257E048F4E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2A5FFE-8FF7-4FC4-A7F5-A7EE73081C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A83241-D535-4C7E-B7E3-2276192022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89D0FD-BC10-4C8F-A15B-79BB7FAA1AA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1F53A4-E50D-46EB-AF52-33196AC7E3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D5C09F-5121-4676-9AAF-2B4C9269CF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7aa3306f144eaa" /><Relationship Type="http://schemas.openxmlformats.org/officeDocument/2006/relationships/slideLayout" Target="/ppt/slideLayouts/slideLayout1.xml" Id="Re48438b743ca4168" /><Relationship Type="http://schemas.openxmlformats.org/officeDocument/2006/relationships/slideLayout" Target="/ppt/slideLayouts/slideLayout2.xml" Id="R1381a5ef8b1f48b9" /><Relationship Type="http://schemas.openxmlformats.org/officeDocument/2006/relationships/slideLayout" Target="/ppt/slideLayouts/slideLayout3.xml" Id="R80526e77bf004dc8" /><Relationship Type="http://schemas.openxmlformats.org/officeDocument/2006/relationships/slideLayout" Target="/ppt/slideLayouts/slideLayout4.xml" Id="Rbc54eb80e61a4e92" /><Relationship Type="http://schemas.openxmlformats.org/officeDocument/2006/relationships/slideLayout" Target="/ppt/slideLayouts/slideLayout5.xml" Id="R7fb12d5abe844b0a" /><Relationship Type="http://schemas.openxmlformats.org/officeDocument/2006/relationships/slideLayout" Target="/ppt/slideLayouts/slideLayout6.xml" Id="R76a96b9123b042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8438b743ca4168"/>
    <p:sldLayoutId xmlns:r="http://schemas.openxmlformats.org/officeDocument/2006/relationships" id="2147483650" r:id="R1381a5ef8b1f48b9"/>
    <p:sldLayoutId xmlns:r="http://schemas.openxmlformats.org/officeDocument/2006/relationships" id="2147483651" r:id="R80526e77bf004dc8"/>
    <p:sldLayoutId xmlns:r="http://schemas.openxmlformats.org/officeDocument/2006/relationships" id="2147483652" r:id="Rbc54eb80e61a4e92"/>
    <p:sldLayoutId xmlns:r="http://schemas.openxmlformats.org/officeDocument/2006/relationships" id="2147483653" r:id="R7fb12d5abe844b0a"/>
    <p:sldLayoutId xmlns:r="http://schemas.openxmlformats.org/officeDocument/2006/relationships" id="2147483654" r:id="R76a96b9123b042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c1bd10bd6448a9" /><Relationship Type="http://schemas.openxmlformats.org/officeDocument/2006/relationships/notesSlide" Target="/ppt/notesSlides/notesSlide1.xml" Id="R060ed143483c49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fb99e04f9c47ae" /><Relationship Type="http://schemas.openxmlformats.org/officeDocument/2006/relationships/notesSlide" Target="/ppt/notesSlides/notesSlide2.xml" Id="Ra55517a6ab0043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bb3a246ac84a1e" /><Relationship Type="http://schemas.openxmlformats.org/officeDocument/2006/relationships/image" Target="/ppt/media/image.jpeg" Id="R79fdb541c9b34783" /><Relationship Type="http://schemas.openxmlformats.org/officeDocument/2006/relationships/notesSlide" Target="/ppt/notesSlides/notesSlide3.xml" Id="Rd05c1acc2a7a40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cc9273029d49e2" /><Relationship Type="http://schemas.openxmlformats.org/officeDocument/2006/relationships/notesSlide" Target="/ppt/notesSlides/notesSlide4.xml" Id="Rd20cfe2ce6c74c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51d61d85d04820" /><Relationship Type="http://schemas.openxmlformats.org/officeDocument/2006/relationships/image" Target="/ppt/media/image2.jpeg" Id="Ra29d37220bcd4003" /><Relationship Type="http://schemas.openxmlformats.org/officeDocument/2006/relationships/notesSlide" Target="/ppt/notesSlides/notesSlide5.xml" Id="R2cc7c98838df47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652b63f8e9498f" /><Relationship Type="http://schemas.openxmlformats.org/officeDocument/2006/relationships/notesSlide" Target="/ppt/notesSlides/notesSlide6.xml" Id="R713494e9bde145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ba9d9e63144c73" /><Relationship Type="http://schemas.openxmlformats.org/officeDocument/2006/relationships/notesSlide" Target="/ppt/notesSlides/notesSlide7.xml" Id="R87b525e83ac6450e" /></Relationships>
</file>

<file path=ppt/slides/slide1.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6" name="BizPlus AI">
            <a:extLst xmlns:a="http://schemas.openxmlformats.org/drawingml/2006/main">
              <a:ext uri="{FF2B5EF4-FFF2-40B4-BE49-F238E27FC236}">
                <a16:creationId xmlns:a16="http://schemas.microsoft.com/office/drawing/2014/main" id="{369DB83F-49AC-4E8A-8823-6EA5AE6F1192}"/>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BizPlus AI</a:t>
            </a:r>
          </a:p>
        </p:txBody>
      </p:sp>
      <p:sp>
        <p:nvSpPr>
          <p:cNvPr id="2" name="BizPlus AI     1/7">
            <a:extLst xmlns:a="http://schemas.openxmlformats.org/drawingml/2006/main">
              <a:ext uri="{FF2B5EF4-FFF2-40B4-BE49-F238E27FC236}">
                <a16:creationId xmlns:a16="http://schemas.microsoft.com/office/drawing/2014/main" id="{7EB8AE56-8D42-40A6-8931-18075042631E}"/>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1/7</a:t>
            </a:r>
          </a:p>
        </p:txBody>
      </p:sp>
      <p:sp>
        <p:nvSpPr>
          <p:cNvPr id="3" name="A successful HTTP response can hide&#10;a missing customer order">
            <a:extLst xmlns:a="http://schemas.openxmlformats.org/drawingml/2006/main">
              <a:ext uri="{FF2B5EF4-FFF2-40B4-BE49-F238E27FC236}">
                <a16:creationId xmlns:a16="http://schemas.microsoft.com/office/drawing/2014/main" id="{785F5617-0A87-428B-85D1-227E98291B2E}"/>
              </a:ext>
            </a:extLst>
          </p:cNvPr>
          <p:cNvSpPr>
            <a:spLocks xmlns:a="http://schemas.openxmlformats.org/drawingml/2006/main" noGrp="1"/>
          </p:cNvSpPr>
          <p:nvPr/>
        </p:nvSpPr>
        <p:spPr>
          <a:xfrm xmlns:a="http://schemas.openxmlformats.org/drawingml/2006/main">
            <a:off x="609600" y="1581150"/>
            <a:ext cx="10858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F1F7FC"/>
                </a:solidFill>
                <a:latin typeface="Arial"/>
                <a:ea typeface="Arial"/>
                <a:cs typeface="Arial"/>
              </a:defRPr>
            </a:defPPr>
          </a:lstStyle>
          <a:p xmlns:a="http://schemas.openxmlformats.org/drawingml/2006/main">
            <a:pPr algn="l">
              <a:defRPr sz="4500" b="1">
                <a:solidFill>
                  <a:srgbClr val="F1F7FC"/>
                </a:solidFill>
                <a:latin typeface="Arial"/>
                <a:ea typeface="Arial"/>
                <a:cs typeface="Arial"/>
              </a:defRPr>
            </a:pPr>
            <a:r>
              <a:rPr sz="4500" b="1">
                <a:solidFill>
                  <a:srgbClr val="F1F7FC"/>
                </a:solidFill>
                <a:latin typeface="Arial"/>
                <a:ea typeface="Arial"/>
                <a:cs typeface="Arial"/>
              </a:rPr>
              <a:t>A successful HTTP response can hide</a:t>
            </a:r>
          </a:p>
          <a:p xmlns:a="http://schemas.openxmlformats.org/drawingml/2006/main">
            <a:pPr algn="l">
              <a:defRPr sz="4500" b="1">
                <a:solidFill>
                  <a:srgbClr val="F1F7FC"/>
                </a:solidFill>
                <a:latin typeface="Arial"/>
                <a:ea typeface="Arial"/>
                <a:cs typeface="Arial"/>
              </a:defRPr>
            </a:pPr>
            <a:r>
              <a:rPr sz="4500" b="1">
                <a:solidFill>
                  <a:srgbClr val="F1F7FC"/>
                </a:solidFill>
                <a:latin typeface="Arial"/>
                <a:ea typeface="Arial"/>
                <a:cs typeface="Arial"/>
              </a:rPr>
              <a:t>a missing customer order</a:t>
            </a:r>
          </a:p>
        </p:txBody>
      </p:sp>
      <p:sp>
        <p:nvSpPr>
          <p:cNvPr id="4" name="Business transaction monitoring and approved recovery">
            <a:extLst xmlns:a="http://schemas.openxmlformats.org/drawingml/2006/main">
              <a:ext uri="{FF2B5EF4-FFF2-40B4-BE49-F238E27FC236}">
                <a16:creationId xmlns:a16="http://schemas.microsoft.com/office/drawing/2014/main" id="{9804376C-1D90-4D46-9355-B33D793544FB}"/>
              </a:ext>
            </a:extLst>
          </p:cNvPr>
          <p:cNvSpPr>
            <a:spLocks xmlns:a="http://schemas.openxmlformats.org/drawingml/2006/main" noGrp="1"/>
          </p:cNvSpPr>
          <p:nvPr/>
        </p:nvSpPr>
        <p:spPr>
          <a:xfrm xmlns:a="http://schemas.openxmlformats.org/drawingml/2006/main">
            <a:off x="609600" y="3667125"/>
            <a:ext cx="1019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44DCE3"/>
                </a:solidFill>
                <a:latin typeface="Arial"/>
                <a:ea typeface="Arial"/>
                <a:cs typeface="Arial"/>
              </a:defRPr>
            </a:defPPr>
          </a:lstStyle>
          <a:p xmlns:a="http://schemas.openxmlformats.org/drawingml/2006/main">
            <a:pPr algn="l">
              <a:defRPr sz="2250" b="0">
                <a:solidFill>
                  <a:srgbClr val="44DCE3"/>
                </a:solidFill>
                <a:latin typeface="Arial"/>
                <a:ea typeface="Arial"/>
                <a:cs typeface="Arial"/>
              </a:defRPr>
            </a:pPr>
            <a:r>
              <a:rPr sz="2250" b="0">
                <a:solidFill>
                  <a:srgbClr val="44DCE3"/>
                </a:solidFill>
                <a:latin typeface="Arial"/>
                <a:ea typeface="Arial"/>
                <a:cs typeface="Arial"/>
              </a:rPr>
              <a:t>Business transaction monitoring and approved recovery</a:t>
            </a:r>
          </a:p>
        </p:txBody>
      </p:sp>
      <p:sp>
        <p:nvSpPr>
          <p:cNvPr id="5" name="The demo checks the outcome, captures evidence,&#10;and verifies the origi">
            <a:extLst xmlns:a="http://schemas.openxmlformats.org/drawingml/2006/main">
              <a:ext uri="{FF2B5EF4-FFF2-40B4-BE49-F238E27FC236}">
                <a16:creationId xmlns:a16="http://schemas.microsoft.com/office/drawing/2014/main" id="{ECD47E4C-FD4A-405F-B53F-C43BA2B1B3F3}"/>
              </a:ext>
            </a:extLst>
          </p:cNvPr>
          <p:cNvSpPr>
            <a:spLocks xmlns:a="http://schemas.openxmlformats.org/drawingml/2006/main" noGrp="1"/>
          </p:cNvSpPr>
          <p:nvPr/>
        </p:nvSpPr>
        <p:spPr>
          <a:xfrm xmlns:a="http://schemas.openxmlformats.org/drawingml/2006/main">
            <a:off x="609600" y="4695825"/>
            <a:ext cx="1000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1C3D2"/>
                </a:solidFill>
                <a:latin typeface="Arial"/>
                <a:ea typeface="Arial"/>
                <a:cs typeface="Arial"/>
              </a:defRPr>
            </a:defPPr>
          </a:lstStyle>
          <a:p xmlns:a="http://schemas.openxmlformats.org/drawingml/2006/main">
            <a:pPr algn="l">
              <a:defRPr sz="2250" b="0">
                <a:solidFill>
                  <a:srgbClr val="B1C3D2"/>
                </a:solidFill>
                <a:latin typeface="Arial"/>
                <a:ea typeface="Arial"/>
                <a:cs typeface="Arial"/>
              </a:defRPr>
            </a:pPr>
            <a:r>
              <a:rPr sz="2250" b="0">
                <a:solidFill>
                  <a:srgbClr val="B1C3D2"/>
                </a:solidFill>
                <a:latin typeface="Arial"/>
                <a:ea typeface="Arial"/>
                <a:cs typeface="Arial"/>
              </a:rPr>
              <a:t>The demo checks the outcome, captures evidence,</a:t>
            </a:r>
          </a:p>
          <a:p xmlns:a="http://schemas.openxmlformats.org/drawingml/2006/main">
            <a:pPr algn="l">
              <a:defRPr sz="2250" b="0">
                <a:solidFill>
                  <a:srgbClr val="B1C3D2"/>
                </a:solidFill>
                <a:latin typeface="Arial"/>
                <a:ea typeface="Arial"/>
                <a:cs typeface="Arial"/>
              </a:defRPr>
            </a:pPr>
            <a:r>
              <a:rPr sz="2250" b="0">
                <a:solidFill>
                  <a:srgbClr val="B1C3D2"/>
                </a:solidFill>
                <a:latin typeface="Arial"/>
                <a:ea typeface="Arial"/>
                <a:cs typeface="Arial"/>
              </a:rPr>
              <a:t>and verifies the original order after a worker resume.</a:t>
            </a:r>
          </a:p>
        </p:txBody>
      </p:sp>
    </p:spTree>
    <p:extLst>
      <p:ext uri="{BB962C8B-B14F-4D97-AF65-F5344CB8AC3E}">
        <p14:creationId xmlns:p14="http://schemas.microsoft.com/office/powerpoint/2010/main" val="2015698855"/>
      </p:ext>
    </p:extLst>
  </p:cSld>
</p:sld>
</file>

<file path=ppt/slides/slide2.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6" name="Customer impact of missing confirmation">
            <a:extLst xmlns:a="http://schemas.openxmlformats.org/drawingml/2006/main">
              <a:ext uri="{FF2B5EF4-FFF2-40B4-BE49-F238E27FC236}">
                <a16:creationId xmlns:a16="http://schemas.microsoft.com/office/drawing/2014/main" id="{E46C77A7-9624-4896-8E4C-905FAAE8F53B}"/>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Customer impact of missing confirmation</a:t>
            </a:r>
          </a:p>
        </p:txBody>
      </p:sp>
      <p:sp>
        <p:nvSpPr>
          <p:cNvPr id="2" name="BizPlus AI     2/7">
            <a:extLst xmlns:a="http://schemas.openxmlformats.org/drawingml/2006/main">
              <a:ext uri="{FF2B5EF4-FFF2-40B4-BE49-F238E27FC236}">
                <a16:creationId xmlns:a16="http://schemas.microsoft.com/office/drawing/2014/main" id="{BD8FE5E0-A09A-4B63-A979-91AF54808EAE}"/>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2/7</a:t>
            </a:r>
          </a:p>
        </p:txBody>
      </p:sp>
      <p:graphicFrame>
        <p:nvGraphicFramePr>
          <p:cNvPr id="3" name="">
            <a:extLst xmlns:a="http://schemas.openxmlformats.org/drawingml/2006/main">
              <a:ext uri="{FF2B5EF4-FFF2-40B4-BE49-F238E27FC236}">
                <a16:creationId xmlns:a16="http://schemas.microsoft.com/office/drawing/2014/main" id="{829D92D4-B53D-4CA1-99C5-D860A55D5B21}"/>
              </a:ext>
            </a:extLst>
          </p:cNvPr>
          <p:cNvGraphicFramePr/>
          <p:nvPr/>
        </p:nvGraphicFramePr>
        <p:xfrm>
          <a:off xmlns:a="http://schemas.openxmlformats.org/drawingml/2006/main" x="609600" y="1600200"/>
          <a:ext xmlns:a="http://schemas.openxmlformats.org/drawingml/2006/main" cx="10972800" cy="3171825"/>
        </p:xfrm>
        <a:graphic xmlns:a="http://schemas.openxmlformats.org/drawingml/2006/main">
          <a:graphicData uri="http://schemas.openxmlformats.org/drawingml/2006/table">
            <a:tbl>
              <a:tblPr/>
              <a:tblGrid>
                <a:gridCol w="4991100"/>
                <a:gridCol w="5981700"/>
              </a:tblGrid>
              <a:tr h="792956">
                <a:tc>
                  <a:txBody>
                    <a:bodyPr/>
                    <a:lstStyle/>
                    <a:p>
                      <a:r>
                        <a:rPr sz="2175" b="1">
                          <a:solidFill>
                            <a:srgbClr val="F1F7FC"/>
                          </a:solidFill>
                          <a:latin typeface="Arial"/>
                          <a:ea typeface="Arial"/>
                          <a:cs typeface="Arial"/>
                        </a:rPr>
                        <a:t>What the system shows</a:t>
                      </a:r>
                    </a:p>
                  </a:txBody>
                  <a:tcPr marL="152400" marR="152400" marT="114300" marB="114300" anchor="ctr">
                    <a:lnL w="9525">
                      <a:solidFill>
                        <a:srgbClr val="41596E"/>
                      </a:solidFill>
                      <a:prstDash val="solid"/>
                    </a:lnL>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c>
                  <a:txBody>
                    <a:bodyPr/>
                    <a:lstStyle/>
                    <a:p>
                      <a:r>
                        <a:rPr sz="2175" b="1">
                          <a:solidFill>
                            <a:srgbClr val="F1F7FC"/>
                          </a:solidFill>
                          <a:latin typeface="Arial"/>
                          <a:ea typeface="Arial"/>
                          <a:cs typeface="Arial"/>
                        </a:rPr>
                        <a:t>What the customer experiences</a:t>
                      </a:r>
                    </a:p>
                  </a:txBody>
                  <a:tcPr marL="152400" marR="152400" marT="114300" marB="114300" anchor="ctr">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r>
              <a:tr h="792956">
                <a:tc>
                  <a:txBody>
                    <a:bodyPr/>
                    <a:lstStyle/>
                    <a:p>
                      <a:r>
                        <a:rPr sz="2175">
                          <a:solidFill>
                            <a:srgbClr val="F1F7FC"/>
                          </a:solidFill>
                          <a:latin typeface="Arial"/>
                          <a:ea typeface="Arial"/>
                          <a:cs typeface="Arial"/>
                        </a:rPr>
                        <a:t>Checkout succeeded</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2175">
                          <a:solidFill>
                            <a:srgbClr val="F1F7FC"/>
                          </a:solidFill>
                          <a:latin typeface="Arial"/>
                          <a:ea typeface="Arial"/>
                          <a:cs typeface="Arial"/>
                        </a:rPr>
                        <a:t>No confirmed order to rely on</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792956">
                <a:tc>
                  <a:txBody>
                    <a:bodyPr/>
                    <a:lstStyle/>
                    <a:p>
                      <a:r>
                        <a:rPr sz="2175">
                          <a:solidFill>
                            <a:srgbClr val="F1F7FC"/>
                          </a:solidFill>
                          <a:latin typeface="Arial"/>
                          <a:ea typeface="Arial"/>
                          <a:cs typeface="Arial"/>
                        </a:rPr>
                        <a:t>Confirmation returned HTTP 200</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2175">
                          <a:solidFill>
                            <a:srgbClr val="F1F7FC"/>
                          </a:solidFill>
                          <a:latin typeface="Arial"/>
                          <a:ea typeface="Arial"/>
                          <a:cs typeface="Arial"/>
                        </a:rPr>
                        <a:t>The order field is empty</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792956">
                <a:tc>
                  <a:txBody>
                    <a:bodyPr/>
                    <a:lstStyle/>
                    <a:p>
                      <a:r>
                        <a:rPr sz="2175">
                          <a:solidFill>
                            <a:srgbClr val="F1F7FC"/>
                          </a:solidFill>
                          <a:latin typeface="Arial"/>
                          <a:ea typeface="Arial"/>
                          <a:cs typeface="Arial"/>
                        </a:rPr>
                        <a:t>Payment recorded once</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2175">
                          <a:solidFill>
                            <a:srgbClr val="F1F7FC"/>
                          </a:solidFill>
                          <a:latin typeface="Arial"/>
                          <a:ea typeface="Arial"/>
                          <a:cs typeface="Arial"/>
                        </a:rPr>
                        <a:t>Uncertainty may encourage a retry</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bl>
          </a:graphicData>
        </a:graphic>
      </p:graphicFrame>
      <p:sp>
        <p:nvSpPr>
          <p:cNvPr id="4" name="Recovery must preserve the original payment">
            <a:extLst xmlns:a="http://schemas.openxmlformats.org/drawingml/2006/main">
              <a:ext uri="{FF2B5EF4-FFF2-40B4-BE49-F238E27FC236}">
                <a16:creationId xmlns:a16="http://schemas.microsoft.com/office/drawing/2014/main" id="{CD5744AF-8993-4A37-A719-EBB521BA7744}"/>
              </a:ext>
            </a:extLst>
          </p:cNvPr>
          <p:cNvSpPr>
            <a:spLocks xmlns:a="http://schemas.openxmlformats.org/drawingml/2006/main" noGrp="1"/>
          </p:cNvSpPr>
          <p:nvPr/>
        </p:nvSpPr>
        <p:spPr>
          <a:xfrm xmlns:a="http://schemas.openxmlformats.org/drawingml/2006/main">
            <a:off x="609600" y="525780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44DCE3"/>
                </a:solidFill>
                <a:latin typeface="Arial"/>
                <a:ea typeface="Arial"/>
                <a:cs typeface="Arial"/>
              </a:defRPr>
            </a:defPPr>
          </a:lstStyle>
          <a:p xmlns:a="http://schemas.openxmlformats.org/drawingml/2006/main">
            <a:pPr algn="l">
              <a:defRPr sz="2700" b="1">
                <a:solidFill>
                  <a:srgbClr val="44DCE3"/>
                </a:solidFill>
                <a:latin typeface="Arial"/>
                <a:ea typeface="Arial"/>
                <a:cs typeface="Arial"/>
              </a:defRPr>
            </a:pPr>
            <a:r>
              <a:rPr sz="2700" b="1">
                <a:solidFill>
                  <a:srgbClr val="44DCE3"/>
                </a:solidFill>
                <a:latin typeface="Arial"/>
                <a:ea typeface="Arial"/>
                <a:cs typeface="Arial"/>
              </a:rPr>
              <a:t>Recovery must preserve the original payment</a:t>
            </a:r>
          </a:p>
        </p:txBody>
      </p:sp>
      <p:sp>
        <p:nvSpPr>
          <p:cNvPr id="5" name="A business assertion checks the order and amount, alongside status cod">
            <a:extLst xmlns:a="http://schemas.openxmlformats.org/drawingml/2006/main">
              <a:ext uri="{FF2B5EF4-FFF2-40B4-BE49-F238E27FC236}">
                <a16:creationId xmlns:a16="http://schemas.microsoft.com/office/drawing/2014/main" id="{FB76FA00-7121-4326-A0BC-B55A89E54DF2}"/>
              </a:ext>
            </a:extLst>
          </p:cNvPr>
          <p:cNvSpPr>
            <a:spLocks xmlns:a="http://schemas.openxmlformats.org/drawingml/2006/main" noGrp="1"/>
          </p:cNvSpPr>
          <p:nvPr/>
        </p:nvSpPr>
        <p:spPr>
          <a:xfrm xmlns:a="http://schemas.openxmlformats.org/drawingml/2006/main">
            <a:off x="609600" y="58674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1C3D2"/>
                </a:solidFill>
                <a:latin typeface="Arial"/>
                <a:ea typeface="Arial"/>
                <a:cs typeface="Arial"/>
              </a:defRPr>
            </a:defPPr>
          </a:lstStyle>
          <a:p xmlns:a="http://schemas.openxmlformats.org/drawingml/2006/main">
            <a:pPr algn="l">
              <a:defRPr sz="1800" b="0">
                <a:solidFill>
                  <a:srgbClr val="B1C3D2"/>
                </a:solidFill>
                <a:latin typeface="Arial"/>
                <a:ea typeface="Arial"/>
                <a:cs typeface="Arial"/>
              </a:defRPr>
            </a:pPr>
            <a:r>
              <a:rPr sz="1800" b="0">
                <a:solidFill>
                  <a:srgbClr val="B1C3D2"/>
                </a:solidFill>
                <a:latin typeface="Arial"/>
                <a:ea typeface="Arial"/>
                <a:cs typeface="Arial"/>
              </a:rPr>
              <a:t>A business assertion checks the order and amount, alongside status codes.</a:t>
            </a:r>
          </a:p>
        </p:txBody>
      </p:sp>
    </p:spTree>
    <p:extLst>
      <p:ext uri="{BB962C8B-B14F-4D97-AF65-F5344CB8AC3E}">
        <p14:creationId xmlns:p14="http://schemas.microsoft.com/office/powerpoint/2010/main" val="794051212"/>
      </p:ext>
    </p:extLst>
  </p:cSld>
</p:sld>
</file>

<file path=ppt/slides/slide3.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6" name="Monitoring with visible evidence">
            <a:extLst xmlns:a="http://schemas.openxmlformats.org/drawingml/2006/main">
              <a:ext uri="{FF2B5EF4-FFF2-40B4-BE49-F238E27FC236}">
                <a16:creationId xmlns:a16="http://schemas.microsoft.com/office/drawing/2014/main" id="{5A72E62B-692D-4601-9894-C3A2F75E56BF}"/>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Monitoring with visible evidence</a:t>
            </a:r>
          </a:p>
        </p:txBody>
      </p:sp>
      <p:sp>
        <p:nvSpPr>
          <p:cNvPr id="2" name="BizPlus AI     3/7">
            <a:extLst xmlns:a="http://schemas.openxmlformats.org/drawingml/2006/main">
              <a:ext uri="{FF2B5EF4-FFF2-40B4-BE49-F238E27FC236}">
                <a16:creationId xmlns:a16="http://schemas.microsoft.com/office/drawing/2014/main" id="{05989E40-D885-4B07-B4BD-2D3801D2710F}"/>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3/7</a:t>
            </a:r>
          </a:p>
        </p:txBody>
      </p:sp>
      <p:sp>
        <p:nvSpPr>
          <p:cNvPr id="3" name="Run a scenario and inspect its actual HTTP results">
            <a:extLst xmlns:a="http://schemas.openxmlformats.org/drawingml/2006/main">
              <a:ext uri="{FF2B5EF4-FFF2-40B4-BE49-F238E27FC236}">
                <a16:creationId xmlns:a16="http://schemas.microsoft.com/office/drawing/2014/main" id="{CF9DC71D-FCBF-4180-A38D-181BF20080EC}"/>
              </a:ext>
            </a:extLst>
          </p:cNvPr>
          <p:cNvSpPr>
            <a:spLocks xmlns:a="http://schemas.openxmlformats.org/drawingml/2006/main" noGrp="1"/>
          </p:cNvSpPr>
          <p:nvPr/>
        </p:nvSpPr>
        <p:spPr>
          <a:xfrm xmlns:a="http://schemas.openxmlformats.org/drawingml/2006/main">
            <a:off x="609600" y="12573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4DCE3"/>
                </a:solidFill>
                <a:latin typeface="Arial"/>
                <a:ea typeface="Arial"/>
                <a:cs typeface="Arial"/>
              </a:defRPr>
            </a:defPPr>
          </a:lstStyle>
          <a:p xmlns:a="http://schemas.openxmlformats.org/drawingml/2006/main">
            <a:pPr algn="l">
              <a:defRPr sz="2100" b="0">
                <a:solidFill>
                  <a:srgbClr val="44DCE3"/>
                </a:solidFill>
                <a:latin typeface="Arial"/>
                <a:ea typeface="Arial"/>
                <a:cs typeface="Arial"/>
              </a:defRPr>
            </a:pPr>
            <a:r>
              <a:rPr sz="2100" b="0">
                <a:solidFill>
                  <a:srgbClr val="44DCE3"/>
                </a:solidFill>
                <a:latin typeface="Arial"/>
                <a:ea typeface="Arial"/>
                <a:cs typeface="Arial"/>
              </a:rPr>
              <a:t>Run a scenario and inspect its actual HTTP results</a:t>
            </a:r>
          </a:p>
        </p:txBody>
      </p:sp>
      <p:pic>
        <p:nvPicPr>
          <p:cNvPr id="4" name="">
            <a:extLst xmlns:a="http://schemas.openxmlformats.org/drawingml/2006/main">
              <a:ext uri="{FF2B5EF4-FFF2-40B4-BE49-F238E27FC236}">
                <a16:creationId xmlns:a16="http://schemas.microsoft.com/office/drawing/2014/main" id="{643FD202-D32A-41AD-9B20-B151EF2530C1}"/>
              </a:ext>
            </a:extLst>
          </p:cNvPr>
          <p:cNvPicPr>
            <a:picLocks xmlns:a="http://schemas.openxmlformats.org/drawingml/2006/main" noChangeAspect="1"/>
          </p:cNvPicPr>
          <p:nvPr/>
        </p:nvPicPr>
        <p:blipFill>
          <a:blip xmlns:r="http://schemas.openxmlformats.org/officeDocument/2006/relationships" xmlns:a="http://schemas.openxmlformats.org/drawingml/2006/main" r:embed="R79fdb541c9b34783"/>
          <a:srcRect xmlns:a="http://schemas.openxmlformats.org/drawingml/2006/main" l="18300" t="11000" r="3500" b="35500"/>
          <a:stretch xmlns:a="http://schemas.openxmlformats.org/drawingml/2006/main"/>
        </p:blipFill>
        <p:spPr>
          <a:xfrm xmlns:a="http://schemas.openxmlformats.org/drawingml/2006/main">
            <a:off x="609600" y="1790700"/>
            <a:ext cx="10972800" cy="4057650"/>
          </a:xfrm>
          <a:prstGeom xmlns:a="http://schemas.openxmlformats.org/drawingml/2006/main" prst="rect">
            <a:avLst/>
          </a:prstGeom>
        </p:spPr>
      </p:pic>
      <p:sp>
        <p:nvSpPr>
          <p:cNvPr id="5" name="Rules-based diagnosis     Synthetic payments     Isolated demo session">
            <a:extLst xmlns:a="http://schemas.openxmlformats.org/drawingml/2006/main">
              <a:ext uri="{FF2B5EF4-FFF2-40B4-BE49-F238E27FC236}">
                <a16:creationId xmlns:a16="http://schemas.microsoft.com/office/drawing/2014/main" id="{DCD6A82F-3C2A-42BD-837C-05D22EE834F4}"/>
              </a:ext>
            </a:extLst>
          </p:cNvPr>
          <p:cNvSpPr>
            <a:spLocks xmlns:a="http://schemas.openxmlformats.org/drawingml/2006/main" noGrp="1"/>
          </p:cNvSpPr>
          <p:nvPr/>
        </p:nvSpPr>
        <p:spPr>
          <a:xfrm xmlns:a="http://schemas.openxmlformats.org/drawingml/2006/main">
            <a:off x="609600" y="60007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1C3D2"/>
                </a:solidFill>
                <a:latin typeface="Arial"/>
                <a:ea typeface="Arial"/>
                <a:cs typeface="Arial"/>
              </a:defRPr>
            </a:defPPr>
          </a:lstStyle>
          <a:p xmlns:a="http://schemas.openxmlformats.org/drawingml/2006/main">
            <a:pPr algn="l">
              <a:defRPr sz="1650" b="0">
                <a:solidFill>
                  <a:srgbClr val="B1C3D2"/>
                </a:solidFill>
                <a:latin typeface="Arial"/>
                <a:ea typeface="Arial"/>
                <a:cs typeface="Arial"/>
              </a:defRPr>
            </a:pPr>
            <a:r>
              <a:rPr sz="1650" b="0">
                <a:solidFill>
                  <a:srgbClr val="B1C3D2"/>
                </a:solidFill>
                <a:latin typeface="Arial"/>
                <a:ea typeface="Arial"/>
                <a:cs typeface="Arial"/>
              </a:rPr>
              <a:t>Rules-based diagnosis     Synthetic payments     Isolated demo sessions</a:t>
            </a:r>
          </a:p>
        </p:txBody>
      </p:sp>
    </p:spTree>
    <p:extLst>
      <p:ext uri="{BB962C8B-B14F-4D97-AF65-F5344CB8AC3E}">
        <p14:creationId xmlns:p14="http://schemas.microsoft.com/office/powerpoint/2010/main" val="1582280465"/>
      </p:ext>
    </p:extLst>
  </p:cSld>
</p:sld>
</file>

<file path=ppt/slides/slide4.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A74BCDFF-63D2-4426-976B-9133ECD37474}"/>
              </a:ext>
            </a:extLst>
          </p:cNvPr>
          <p:cNvCxnSpPr>
            <a:stCxn xmlns:a="http://schemas.openxmlformats.org/drawingml/2006/main" id="16" idx="3"/>
            <a:endCxn xmlns:a="http://schemas.openxmlformats.org/drawingml/2006/main" id="10" idx="1"/>
          </p:cNvCxnSpPr>
          <p:nvPr/>
        </p:nvCxnSpPr>
        <p:spPr>
          <a:xfrm xmlns:a="http://schemas.openxmlformats.org/drawingml/2006/main">
            <a:off x="6838950" y="5091113"/>
            <a:ext cx="609600" cy="0"/>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17" name="">
            <a:extLst xmlns:a="http://schemas.openxmlformats.org/drawingml/2006/main">
              <a:ext uri="{FF2B5EF4-FFF2-40B4-BE49-F238E27FC236}">
                <a16:creationId xmlns:a16="http://schemas.microsoft.com/office/drawing/2014/main" id="{01B2B2C4-FA4C-48EE-91AE-E5767F72F1F6}"/>
              </a:ext>
            </a:extLst>
          </p:cNvPr>
          <p:cNvCxnSpPr>
            <a:stCxn xmlns:a="http://schemas.openxmlformats.org/drawingml/2006/main" id="12" idx="2"/>
            <a:endCxn xmlns:a="http://schemas.openxmlformats.org/drawingml/2006/main" id="16" idx="0"/>
          </p:cNvCxnSpPr>
          <p:nvPr/>
        </p:nvCxnSpPr>
        <p:spPr>
          <a:xfrm xmlns:a="http://schemas.openxmlformats.org/drawingml/2006/main">
            <a:off x="5286375" y="3895725"/>
            <a:ext cx="0" cy="790575"/>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15" name="">
            <a:extLst xmlns:a="http://schemas.openxmlformats.org/drawingml/2006/main">
              <a:ext uri="{FF2B5EF4-FFF2-40B4-BE49-F238E27FC236}">
                <a16:creationId xmlns:a16="http://schemas.microsoft.com/office/drawing/2014/main" id="{A6338181-F8B5-4841-9E81-B08F046D4629}"/>
              </a:ext>
            </a:extLst>
          </p:cNvPr>
          <p:cNvCxnSpPr>
            <a:stCxn xmlns:a="http://schemas.openxmlformats.org/drawingml/2006/main" id="12" idx="1"/>
            <a:endCxn xmlns:a="http://schemas.openxmlformats.org/drawingml/2006/main" id="14" idx="3"/>
          </p:cNvCxnSpPr>
          <p:nvPr/>
        </p:nvCxnSpPr>
        <p:spPr>
          <a:xfrm xmlns:a="http://schemas.openxmlformats.org/drawingml/2006/main" flipH="1">
            <a:off x="3133725" y="3490913"/>
            <a:ext cx="600075" cy="0"/>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13" name="">
            <a:extLst xmlns:a="http://schemas.openxmlformats.org/drawingml/2006/main">
              <a:ext uri="{FF2B5EF4-FFF2-40B4-BE49-F238E27FC236}">
                <a16:creationId xmlns:a16="http://schemas.microsoft.com/office/drawing/2014/main" id="{E2CE582B-BE1D-4735-8EE0-42335C1FB827}"/>
              </a:ext>
            </a:extLst>
          </p:cNvPr>
          <p:cNvCxnSpPr>
            <a:stCxn xmlns:a="http://schemas.openxmlformats.org/drawingml/2006/main" id="8" idx="1"/>
            <a:endCxn xmlns:a="http://schemas.openxmlformats.org/drawingml/2006/main" id="12" idx="3"/>
          </p:cNvCxnSpPr>
          <p:nvPr/>
        </p:nvCxnSpPr>
        <p:spPr>
          <a:xfrm xmlns:a="http://schemas.openxmlformats.org/drawingml/2006/main" flipH="1">
            <a:off x="6838950" y="3490913"/>
            <a:ext cx="609600" cy="0"/>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11" name="">
            <a:extLst xmlns:a="http://schemas.openxmlformats.org/drawingml/2006/main">
              <a:ext uri="{FF2B5EF4-FFF2-40B4-BE49-F238E27FC236}">
                <a16:creationId xmlns:a16="http://schemas.microsoft.com/office/drawing/2014/main" id="{4C8A201C-BE36-4CA8-8A1A-224A32478F00}"/>
              </a:ext>
            </a:extLst>
          </p:cNvPr>
          <p:cNvCxnSpPr>
            <a:stCxn xmlns:a="http://schemas.openxmlformats.org/drawingml/2006/main" id="8" idx="2"/>
            <a:endCxn xmlns:a="http://schemas.openxmlformats.org/drawingml/2006/main" id="10" idx="0"/>
          </p:cNvCxnSpPr>
          <p:nvPr/>
        </p:nvCxnSpPr>
        <p:spPr>
          <a:xfrm xmlns:a="http://schemas.openxmlformats.org/drawingml/2006/main">
            <a:off x="9505950" y="3895725"/>
            <a:ext cx="0" cy="790575"/>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9" name="">
            <a:extLst xmlns:a="http://schemas.openxmlformats.org/drawingml/2006/main">
              <a:ext uri="{FF2B5EF4-FFF2-40B4-BE49-F238E27FC236}">
                <a16:creationId xmlns:a16="http://schemas.microsoft.com/office/drawing/2014/main" id="{6C5AF793-2610-4A16-9A07-4AD7D5504E7C}"/>
              </a:ext>
            </a:extLst>
          </p:cNvPr>
          <p:cNvCxnSpPr>
            <a:stCxn xmlns:a="http://schemas.openxmlformats.org/drawingml/2006/main" id="5" idx="2"/>
            <a:endCxn xmlns:a="http://schemas.openxmlformats.org/drawingml/2006/main" id="8" idx="0"/>
          </p:cNvCxnSpPr>
          <p:nvPr/>
        </p:nvCxnSpPr>
        <p:spPr>
          <a:xfrm xmlns:a="http://schemas.openxmlformats.org/drawingml/2006/main">
            <a:off x="9505950" y="2409825"/>
            <a:ext cx="0" cy="676275"/>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7" name="">
            <a:extLst xmlns:a="http://schemas.openxmlformats.org/drawingml/2006/main">
              <a:ext uri="{FF2B5EF4-FFF2-40B4-BE49-F238E27FC236}">
                <a16:creationId xmlns:a16="http://schemas.microsoft.com/office/drawing/2014/main" id="{D5762028-7026-4712-9418-7577EF29AFB4}"/>
              </a:ext>
            </a:extLst>
          </p:cNvPr>
          <p:cNvCxnSpPr>
            <a:stCxn xmlns:a="http://schemas.openxmlformats.org/drawingml/2006/main" id="4" idx="3"/>
            <a:endCxn xmlns:a="http://schemas.openxmlformats.org/drawingml/2006/main" id="5" idx="1"/>
          </p:cNvCxnSpPr>
          <p:nvPr/>
        </p:nvCxnSpPr>
        <p:spPr>
          <a:xfrm xmlns:a="http://schemas.openxmlformats.org/drawingml/2006/main">
            <a:off x="6838950" y="2005013"/>
            <a:ext cx="609600" cy="0"/>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6" name="">
            <a:extLst xmlns:a="http://schemas.openxmlformats.org/drawingml/2006/main">
              <a:ext uri="{FF2B5EF4-FFF2-40B4-BE49-F238E27FC236}">
                <a16:creationId xmlns:a16="http://schemas.microsoft.com/office/drawing/2014/main" id="{19FC5F1D-908C-4CD9-8C7A-17AE28C49429}"/>
              </a:ext>
            </a:extLst>
          </p:cNvPr>
          <p:cNvCxnSpPr>
            <a:stCxn xmlns:a="http://schemas.openxmlformats.org/drawingml/2006/main" id="3" idx="3"/>
            <a:endCxn xmlns:a="http://schemas.openxmlformats.org/drawingml/2006/main" id="4" idx="1"/>
          </p:cNvCxnSpPr>
          <p:nvPr/>
        </p:nvCxnSpPr>
        <p:spPr>
          <a:xfrm xmlns:a="http://schemas.openxmlformats.org/drawingml/2006/main">
            <a:off x="3133725" y="2005013"/>
            <a:ext cx="600075" cy="0"/>
          </a:xfrm>
          <a:prstGeom xmlns:a="http://schemas.openxmlformats.org/drawingml/2006/main" prst="straightConnector1">
            <a:avLst/>
          </a:prstGeom>
          <a:ln xmlns:a="http://schemas.openxmlformats.org/drawingml/2006/main" w="28575">
            <a:solidFill>
              <a:srgbClr val="44DCE3"/>
            </a:solidFill>
            <a:tailEnd type="triangle" w="med" len="med"/>
          </a:ln>
        </p:spPr>
      </p:cxnSp>
      <p:sp>
        <p:nvSpPr>
          <p:cNvPr id="21" name="Application architecture">
            <a:extLst xmlns:a="http://schemas.openxmlformats.org/drawingml/2006/main">
              <a:ext uri="{FF2B5EF4-FFF2-40B4-BE49-F238E27FC236}">
                <a16:creationId xmlns:a16="http://schemas.microsoft.com/office/drawing/2014/main" id="{E982FDC1-6B73-44BB-812F-B4895E016857}"/>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Application architecture</a:t>
            </a:r>
          </a:p>
        </p:txBody>
      </p:sp>
      <p:sp>
        <p:nvSpPr>
          <p:cNvPr id="2" name="BizPlus AI     4/7">
            <a:extLst xmlns:a="http://schemas.openxmlformats.org/drawingml/2006/main">
              <a:ext uri="{FF2B5EF4-FFF2-40B4-BE49-F238E27FC236}">
                <a16:creationId xmlns:a16="http://schemas.microsoft.com/office/drawing/2014/main" id="{A091815E-AEFB-477D-BB8D-A926B1A9FFF6}"/>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4/7</a:t>
            </a:r>
          </a:p>
        </p:txBody>
      </p:sp>
      <p:sp>
        <p:nvSpPr>
          <p:cNvPr id="3" name="Judge browser">
            <a:extLst xmlns:a="http://schemas.openxmlformats.org/drawingml/2006/main">
              <a:ext uri="{FF2B5EF4-FFF2-40B4-BE49-F238E27FC236}">
                <a16:creationId xmlns:a16="http://schemas.microsoft.com/office/drawing/2014/main" id="{AC73C203-8E3A-4263-BD88-4DD1D6AE3824}"/>
              </a:ext>
            </a:extLst>
          </p:cNvPr>
          <p:cNvSpPr>
            <a:spLocks xmlns:a="http://schemas.openxmlformats.org/drawingml/2006/main" noGrp="1"/>
          </p:cNvSpPr>
          <p:nvPr/>
        </p:nvSpPr>
        <p:spPr>
          <a:xfrm xmlns:a="http://schemas.openxmlformats.org/drawingml/2006/main">
            <a:off x="609600" y="1600200"/>
            <a:ext cx="2524125"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Judge browser</a:t>
            </a:r>
          </a:p>
        </p:txBody>
      </p:sp>
      <p:sp>
        <p:nvSpPr>
          <p:cNvPr id="4" name="React on Netlify">
            <a:extLst xmlns:a="http://schemas.openxmlformats.org/drawingml/2006/main">
              <a:ext uri="{FF2B5EF4-FFF2-40B4-BE49-F238E27FC236}">
                <a16:creationId xmlns:a16="http://schemas.microsoft.com/office/drawing/2014/main" id="{EA4CEE54-D68B-4521-8C11-788EDC2F5F95}"/>
              </a:ext>
            </a:extLst>
          </p:cNvPr>
          <p:cNvSpPr>
            <a:spLocks xmlns:a="http://schemas.openxmlformats.org/drawingml/2006/main" noGrp="1"/>
          </p:cNvSpPr>
          <p:nvPr/>
        </p:nvSpPr>
        <p:spPr>
          <a:xfrm xmlns:a="http://schemas.openxmlformats.org/drawingml/2006/main">
            <a:off x="3733800" y="1600200"/>
            <a:ext cx="310515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React on Netlify</a:t>
            </a:r>
          </a:p>
        </p:txBody>
      </p:sp>
      <p:sp>
        <p:nvSpPr>
          <p:cNvPr id="5" name="Express on Render">
            <a:extLst xmlns:a="http://schemas.openxmlformats.org/drawingml/2006/main">
              <a:ext uri="{FF2B5EF4-FFF2-40B4-BE49-F238E27FC236}">
                <a16:creationId xmlns:a16="http://schemas.microsoft.com/office/drawing/2014/main" id="{ED45F740-5AB6-4075-9328-2D04F1EEE745}"/>
              </a:ext>
            </a:extLst>
          </p:cNvPr>
          <p:cNvSpPr>
            <a:spLocks xmlns:a="http://schemas.openxmlformats.org/drawingml/2006/main" noGrp="1"/>
          </p:cNvSpPr>
          <p:nvPr/>
        </p:nvSpPr>
        <p:spPr>
          <a:xfrm xmlns:a="http://schemas.openxmlformats.org/drawingml/2006/main">
            <a:off x="7448550" y="1600200"/>
            <a:ext cx="411480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Express on Render</a:t>
            </a:r>
          </a:p>
        </p:txBody>
      </p:sp>
      <p:sp>
        <p:nvSpPr>
          <p:cNvPr id="8" name="HTTP workflow runner">
            <a:extLst xmlns:a="http://schemas.openxmlformats.org/drawingml/2006/main">
              <a:ext uri="{FF2B5EF4-FFF2-40B4-BE49-F238E27FC236}">
                <a16:creationId xmlns:a16="http://schemas.microsoft.com/office/drawing/2014/main" id="{9254C635-3770-47A7-99A4-558631710000}"/>
              </a:ext>
            </a:extLst>
          </p:cNvPr>
          <p:cNvSpPr>
            <a:spLocks xmlns:a="http://schemas.openxmlformats.org/drawingml/2006/main" noGrp="1"/>
          </p:cNvSpPr>
          <p:nvPr/>
        </p:nvSpPr>
        <p:spPr>
          <a:xfrm xmlns:a="http://schemas.openxmlformats.org/drawingml/2006/main">
            <a:off x="7448550" y="3086100"/>
            <a:ext cx="411480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HTTP workflow runner</a:t>
            </a:r>
          </a:p>
        </p:txBody>
      </p:sp>
      <p:sp>
        <p:nvSpPr>
          <p:cNvPr id="10" name="Owned shop sandbox">
            <a:extLst xmlns:a="http://schemas.openxmlformats.org/drawingml/2006/main">
              <a:ext uri="{FF2B5EF4-FFF2-40B4-BE49-F238E27FC236}">
                <a16:creationId xmlns:a16="http://schemas.microsoft.com/office/drawing/2014/main" id="{9B2E0146-95F8-45E4-9127-5E5ABDD139DA}"/>
              </a:ext>
            </a:extLst>
          </p:cNvPr>
          <p:cNvSpPr>
            <a:spLocks xmlns:a="http://schemas.openxmlformats.org/drawingml/2006/main" noGrp="1"/>
          </p:cNvSpPr>
          <p:nvPr/>
        </p:nvSpPr>
        <p:spPr>
          <a:xfrm xmlns:a="http://schemas.openxmlformats.org/drawingml/2006/main">
            <a:off x="7448550" y="4686300"/>
            <a:ext cx="411480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Owned shop sandbox</a:t>
            </a:r>
          </a:p>
        </p:txBody>
      </p:sp>
      <p:sp>
        <p:nvSpPr>
          <p:cNvPr id="12" name="Rules and fingerprints">
            <a:extLst xmlns:a="http://schemas.openxmlformats.org/drawingml/2006/main">
              <a:ext uri="{FF2B5EF4-FFF2-40B4-BE49-F238E27FC236}">
                <a16:creationId xmlns:a16="http://schemas.microsoft.com/office/drawing/2014/main" id="{799BD8D5-623E-4894-B77F-B50A4913B2E4}"/>
              </a:ext>
            </a:extLst>
          </p:cNvPr>
          <p:cNvSpPr>
            <a:spLocks xmlns:a="http://schemas.openxmlformats.org/drawingml/2006/main" noGrp="1"/>
          </p:cNvSpPr>
          <p:nvPr/>
        </p:nvSpPr>
        <p:spPr>
          <a:xfrm xmlns:a="http://schemas.openxmlformats.org/drawingml/2006/main">
            <a:off x="3733800" y="3086100"/>
            <a:ext cx="310515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Rules and fingerprints</a:t>
            </a:r>
          </a:p>
        </p:txBody>
      </p:sp>
      <p:sp>
        <p:nvSpPr>
          <p:cNvPr id="14" name="SQLite evidence history">
            <a:extLst xmlns:a="http://schemas.openxmlformats.org/drawingml/2006/main">
              <a:ext uri="{FF2B5EF4-FFF2-40B4-BE49-F238E27FC236}">
                <a16:creationId xmlns:a16="http://schemas.microsoft.com/office/drawing/2014/main" id="{01F5ED93-7881-40E8-B02E-DBF62F7DAEF1}"/>
              </a:ext>
            </a:extLst>
          </p:cNvPr>
          <p:cNvSpPr>
            <a:spLocks xmlns:a="http://schemas.openxmlformats.org/drawingml/2006/main" noGrp="1"/>
          </p:cNvSpPr>
          <p:nvPr/>
        </p:nvSpPr>
        <p:spPr>
          <a:xfrm xmlns:a="http://schemas.openxmlformats.org/drawingml/2006/main">
            <a:off x="609600" y="3086100"/>
            <a:ext cx="2524125"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SQLite evidence history</a:t>
            </a:r>
          </a:p>
        </p:txBody>
      </p:sp>
      <p:sp>
        <p:nvSpPr>
          <p:cNvPr id="16" name="Approved worker resume">
            <a:extLst xmlns:a="http://schemas.openxmlformats.org/drawingml/2006/main">
              <a:ext uri="{FF2B5EF4-FFF2-40B4-BE49-F238E27FC236}">
                <a16:creationId xmlns:a16="http://schemas.microsoft.com/office/drawing/2014/main" id="{955E81EC-D60C-4918-A763-70E21FC99357}"/>
              </a:ext>
            </a:extLst>
          </p:cNvPr>
          <p:cNvSpPr>
            <a:spLocks xmlns:a="http://schemas.openxmlformats.org/drawingml/2006/main" noGrp="1"/>
          </p:cNvSpPr>
          <p:nvPr/>
        </p:nvSpPr>
        <p:spPr>
          <a:xfrm xmlns:a="http://schemas.openxmlformats.org/drawingml/2006/main">
            <a:off x="3733800" y="4686300"/>
            <a:ext cx="310515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Approved worker resume</a:t>
            </a:r>
          </a:p>
        </p:txBody>
      </p:sp>
      <p:sp>
        <p:nvSpPr>
          <p:cNvPr id="19" name="Shared TypeScript contracts">
            <a:extLst xmlns:a="http://schemas.openxmlformats.org/drawingml/2006/main">
              <a:ext uri="{FF2B5EF4-FFF2-40B4-BE49-F238E27FC236}">
                <a16:creationId xmlns:a16="http://schemas.microsoft.com/office/drawing/2014/main" id="{4E77903A-B55B-4464-9CB1-12F827CE988C}"/>
              </a:ext>
            </a:extLst>
          </p:cNvPr>
          <p:cNvSpPr>
            <a:spLocks xmlns:a="http://schemas.openxmlformats.org/drawingml/2006/main" noGrp="1"/>
          </p:cNvSpPr>
          <p:nvPr/>
        </p:nvSpPr>
        <p:spPr>
          <a:xfrm xmlns:a="http://schemas.openxmlformats.org/drawingml/2006/main">
            <a:off x="609600" y="4429125"/>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4DCE3"/>
                </a:solidFill>
                <a:latin typeface="Arial"/>
                <a:ea typeface="Arial"/>
                <a:cs typeface="Arial"/>
              </a:defRPr>
            </a:defPPr>
          </a:lstStyle>
          <a:p xmlns:a="http://schemas.openxmlformats.org/drawingml/2006/main">
            <a:pPr algn="l">
              <a:defRPr sz="1875" b="1">
                <a:solidFill>
                  <a:srgbClr val="44DCE3"/>
                </a:solidFill>
                <a:latin typeface="Arial"/>
                <a:ea typeface="Arial"/>
                <a:cs typeface="Arial"/>
              </a:defRPr>
            </a:pPr>
            <a:r>
              <a:rPr sz="1875" b="1">
                <a:solidFill>
                  <a:srgbClr val="44DCE3"/>
                </a:solidFill>
                <a:latin typeface="Arial"/>
                <a:ea typeface="Arial"/>
                <a:cs typeface="Arial"/>
              </a:rPr>
              <a:t>Shared TypeScript contracts</a:t>
            </a:r>
          </a:p>
        </p:txBody>
      </p:sp>
      <p:sp>
        <p:nvSpPr>
          <p:cNvPr id="20" name="Temporary hosted history&#10;Local offline fallback">
            <a:extLst xmlns:a="http://schemas.openxmlformats.org/drawingml/2006/main">
              <a:ext uri="{FF2B5EF4-FFF2-40B4-BE49-F238E27FC236}">
                <a16:creationId xmlns:a16="http://schemas.microsoft.com/office/drawing/2014/main" id="{CA88C3AC-A4C5-4262-94AD-D02C36D4CEA4}"/>
              </a:ext>
            </a:extLst>
          </p:cNvPr>
          <p:cNvSpPr>
            <a:spLocks xmlns:a="http://schemas.openxmlformats.org/drawingml/2006/main" noGrp="1"/>
          </p:cNvSpPr>
          <p:nvPr/>
        </p:nvSpPr>
        <p:spPr>
          <a:xfrm xmlns:a="http://schemas.openxmlformats.org/drawingml/2006/main">
            <a:off x="609600" y="5324475"/>
            <a:ext cx="609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1C3D2"/>
                </a:solidFill>
                <a:latin typeface="Arial"/>
                <a:ea typeface="Arial"/>
                <a:cs typeface="Arial"/>
              </a:defRPr>
            </a:defPPr>
          </a:lstStyle>
          <a:p xmlns:a="http://schemas.openxmlformats.org/drawingml/2006/main">
            <a:pPr algn="l">
              <a:defRPr sz="1875" b="0">
                <a:solidFill>
                  <a:srgbClr val="B1C3D2"/>
                </a:solidFill>
                <a:latin typeface="Arial"/>
                <a:ea typeface="Arial"/>
                <a:cs typeface="Arial"/>
              </a:defRPr>
            </a:pPr>
            <a:r>
              <a:rPr sz="1875" b="0">
                <a:solidFill>
                  <a:srgbClr val="B1C3D2"/>
                </a:solidFill>
                <a:latin typeface="Arial"/>
                <a:ea typeface="Arial"/>
                <a:cs typeface="Arial"/>
              </a:rPr>
              <a:t>Temporary hosted history</a:t>
            </a:r>
          </a:p>
          <a:p xmlns:a="http://schemas.openxmlformats.org/drawingml/2006/main">
            <a:pPr algn="l">
              <a:defRPr sz="1875" b="0">
                <a:solidFill>
                  <a:srgbClr val="B1C3D2"/>
                </a:solidFill>
                <a:latin typeface="Arial"/>
                <a:ea typeface="Arial"/>
                <a:cs typeface="Arial"/>
              </a:defRPr>
            </a:pPr>
            <a:r>
              <a:rPr sz="1875" b="0">
                <a:solidFill>
                  <a:srgbClr val="B1C3D2"/>
                </a:solidFill>
                <a:latin typeface="Arial"/>
                <a:ea typeface="Arial"/>
                <a:cs typeface="Arial"/>
              </a:rPr>
              <a:t>Local offline fallback</a:t>
            </a:r>
          </a:p>
        </p:txBody>
      </p:sp>
    </p:spTree>
    <p:extLst>
      <p:ext uri="{BB962C8B-B14F-4D97-AF65-F5344CB8AC3E}">
        <p14:creationId xmlns:p14="http://schemas.microsoft.com/office/powerpoint/2010/main" val="1065600924"/>
      </p:ext>
    </p:extLst>
  </p:cSld>
</p:sld>
</file>

<file path=ppt/slides/slide5.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6" name="Failure investigation and verified recovery">
            <a:extLst xmlns:a="http://schemas.openxmlformats.org/drawingml/2006/main">
              <a:ext uri="{FF2B5EF4-FFF2-40B4-BE49-F238E27FC236}">
                <a16:creationId xmlns:a16="http://schemas.microsoft.com/office/drawing/2014/main" id="{4E14F80F-FD09-4D75-A7F6-A035F07040B0}"/>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Failure investigation and verified recovery</a:t>
            </a:r>
          </a:p>
        </p:txBody>
      </p:sp>
      <p:sp>
        <p:nvSpPr>
          <p:cNvPr id="2" name="BizPlus AI     5/7">
            <a:extLst xmlns:a="http://schemas.openxmlformats.org/drawingml/2006/main">
              <a:ext uri="{FF2B5EF4-FFF2-40B4-BE49-F238E27FC236}">
                <a16:creationId xmlns:a16="http://schemas.microsoft.com/office/drawing/2014/main" id="{FBB30F99-FC37-4FC0-A25B-9B1FD08A5ABC}"/>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5/7</a:t>
            </a:r>
          </a:p>
        </p:txBody>
      </p:sp>
      <p:sp>
        <p:nvSpPr>
          <p:cNvPr id="3" name="1  Run Missing confirmation&#10;&#10;2  Inspect response and logs&#10;&#10;3  Approve ">
            <a:extLst xmlns:a="http://schemas.openxmlformats.org/drawingml/2006/main">
              <a:ext uri="{FF2B5EF4-FFF2-40B4-BE49-F238E27FC236}">
                <a16:creationId xmlns:a16="http://schemas.microsoft.com/office/drawing/2014/main" id="{C1D8586C-DC94-4D0C-AE07-AEC0D0DA9A1C}"/>
              </a:ext>
            </a:extLst>
          </p:cNvPr>
          <p:cNvSpPr>
            <a:spLocks xmlns:a="http://schemas.openxmlformats.org/drawingml/2006/main" noGrp="1"/>
          </p:cNvSpPr>
          <p:nvPr/>
        </p:nvSpPr>
        <p:spPr>
          <a:xfrm xmlns:a="http://schemas.openxmlformats.org/drawingml/2006/main">
            <a:off x="609600" y="1657350"/>
            <a:ext cx="364807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1F7FC"/>
                </a:solidFill>
                <a:latin typeface="Arial"/>
                <a:ea typeface="Arial"/>
                <a:cs typeface="Arial"/>
              </a:defRPr>
            </a:defPPr>
          </a:lstStyle>
          <a:p xmlns:a="http://schemas.openxmlformats.org/drawingml/2006/main">
            <a:pPr algn="l">
              <a:defRPr sz="2175" b="0">
                <a:solidFill>
                  <a:srgbClr val="F1F7FC"/>
                </a:solidFill>
                <a:latin typeface="Arial"/>
                <a:ea typeface="Arial"/>
                <a:cs typeface="Arial"/>
              </a:defRPr>
            </a:pPr>
            <a:r>
              <a:rPr sz="2175" b="0">
                <a:solidFill>
                  <a:srgbClr val="F1F7FC"/>
                </a:solidFill>
                <a:latin typeface="Arial"/>
                <a:ea typeface="Arial"/>
                <a:cs typeface="Arial"/>
              </a:rPr>
              <a:t>1  Run Missing confirmation</a:t>
            </a:r>
          </a:p>
          <a:p xmlns:a="http://schemas.openxmlformats.org/drawingml/2006/main">
            <a:r>
              <a:t/>
            </a:r>
          </a:p>
          <a:p xmlns:a="http://schemas.openxmlformats.org/drawingml/2006/main">
            <a:pPr algn="l">
              <a:defRPr sz="2175" b="0">
                <a:solidFill>
                  <a:srgbClr val="F1F7FC"/>
                </a:solidFill>
                <a:latin typeface="Arial"/>
                <a:ea typeface="Arial"/>
                <a:cs typeface="Arial"/>
              </a:defRPr>
            </a:pPr>
            <a:r>
              <a:rPr sz="2175" b="0">
                <a:solidFill>
                  <a:srgbClr val="F1F7FC"/>
                </a:solidFill>
                <a:latin typeface="Arial"/>
                <a:ea typeface="Arial"/>
                <a:cs typeface="Arial"/>
              </a:rPr>
              <a:t>2  Inspect response and logs</a:t>
            </a:r>
          </a:p>
          <a:p xmlns:a="http://schemas.openxmlformats.org/drawingml/2006/main">
            <a:r>
              <a:t/>
            </a:r>
          </a:p>
          <a:p xmlns:a="http://schemas.openxmlformats.org/drawingml/2006/main">
            <a:pPr algn="l">
              <a:defRPr sz="2175" b="0">
                <a:solidFill>
                  <a:srgbClr val="F1F7FC"/>
                </a:solidFill>
                <a:latin typeface="Arial"/>
                <a:ea typeface="Arial"/>
                <a:cs typeface="Arial"/>
              </a:defRPr>
            </a:pPr>
            <a:r>
              <a:rPr sz="2175" b="0">
                <a:solidFill>
                  <a:srgbClr val="F1F7FC"/>
                </a:solidFill>
                <a:latin typeface="Arial"/>
                <a:ea typeface="Arial"/>
                <a:cs typeface="Arial"/>
              </a:rPr>
              <a:t>3  Approve worker resume</a:t>
            </a:r>
          </a:p>
          <a:p xmlns:a="http://schemas.openxmlformats.org/drawingml/2006/main">
            <a:r>
              <a:t/>
            </a:r>
          </a:p>
          <a:p xmlns:a="http://schemas.openxmlformats.org/drawingml/2006/main">
            <a:pPr algn="l">
              <a:defRPr sz="2175" b="0">
                <a:solidFill>
                  <a:srgbClr val="F1F7FC"/>
                </a:solidFill>
                <a:latin typeface="Arial"/>
                <a:ea typeface="Arial"/>
                <a:cs typeface="Arial"/>
              </a:defRPr>
            </a:pPr>
            <a:r>
              <a:rPr sz="2175" b="0">
                <a:solidFill>
                  <a:srgbClr val="F1F7FC"/>
                </a:solidFill>
                <a:latin typeface="Arial"/>
                <a:ea typeface="Arial"/>
                <a:cs typeface="Arial"/>
              </a:rPr>
              <a:t>4  Verify the original order</a:t>
            </a:r>
          </a:p>
        </p:txBody>
      </p:sp>
      <p:pic>
        <p:nvPicPr>
          <p:cNvPr id="4" name="">
            <a:extLst xmlns:a="http://schemas.openxmlformats.org/drawingml/2006/main">
              <a:ext uri="{FF2B5EF4-FFF2-40B4-BE49-F238E27FC236}">
                <a16:creationId xmlns:a16="http://schemas.microsoft.com/office/drawing/2014/main" id="{EB81E796-4380-4405-8DD8-0331474CD5B1}"/>
              </a:ext>
            </a:extLst>
          </p:cNvPr>
          <p:cNvPicPr>
            <a:picLocks xmlns:a="http://schemas.openxmlformats.org/drawingml/2006/main" noChangeAspect="1"/>
          </p:cNvPicPr>
          <p:nvPr/>
        </p:nvPicPr>
        <p:blipFill>
          <a:blip xmlns:r="http://schemas.openxmlformats.org/officeDocument/2006/relationships" xmlns:a="http://schemas.openxmlformats.org/drawingml/2006/main" r:embed="Ra29d37220bcd4003"/>
          <a:srcRect xmlns:a="http://schemas.openxmlformats.org/drawingml/2006/main" l="18300" t="33700" r="3500" b="0"/>
          <a:stretch xmlns:a="http://schemas.openxmlformats.org/drawingml/2006/main"/>
        </p:blipFill>
        <p:spPr>
          <a:xfrm xmlns:a="http://schemas.openxmlformats.org/drawingml/2006/main">
            <a:off x="4572000" y="1562100"/>
            <a:ext cx="7010400" cy="4171950"/>
          </a:xfrm>
          <a:prstGeom xmlns:a="http://schemas.openxmlformats.org/drawingml/2006/main" prst="rect">
            <a:avLst/>
          </a:prstGeom>
        </p:spPr>
      </p:pic>
      <p:sp>
        <p:nvSpPr>
          <p:cNvPr id="5" name="1 payment before recovery     1 payment after recovery">
            <a:extLst xmlns:a="http://schemas.openxmlformats.org/drawingml/2006/main">
              <a:ext uri="{FF2B5EF4-FFF2-40B4-BE49-F238E27FC236}">
                <a16:creationId xmlns:a16="http://schemas.microsoft.com/office/drawing/2014/main" id="{5E9C0012-B4E1-42C7-9367-F5B49914104C}"/>
              </a:ext>
            </a:extLst>
          </p:cNvPr>
          <p:cNvSpPr>
            <a:spLocks xmlns:a="http://schemas.openxmlformats.org/drawingml/2006/main" noGrp="1"/>
          </p:cNvSpPr>
          <p:nvPr/>
        </p:nvSpPr>
        <p:spPr>
          <a:xfrm xmlns:a="http://schemas.openxmlformats.org/drawingml/2006/main">
            <a:off x="4572000" y="5915025"/>
            <a:ext cx="701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CE7BB"/>
                </a:solidFill>
                <a:latin typeface="Arial"/>
                <a:ea typeface="Arial"/>
                <a:cs typeface="Arial"/>
              </a:defRPr>
            </a:defPPr>
          </a:lstStyle>
          <a:p xmlns:a="http://schemas.openxmlformats.org/drawingml/2006/main">
            <a:pPr algn="l">
              <a:defRPr sz="1800" b="1">
                <a:solidFill>
                  <a:srgbClr val="7CE7BB"/>
                </a:solidFill>
                <a:latin typeface="Arial"/>
                <a:ea typeface="Arial"/>
                <a:cs typeface="Arial"/>
              </a:defRPr>
            </a:pPr>
            <a:r>
              <a:rPr sz="1800" b="1">
                <a:solidFill>
                  <a:srgbClr val="7CE7BB"/>
                </a:solidFill>
                <a:latin typeface="Arial"/>
                <a:ea typeface="Arial"/>
                <a:cs typeface="Arial"/>
              </a:rPr>
              <a:t>1 payment before recovery     1 payment after recovery</a:t>
            </a:r>
          </a:p>
        </p:txBody>
      </p:sp>
    </p:spTree>
    <p:extLst>
      <p:ext uri="{BB962C8B-B14F-4D97-AF65-F5344CB8AC3E}">
        <p14:creationId xmlns:p14="http://schemas.microsoft.com/office/powerpoint/2010/main" val="1922986533"/>
      </p:ext>
    </p:extLst>
  </p:cSld>
</p:sld>
</file>

<file path=ppt/slides/slide6.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7" name="Measured sandbox results">
            <a:extLst xmlns:a="http://schemas.openxmlformats.org/drawingml/2006/main">
              <a:ext uri="{FF2B5EF4-FFF2-40B4-BE49-F238E27FC236}">
                <a16:creationId xmlns:a16="http://schemas.microsoft.com/office/drawing/2014/main" id="{3BE5FD45-DF00-4ABB-9BFB-36415DFCB950}"/>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Measured sandbox results</a:t>
            </a:r>
          </a:p>
        </p:txBody>
      </p:sp>
      <p:sp>
        <p:nvSpPr>
          <p:cNvPr id="2" name="BizPlus AI     6/7">
            <a:extLst xmlns:a="http://schemas.openxmlformats.org/drawingml/2006/main">
              <a:ext uri="{FF2B5EF4-FFF2-40B4-BE49-F238E27FC236}">
                <a16:creationId xmlns:a16="http://schemas.microsoft.com/office/drawing/2014/main" id="{2C186A3E-AE14-4698-914F-3BD5C1517F77}"/>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6/7</a:t>
            </a:r>
          </a:p>
        </p:txBody>
      </p:sp>
      <p:graphicFrame>
        <p:nvGraphicFramePr>
          <p:cNvPr id="3" name="">
            <a:extLst xmlns:a="http://schemas.openxmlformats.org/drawingml/2006/main">
              <a:ext uri="{FF2B5EF4-FFF2-40B4-BE49-F238E27FC236}">
                <a16:creationId xmlns:a16="http://schemas.microsoft.com/office/drawing/2014/main" id="{E8379896-5E52-4C7D-947B-D27A384B33E3}"/>
              </a:ext>
            </a:extLst>
          </p:cNvPr>
          <p:cNvGraphicFramePr/>
          <p:nvPr/>
        </p:nvGraphicFramePr>
        <p:xfrm>
          <a:off xmlns:a="http://schemas.openxmlformats.org/drawingml/2006/main" x="609600" y="1438275"/>
          <a:ext xmlns:a="http://schemas.openxmlformats.org/drawingml/2006/main" cx="6191250" cy="3667125"/>
        </p:xfrm>
        <a:graphic xmlns:a="http://schemas.openxmlformats.org/drawingml/2006/main">
          <a:graphicData uri="http://schemas.openxmlformats.org/drawingml/2006/table">
            <a:tbl>
              <a:tblPr/>
              <a:tblGrid>
                <a:gridCol w="3867150"/>
                <a:gridCol w="2324100"/>
              </a:tblGrid>
              <a:tr h="611188">
                <a:tc>
                  <a:txBody>
                    <a:bodyPr/>
                    <a:lstStyle/>
                    <a:p>
                      <a:r>
                        <a:rPr sz="1875" b="1">
                          <a:solidFill>
                            <a:srgbClr val="F1F7FC"/>
                          </a:solidFill>
                          <a:latin typeface="Arial"/>
                          <a:ea typeface="Arial"/>
                          <a:cs typeface="Arial"/>
                        </a:rPr>
                        <a:t>Measured check</a:t>
                      </a:r>
                    </a:p>
                  </a:txBody>
                  <a:tcPr marL="152400" marR="152400" marT="114300" marB="114300" anchor="ctr">
                    <a:lnL w="9525">
                      <a:solidFill>
                        <a:srgbClr val="41596E"/>
                      </a:solidFill>
                      <a:prstDash val="solid"/>
                    </a:lnL>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c>
                  <a:txBody>
                    <a:bodyPr/>
                    <a:lstStyle/>
                    <a:p>
                      <a:r>
                        <a:rPr sz="1875" b="1">
                          <a:solidFill>
                            <a:srgbClr val="F1F7FC"/>
                          </a:solidFill>
                          <a:latin typeface="Arial"/>
                          <a:ea typeface="Arial"/>
                          <a:cs typeface="Arial"/>
                        </a:rPr>
                        <a:t>Observed result</a:t>
                      </a:r>
                    </a:p>
                  </a:txBody>
                  <a:tcPr marL="152400" marR="152400" marT="114300" marB="114300" anchor="ctr">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r>
              <a:tr h="611188">
                <a:tc>
                  <a:txBody>
                    <a:bodyPr/>
                    <a:lstStyle/>
                    <a:p>
                      <a:r>
                        <a:rPr sz="1875">
                          <a:solidFill>
                            <a:srgbClr val="F1F7FC"/>
                          </a:solidFill>
                          <a:latin typeface="Arial"/>
                          <a:ea typeface="Arial"/>
                          <a:cs typeface="Arial"/>
                        </a:rPr>
                        <a:t>Automated tests</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11 / 11 passed</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611188">
                <a:tc>
                  <a:txBody>
                    <a:bodyPr/>
                    <a:lstStyle/>
                    <a:p>
                      <a:r>
                        <a:rPr sz="1875">
                          <a:solidFill>
                            <a:srgbClr val="F1F7FC"/>
                          </a:solidFill>
                          <a:latin typeface="Arial"/>
                          <a:ea typeface="Arial"/>
                          <a:cs typeface="Arial"/>
                        </a:rPr>
                        <a:t>Healthy journey</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1221 ms</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611188">
                <a:tc>
                  <a:txBody>
                    <a:bodyPr/>
                    <a:lstStyle/>
                    <a:p>
                      <a:r>
                        <a:rPr sz="1875">
                          <a:solidFill>
                            <a:srgbClr val="F1F7FC"/>
                          </a:solidFill>
                          <a:latin typeface="Arial"/>
                          <a:ea typeface="Arial"/>
                          <a:cs typeface="Arial"/>
                        </a:rPr>
                        <a:t>Missing confirmation</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1180 ms</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611188">
                <a:tc>
                  <a:txBody>
                    <a:bodyPr/>
                    <a:lstStyle/>
                    <a:p>
                      <a:r>
                        <a:rPr sz="1875">
                          <a:solidFill>
                            <a:srgbClr val="F1F7FC"/>
                          </a:solidFill>
                          <a:latin typeface="Arial"/>
                          <a:ea typeface="Arial"/>
                          <a:cs typeface="Arial"/>
                        </a:rPr>
                        <a:t>Recovery verification</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247 ms</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611188">
                <a:tc>
                  <a:txBody>
                    <a:bodyPr/>
                    <a:lstStyle/>
                    <a:p>
                      <a:r>
                        <a:rPr sz="1875">
                          <a:solidFill>
                            <a:srgbClr val="F1F7FC"/>
                          </a:solidFill>
                          <a:latin typeface="Arial"/>
                          <a:ea typeface="Arial"/>
                          <a:cs typeface="Arial"/>
                        </a:rPr>
                        <a:t>Payments before and after</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1 and 1</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bl>
          </a:graphicData>
        </a:graphic>
      </p:graphicFrame>
      <p:sp>
        <p:nvSpPr>
          <p:cNvPr id="4" name="Focused demonstration">
            <a:extLst xmlns:a="http://schemas.openxmlformats.org/drawingml/2006/main">
              <a:ext uri="{FF2B5EF4-FFF2-40B4-BE49-F238E27FC236}">
                <a16:creationId xmlns:a16="http://schemas.microsoft.com/office/drawing/2014/main" id="{D21A41B7-5C57-439A-95F0-8863DD7CCE17}"/>
              </a:ext>
            </a:extLst>
          </p:cNvPr>
          <p:cNvSpPr>
            <a:spLocks xmlns:a="http://schemas.openxmlformats.org/drawingml/2006/main" noGrp="1"/>
          </p:cNvSpPr>
          <p:nvPr/>
        </p:nvSpPr>
        <p:spPr>
          <a:xfrm xmlns:a="http://schemas.openxmlformats.org/drawingml/2006/main">
            <a:off x="7229475" y="1628775"/>
            <a:ext cx="4352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44DCE3"/>
                </a:solidFill>
                <a:latin typeface="Arial"/>
                <a:ea typeface="Arial"/>
                <a:cs typeface="Arial"/>
              </a:defRPr>
            </a:defPPr>
          </a:lstStyle>
          <a:p xmlns:a="http://schemas.openxmlformats.org/drawingml/2006/main">
            <a:pPr algn="l">
              <a:defRPr sz="2250" b="1">
                <a:solidFill>
                  <a:srgbClr val="44DCE3"/>
                </a:solidFill>
                <a:latin typeface="Arial"/>
                <a:ea typeface="Arial"/>
                <a:cs typeface="Arial"/>
              </a:defRPr>
            </a:pPr>
            <a:r>
              <a:rPr sz="2250" b="1">
                <a:solidFill>
                  <a:srgbClr val="44DCE3"/>
                </a:solidFill>
                <a:latin typeface="Arial"/>
                <a:ea typeface="Arial"/>
                <a:cs typeface="Arial"/>
              </a:rPr>
              <a:t>Focused demonstration</a:t>
            </a:r>
          </a:p>
        </p:txBody>
      </p:sp>
      <p:sp>
        <p:nvSpPr>
          <p:cNvPr id="5" name="Missing business outcome&#10;&#10;Evidence linked to rules&#10;&#10;Approval with veri">
            <a:extLst xmlns:a="http://schemas.openxmlformats.org/drawingml/2006/main">
              <a:ext uri="{FF2B5EF4-FFF2-40B4-BE49-F238E27FC236}">
                <a16:creationId xmlns:a16="http://schemas.microsoft.com/office/drawing/2014/main" id="{348FCF2C-F74E-4DBE-831E-5E80F613FB6D}"/>
              </a:ext>
            </a:extLst>
          </p:cNvPr>
          <p:cNvSpPr>
            <a:spLocks xmlns:a="http://schemas.openxmlformats.org/drawingml/2006/main" noGrp="1"/>
          </p:cNvSpPr>
          <p:nvPr/>
        </p:nvSpPr>
        <p:spPr>
          <a:xfrm xmlns:a="http://schemas.openxmlformats.org/drawingml/2006/main">
            <a:off x="7229475" y="2257425"/>
            <a:ext cx="435292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1F7FC"/>
                </a:solidFill>
                <a:latin typeface="Arial"/>
                <a:ea typeface="Arial"/>
                <a:cs typeface="Arial"/>
              </a:defRPr>
            </a:defPPr>
          </a:lstStyle>
          <a:p xmlns:a="http://schemas.openxmlformats.org/drawingml/2006/main">
            <a:pPr algn="l">
              <a:defRPr sz="2100" b="0">
                <a:solidFill>
                  <a:srgbClr val="F1F7FC"/>
                </a:solidFill>
                <a:latin typeface="Arial"/>
                <a:ea typeface="Arial"/>
                <a:cs typeface="Arial"/>
              </a:defRPr>
            </a:pPr>
            <a:r>
              <a:rPr sz="2100" b="0">
                <a:solidFill>
                  <a:srgbClr val="F1F7FC"/>
                </a:solidFill>
                <a:latin typeface="Arial"/>
                <a:ea typeface="Arial"/>
                <a:cs typeface="Arial"/>
              </a:rPr>
              <a:t>Missing business outcome</a:t>
            </a:r>
          </a:p>
          <a:p xmlns:a="http://schemas.openxmlformats.org/drawingml/2006/main">
            <a:r>
              <a:t/>
            </a:r>
          </a:p>
          <a:p xmlns:a="http://schemas.openxmlformats.org/drawingml/2006/main">
            <a:pPr algn="l">
              <a:defRPr sz="2100" b="0">
                <a:solidFill>
                  <a:srgbClr val="F1F7FC"/>
                </a:solidFill>
                <a:latin typeface="Arial"/>
                <a:ea typeface="Arial"/>
                <a:cs typeface="Arial"/>
              </a:defRPr>
            </a:pPr>
            <a:r>
              <a:rPr sz="2100" b="0">
                <a:solidFill>
                  <a:srgbClr val="F1F7FC"/>
                </a:solidFill>
                <a:latin typeface="Arial"/>
                <a:ea typeface="Arial"/>
                <a:cs typeface="Arial"/>
              </a:rPr>
              <a:t>Evidence linked to rules</a:t>
            </a:r>
          </a:p>
          <a:p xmlns:a="http://schemas.openxmlformats.org/drawingml/2006/main">
            <a:r>
              <a:t/>
            </a:r>
          </a:p>
          <a:p xmlns:a="http://schemas.openxmlformats.org/drawingml/2006/main">
            <a:pPr algn="l">
              <a:defRPr sz="2100" b="0">
                <a:solidFill>
                  <a:srgbClr val="F1F7FC"/>
                </a:solidFill>
                <a:latin typeface="Arial"/>
                <a:ea typeface="Arial"/>
                <a:cs typeface="Arial"/>
              </a:defRPr>
            </a:pPr>
            <a:r>
              <a:rPr sz="2100" b="0">
                <a:solidFill>
                  <a:srgbClr val="F1F7FC"/>
                </a:solidFill>
                <a:latin typeface="Arial"/>
                <a:ea typeface="Arial"/>
                <a:cs typeface="Arial"/>
              </a:rPr>
              <a:t>Approval with verification</a:t>
            </a:r>
          </a:p>
        </p:txBody>
      </p:sp>
      <p:sp>
        <p:nvSpPr>
          <p:cNvPr id="6" name="Timings include the sandbox’s 220 ms request delay.&#10;Existing tools off">
            <a:extLst xmlns:a="http://schemas.openxmlformats.org/drawingml/2006/main">
              <a:ext uri="{FF2B5EF4-FFF2-40B4-BE49-F238E27FC236}">
                <a16:creationId xmlns:a16="http://schemas.microsoft.com/office/drawing/2014/main" id="{027B3AB9-10FC-4916-8CCC-DDE32BD2C41A}"/>
              </a:ext>
            </a:extLst>
          </p:cNvPr>
          <p:cNvSpPr>
            <a:spLocks xmlns:a="http://schemas.openxmlformats.org/drawingml/2006/main" noGrp="1"/>
          </p:cNvSpPr>
          <p:nvPr/>
        </p:nvSpPr>
        <p:spPr>
          <a:xfrm xmlns:a="http://schemas.openxmlformats.org/drawingml/2006/main">
            <a:off x="609600" y="532447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1C3D2"/>
                </a:solidFill>
                <a:latin typeface="Arial"/>
                <a:ea typeface="Arial"/>
                <a:cs typeface="Arial"/>
              </a:defRPr>
            </a:defPPr>
          </a:lstStyle>
          <a:p xmlns:a="http://schemas.openxmlformats.org/drawingml/2006/main">
            <a:pPr algn="l">
              <a:defRPr sz="1725" b="0">
                <a:solidFill>
                  <a:srgbClr val="B1C3D2"/>
                </a:solidFill>
                <a:latin typeface="Arial"/>
                <a:ea typeface="Arial"/>
                <a:cs typeface="Arial"/>
              </a:defRPr>
            </a:pPr>
            <a:r>
              <a:rPr sz="1725" b="0">
                <a:solidFill>
                  <a:srgbClr val="B1C3D2"/>
                </a:solidFill>
                <a:latin typeface="Arial"/>
                <a:ea typeface="Arial"/>
                <a:cs typeface="Arial"/>
              </a:rPr>
              <a:t>Timings include the sandbox’s 220 ms request delay.</a:t>
            </a:r>
          </a:p>
          <a:p xmlns:a="http://schemas.openxmlformats.org/drawingml/2006/main">
            <a:pPr algn="l">
              <a:defRPr sz="1725" b="0">
                <a:solidFill>
                  <a:srgbClr val="B1C3D2"/>
                </a:solidFill>
                <a:latin typeface="Arial"/>
                <a:ea typeface="Arial"/>
                <a:cs typeface="Arial"/>
              </a:defRPr>
            </a:pPr>
            <a:r>
              <a:rPr sz="1725" b="0">
                <a:solidFill>
                  <a:srgbClr val="B1C3D2"/>
                </a:solidFill>
                <a:latin typeface="Arial"/>
                <a:ea typeface="Arial"/>
                <a:cs typeface="Arial"/>
              </a:rPr>
              <a:t>Existing tools offer assertions and AI diagnosis.</a:t>
            </a:r>
          </a:p>
          <a:p xmlns:a="http://schemas.openxmlformats.org/drawingml/2006/main">
            <a:pPr algn="l">
              <a:defRPr sz="1725" b="0">
                <a:solidFill>
                  <a:srgbClr val="B1C3D2"/>
                </a:solidFill>
                <a:latin typeface="Arial"/>
                <a:ea typeface="Arial"/>
                <a:cs typeface="Arial"/>
              </a:defRPr>
            </a:pPr>
            <a:r>
              <a:rPr sz="1725" b="0">
                <a:solidFill>
                  <a:srgbClr val="B1C3D2"/>
                </a:solidFill>
                <a:latin typeface="Arial"/>
                <a:ea typeface="Arial"/>
                <a:cs typeface="Arial"/>
              </a:rPr>
              <a:t>Our demo connects evidence to approved recovery.</a:t>
            </a:r>
          </a:p>
        </p:txBody>
      </p:sp>
    </p:spTree>
    <p:extLst>
      <p:ext uri="{BB962C8B-B14F-4D97-AF65-F5344CB8AC3E}">
        <p14:creationId xmlns:p14="http://schemas.microsoft.com/office/powerpoint/2010/main" val="686444491"/>
      </p:ext>
    </p:extLst>
  </p:cSld>
</p:sld>
</file>

<file path=ppt/slides/slide7.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7" name="Release and roadmap">
            <a:extLst xmlns:a="http://schemas.openxmlformats.org/drawingml/2006/main">
              <a:ext uri="{FF2B5EF4-FFF2-40B4-BE49-F238E27FC236}">
                <a16:creationId xmlns:a16="http://schemas.microsoft.com/office/drawing/2014/main" id="{E914BD48-CE95-475F-9704-ACB8B58785CD}"/>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Release and roadmap</a:t>
            </a:r>
          </a:p>
        </p:txBody>
      </p:sp>
      <p:sp>
        <p:nvSpPr>
          <p:cNvPr id="2" name="BizPlus AI     7/7">
            <a:extLst xmlns:a="http://schemas.openxmlformats.org/drawingml/2006/main">
              <a:ext uri="{FF2B5EF4-FFF2-40B4-BE49-F238E27FC236}">
                <a16:creationId xmlns:a16="http://schemas.microsoft.com/office/drawing/2014/main" id="{CAEF58F4-D1D8-4AD6-8E87-2D0BA8D8E315}"/>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7/7</a:t>
            </a:r>
          </a:p>
        </p:txBody>
      </p:sp>
      <p:graphicFrame>
        <p:nvGraphicFramePr>
          <p:cNvPr id="3" name="">
            <a:extLst xmlns:a="http://schemas.openxmlformats.org/drawingml/2006/main">
              <a:ext uri="{FF2B5EF4-FFF2-40B4-BE49-F238E27FC236}">
                <a16:creationId xmlns:a16="http://schemas.microsoft.com/office/drawing/2014/main" id="{8D3893E0-356A-4C4E-9D89-DB54C38A160C}"/>
              </a:ext>
            </a:extLst>
          </p:cNvPr>
          <p:cNvGraphicFramePr/>
          <p:nvPr/>
        </p:nvGraphicFramePr>
        <p:xfrm>
          <a:off xmlns:a="http://schemas.openxmlformats.org/drawingml/2006/main" x="609600" y="1533525"/>
          <a:ext xmlns:a="http://schemas.openxmlformats.org/drawingml/2006/main" cx="10972800" cy="2962275"/>
        </p:xfrm>
        <a:graphic xmlns:a="http://schemas.openxmlformats.org/drawingml/2006/main">
          <a:graphicData uri="http://schemas.openxmlformats.org/drawingml/2006/table">
            <a:tbl>
              <a:tblPr/>
              <a:tblGrid>
                <a:gridCol w="4762500"/>
                <a:gridCol w="6210300"/>
              </a:tblGrid>
              <a:tr h="592455">
                <a:tc>
                  <a:txBody>
                    <a:bodyPr/>
                    <a:lstStyle/>
                    <a:p>
                      <a:r>
                        <a:rPr sz="2025" b="1">
                          <a:solidFill>
                            <a:srgbClr val="F1F7FC"/>
                          </a:solidFill>
                          <a:latin typeface="Arial"/>
                          <a:ea typeface="Arial"/>
                          <a:cs typeface="Arial"/>
                        </a:rPr>
                        <a:t>MVP now</a:t>
                      </a:r>
                    </a:p>
                  </a:txBody>
                  <a:tcPr marL="152400" marR="152400" marT="114300" marB="114300" anchor="ctr">
                    <a:lnL w="9525">
                      <a:solidFill>
                        <a:srgbClr val="41596E"/>
                      </a:solidFill>
                      <a:prstDash val="solid"/>
                    </a:lnL>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c>
                  <a:txBody>
                    <a:bodyPr/>
                    <a:lstStyle/>
                    <a:p>
                      <a:r>
                        <a:rPr sz="2025" b="1">
                          <a:solidFill>
                            <a:srgbClr val="F1F7FC"/>
                          </a:solidFill>
                          <a:latin typeface="Arial"/>
                          <a:ea typeface="Arial"/>
                          <a:cs typeface="Arial"/>
                        </a:rPr>
                        <a:t>Next release</a:t>
                      </a:r>
                    </a:p>
                  </a:txBody>
                  <a:tcPr marL="152400" marR="152400" marT="114300" marB="114300" anchor="ctr">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r>
              <a:tr h="592455">
                <a:tc>
                  <a:txBody>
                    <a:bodyPr/>
                    <a:lstStyle/>
                    <a:p>
                      <a:r>
                        <a:rPr sz="2025">
                          <a:solidFill>
                            <a:srgbClr val="F1F7FC"/>
                          </a:solidFill>
                          <a:latin typeface="Arial"/>
                          <a:ea typeface="Arial"/>
                          <a:cs typeface="Arial"/>
                        </a:rPr>
                        <a:t>Fixed owned shop journey</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2025">
                          <a:solidFill>
                            <a:srgbClr val="F1F7FC"/>
                          </a:solidFill>
                          <a:latin typeface="Arial"/>
                          <a:ea typeface="Arial"/>
                          <a:cs typeface="Arial"/>
                        </a:rPr>
                        <a:t>Authenticated operators and action audit</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92455">
                <a:tc>
                  <a:txBody>
                    <a:bodyPr/>
                    <a:lstStyle/>
                    <a:p>
                      <a:r>
                        <a:rPr sz="2025">
                          <a:solidFill>
                            <a:srgbClr val="F1F7FC"/>
                          </a:solidFill>
                          <a:latin typeface="Arial"/>
                          <a:ea typeface="Arial"/>
                          <a:cs typeface="Arial"/>
                        </a:rPr>
                        <a:t>Rules with captured evidence</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2025">
                          <a:solidFill>
                            <a:srgbClr val="F1F7FC"/>
                          </a:solidFill>
                          <a:latin typeface="Arial"/>
                          <a:ea typeface="Arial"/>
                          <a:cs typeface="Arial"/>
                        </a:rPr>
                        <a:t>Evaluate optional LLM summaries</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92455">
                <a:tc>
                  <a:txBody>
                    <a:bodyPr/>
                    <a:lstStyle/>
                    <a:p>
                      <a:r>
                        <a:rPr sz="2025">
                          <a:solidFill>
                            <a:srgbClr val="F1F7FC"/>
                          </a:solidFill>
                          <a:latin typeface="Arial"/>
                          <a:ea typeface="Arial"/>
                          <a:cs typeface="Arial"/>
                        </a:rPr>
                        <a:t>One safe approved recovery</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2025">
                          <a:solidFill>
                            <a:srgbClr val="F1F7FC"/>
                          </a:solidFill>
                          <a:latin typeface="Arial"/>
                          <a:ea typeface="Arial"/>
                          <a:cs typeface="Arial"/>
                        </a:rPr>
                        <a:t>Additional owned recovery policies</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92455">
                <a:tc>
                  <a:txBody>
                    <a:bodyPr/>
                    <a:lstStyle/>
                    <a:p>
                      <a:r>
                        <a:rPr sz="2025">
                          <a:solidFill>
                            <a:srgbClr val="F1F7FC"/>
                          </a:solidFill>
                          <a:latin typeface="Arial"/>
                          <a:ea typeface="Arial"/>
                          <a:cs typeface="Arial"/>
                        </a:rPr>
                        <a:t>Temporary hosted history</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2025">
                          <a:solidFill>
                            <a:srgbClr val="F1F7FC"/>
                          </a:solidFill>
                          <a:latin typeface="Arial"/>
                          <a:ea typeface="Arial"/>
                          <a:cs typeface="Arial"/>
                        </a:rPr>
                        <a:t>Durable managed data storage</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bl>
          </a:graphicData>
        </a:graphic>
      </p:graphicFrame>
      <p:sp>
        <p:nvSpPr>
          <p:cNvPr id="4" name="Deployment handoff">
            <a:extLst xmlns:a="http://schemas.openxmlformats.org/drawingml/2006/main">
              <a:ext uri="{FF2B5EF4-FFF2-40B4-BE49-F238E27FC236}">
                <a16:creationId xmlns:a16="http://schemas.microsoft.com/office/drawing/2014/main" id="{0460776E-CB09-4C95-9EE5-714E8C3CE704}"/>
              </a:ext>
            </a:extLst>
          </p:cNvPr>
          <p:cNvSpPr>
            <a:spLocks xmlns:a="http://schemas.openxmlformats.org/drawingml/2006/main" noGrp="1"/>
          </p:cNvSpPr>
          <p:nvPr/>
        </p:nvSpPr>
        <p:spPr>
          <a:xfrm xmlns:a="http://schemas.openxmlformats.org/drawingml/2006/main">
            <a:off x="609600" y="48672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44DCE3"/>
                </a:solidFill>
                <a:latin typeface="Arial"/>
                <a:ea typeface="Arial"/>
                <a:cs typeface="Arial"/>
              </a:defRPr>
            </a:defPPr>
          </a:lstStyle>
          <a:p xmlns:a="http://schemas.openxmlformats.org/drawingml/2006/main">
            <a:pPr algn="l">
              <a:defRPr sz="2325" b="1">
                <a:solidFill>
                  <a:srgbClr val="44DCE3"/>
                </a:solidFill>
                <a:latin typeface="Arial"/>
                <a:ea typeface="Arial"/>
                <a:cs typeface="Arial"/>
              </a:defRPr>
            </a:pPr>
            <a:r>
              <a:rPr sz="2325" b="1">
                <a:solidFill>
                  <a:srgbClr val="44DCE3"/>
                </a:solidFill>
                <a:latin typeface="Arial"/>
                <a:ea typeface="Arial"/>
                <a:cs typeface="Arial"/>
              </a:rPr>
              <a:t>Deployment handoff</a:t>
            </a:r>
          </a:p>
        </p:txBody>
      </p:sp>
      <p:sp>
        <p:nvSpPr>
          <p:cNvPr id="5" name="Netlify frontend and Render backend configuration included">
            <a:extLst xmlns:a="http://schemas.openxmlformats.org/drawingml/2006/main">
              <a:ext uri="{FF2B5EF4-FFF2-40B4-BE49-F238E27FC236}">
                <a16:creationId xmlns:a16="http://schemas.microsoft.com/office/drawing/2014/main" id="{203D8E3B-7977-4FCE-B65E-8FD626C138B9}"/>
              </a:ext>
            </a:extLst>
          </p:cNvPr>
          <p:cNvSpPr>
            <a:spLocks xmlns:a="http://schemas.openxmlformats.org/drawingml/2006/main" noGrp="1"/>
          </p:cNvSpPr>
          <p:nvPr/>
        </p:nvSpPr>
        <p:spPr>
          <a:xfrm xmlns:a="http://schemas.openxmlformats.org/drawingml/2006/main">
            <a:off x="609600" y="53911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1F7FC"/>
                </a:solidFill>
                <a:latin typeface="Arial"/>
                <a:ea typeface="Arial"/>
                <a:cs typeface="Arial"/>
              </a:defRPr>
            </a:defPPr>
          </a:lstStyle>
          <a:p xmlns:a="http://schemas.openxmlformats.org/drawingml/2006/main">
            <a:pPr algn="l">
              <a:defRPr sz="2025" b="0">
                <a:solidFill>
                  <a:srgbClr val="F1F7FC"/>
                </a:solidFill>
                <a:latin typeface="Arial"/>
                <a:ea typeface="Arial"/>
                <a:cs typeface="Arial"/>
              </a:defRPr>
            </a:pPr>
            <a:r>
              <a:rPr sz="2025" b="0">
                <a:solidFill>
                  <a:srgbClr val="F1F7FC"/>
                </a:solidFill>
                <a:latin typeface="Arial"/>
                <a:ea typeface="Arial"/>
                <a:cs typeface="Arial"/>
              </a:rPr>
              <a:t>Netlify frontend and Render backend configuration included</a:t>
            </a:r>
          </a:p>
        </p:txBody>
      </p:sp>
      <p:sp>
        <p:nvSpPr>
          <p:cNvPr id="6" name="Local API and browser journey verified. Public deployment and cold-sta">
            <a:extLst xmlns:a="http://schemas.openxmlformats.org/drawingml/2006/main">
              <a:ext uri="{FF2B5EF4-FFF2-40B4-BE49-F238E27FC236}">
                <a16:creationId xmlns:a16="http://schemas.microsoft.com/office/drawing/2014/main" id="{E73BD338-922F-46DA-B76E-F4C8E9D37FAC}"/>
              </a:ext>
            </a:extLst>
          </p:cNvPr>
          <p:cNvSpPr>
            <a:spLocks xmlns:a="http://schemas.openxmlformats.org/drawingml/2006/main" noGrp="1"/>
          </p:cNvSpPr>
          <p:nvPr/>
        </p:nvSpPr>
        <p:spPr>
          <a:xfrm xmlns:a="http://schemas.openxmlformats.org/drawingml/2006/main">
            <a:off x="609600" y="60674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B1C3D2"/>
                </a:solidFill>
                <a:latin typeface="Arial"/>
                <a:ea typeface="Arial"/>
                <a:cs typeface="Arial"/>
              </a:defRPr>
            </a:defPPr>
          </a:lstStyle>
          <a:p xmlns:a="http://schemas.openxmlformats.org/drawingml/2006/main">
            <a:pPr algn="l">
              <a:defRPr sz="1575" b="0">
                <a:solidFill>
                  <a:srgbClr val="B1C3D2"/>
                </a:solidFill>
                <a:latin typeface="Arial"/>
                <a:ea typeface="Arial"/>
                <a:cs typeface="Arial"/>
              </a:defRPr>
            </a:pPr>
            <a:r>
              <a:rPr sz="1575" b="0">
                <a:solidFill>
                  <a:srgbClr val="B1C3D2"/>
                </a:solidFill>
                <a:latin typeface="Arial"/>
                <a:ea typeface="Arial"/>
                <a:cs typeface="Arial"/>
              </a:rPr>
              <a:t>Local API and browser journey verified. Public deployment and cold-start checks remain pending.</a:t>
            </a:r>
          </a:p>
        </p:txBody>
      </p:sp>
    </p:spTree>
    <p:extLst>
      <p:ext uri="{BB962C8B-B14F-4D97-AF65-F5344CB8AC3E}">
        <p14:creationId xmlns:p14="http://schemas.microsoft.com/office/powerpoint/2010/main" val="910956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2026-10-13T05:10:37.3200000Z</dcterms:created>
  <dcterms:modified xsi:type="dcterms:W3CDTF">2026-10-13T05:10:37.3210000Z</dcterms:modified>
</coreProperties>
</file>