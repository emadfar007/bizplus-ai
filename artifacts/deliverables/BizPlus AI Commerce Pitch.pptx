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c5a1b5899934f06" /><Relationship Type="http://schemas.openxmlformats.org/officeDocument/2006/relationships/extended-properties" Target="/docProps/app.xml" Id="R0a4ba5160b494516" /><Relationship Type="http://schemas.openxmlformats.org/officeDocument/2006/relationships/officeDocument" Target="/ppt/presentation.xml" Id="R71298be09f924e9b" /></Relationships>
</file>

<file path=ppt/presentation.xml><?xml version="1.0" encoding="utf-8"?>
<p:presentation xmlns:p="http://schemas.openxmlformats.org/presentationml/2006/main">
  <p:sldMasterIdLst>
    <p:sldMasterId xmlns:r="http://schemas.openxmlformats.org/officeDocument/2006/relationships" id="2147483648" r:id="R7b1751e781144efc"/>
  </p:sldMasterIdLst>
  <p:notesMasterIdLst>
    <p:notesMasterId xmlns:r="http://schemas.openxmlformats.org/officeDocument/2006/relationships" r:id="R84a19ed374a44a7f"/>
  </p:notesMasterIdLst>
  <p:sldIdLst>
    <p:sldId xmlns:r="http://schemas.openxmlformats.org/officeDocument/2006/relationships" id="256" r:id="Rb97567125d744715"/>
    <p:sldId xmlns:r="http://schemas.openxmlformats.org/officeDocument/2006/relationships" id="257" r:id="R0c3f6b0c119743e9"/>
    <p:sldId xmlns:r="http://schemas.openxmlformats.org/officeDocument/2006/relationships" id="258" r:id="R1e1bc5d5f2964908"/>
    <p:sldId xmlns:r="http://schemas.openxmlformats.org/officeDocument/2006/relationships" id="259" r:id="Rce309cf0bd21469a"/>
    <p:sldId xmlns:r="http://schemas.openxmlformats.org/officeDocument/2006/relationships" id="260" r:id="R6a2fa286b2ea4592"/>
    <p:sldId xmlns:r="http://schemas.openxmlformats.org/officeDocument/2006/relationships" id="261" r:id="Ra3687e6267b84b2d"/>
    <p:sldId xmlns:r="http://schemas.openxmlformats.org/officeDocument/2006/relationships" id="262" r:id="R756c8c7bf3a64f0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5503845c9e34140" /><Relationship Type="http://schemas.openxmlformats.org/officeDocument/2006/relationships/slideMaster" Target="/ppt/slideMasters/slideMaster1.xml" Id="R7b1751e781144efc" /><Relationship Type="http://schemas.openxmlformats.org/officeDocument/2006/relationships/notesMaster" Target="/ppt/notesMasters/notesMaster1.xml" Id="R84a19ed374a44a7f" /><Relationship Type="http://schemas.openxmlformats.org/officeDocument/2006/relationships/presProps" Target="/ppt/presProps.xml" Id="R2998ffa484284a69" /><Relationship Type="http://schemas.openxmlformats.org/officeDocument/2006/relationships/tableStyles" Target="/ppt/tableStyles.xml" Id="R2e58f8a1baba4e32" /><Relationship Type="http://schemas.openxmlformats.org/officeDocument/2006/relationships/slide" Target="/ppt/slides/slide1.xml" Id="Rb97567125d744715" /><Relationship Type="http://schemas.openxmlformats.org/officeDocument/2006/relationships/slide" Target="/ppt/slides/slide2.xml" Id="R0c3f6b0c119743e9" /><Relationship Type="http://schemas.openxmlformats.org/officeDocument/2006/relationships/slide" Target="/ppt/slides/slide3.xml" Id="R1e1bc5d5f2964908" /><Relationship Type="http://schemas.openxmlformats.org/officeDocument/2006/relationships/slide" Target="/ppt/slides/slide4.xml" Id="Rce309cf0bd21469a" /><Relationship Type="http://schemas.openxmlformats.org/officeDocument/2006/relationships/slide" Target="/ppt/slides/slide5.xml" Id="R6a2fa286b2ea4592" /><Relationship Type="http://schemas.openxmlformats.org/officeDocument/2006/relationships/slide" Target="/ppt/slides/slide6.xml" Id="Ra3687e6267b84b2d" /><Relationship Type="http://schemas.openxmlformats.org/officeDocument/2006/relationships/slide" Target="/ppt/slides/slide7.xml" Id="R756c8c7bf3a64f0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eaa62ef27774c0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c4afa9a1c714d6a" /><Relationship Type="http://schemas.openxmlformats.org/officeDocument/2006/relationships/notesMaster" Target="/ppt/notesMasters/notesMaster1.xml" Id="R81da2c02c0a94237" /></Relationships>
</file>

<file path=ppt/notesSlides/_rels/notesSlide2.xml.rels>&#65279;<?xml version="1.0" encoding="utf-8"?><Relationships xmlns="http://schemas.openxmlformats.org/package/2006/relationships"><Relationship Type="http://schemas.openxmlformats.org/officeDocument/2006/relationships/slide" Target="/ppt/slides/slide2.xml" Id="Rda51a507d98a4719" /><Relationship Type="http://schemas.openxmlformats.org/officeDocument/2006/relationships/notesMaster" Target="/ppt/notesMasters/notesMaster1.xml" Id="R0791e75888434aa6"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4a6ae7483e4c55" /><Relationship Type="http://schemas.openxmlformats.org/officeDocument/2006/relationships/notesMaster" Target="/ppt/notesMasters/notesMaster1.xml" Id="Rac2b9c1a13b44a08" /></Relationships>
</file>

<file path=ppt/notesSlides/_rels/notesSlide4.xml.rels>&#65279;<?xml version="1.0" encoding="utf-8"?><Relationships xmlns="http://schemas.openxmlformats.org/package/2006/relationships"><Relationship Type="http://schemas.openxmlformats.org/officeDocument/2006/relationships/slide" Target="/ppt/slides/slide4.xml" Id="R58e497eb5323408e" /><Relationship Type="http://schemas.openxmlformats.org/officeDocument/2006/relationships/notesMaster" Target="/ppt/notesMasters/notesMaster1.xml" Id="R0470613b853e49c9" /></Relationships>
</file>

<file path=ppt/notesSlides/_rels/notesSlide5.xml.rels>&#65279;<?xml version="1.0" encoding="utf-8"?><Relationships xmlns="http://schemas.openxmlformats.org/package/2006/relationships"><Relationship Type="http://schemas.openxmlformats.org/officeDocument/2006/relationships/slide" Target="/ppt/slides/slide5.xml" Id="Raa3aade4c1b34f19" /><Relationship Type="http://schemas.openxmlformats.org/officeDocument/2006/relationships/notesMaster" Target="/ppt/notesMasters/notesMaster1.xml" Id="R2d08bd666ca446ec" /></Relationships>
</file>

<file path=ppt/notesSlides/_rels/notesSlide6.xml.rels>&#65279;<?xml version="1.0" encoding="utf-8"?><Relationships xmlns="http://schemas.openxmlformats.org/package/2006/relationships"><Relationship Type="http://schemas.openxmlformats.org/officeDocument/2006/relationships/slide" Target="/ppt/slides/slide6.xml" Id="R64c468136414433a" /><Relationship Type="http://schemas.openxmlformats.org/officeDocument/2006/relationships/notesMaster" Target="/ppt/notesMasters/notesMaster1.xml" Id="R08efdf6f36824767" /></Relationships>
</file>

<file path=ppt/notesSlides/_rels/notesSlide7.xml.rels>&#65279;<?xml version="1.0" encoding="utf-8"?><Relationships xmlns="http://schemas.openxmlformats.org/package/2006/relationships"><Relationship Type="http://schemas.openxmlformats.org/officeDocument/2006/relationships/slide" Target="/ppt/slides/slide7.xml" Id="R1f3184a9d9b946b8" /><Relationship Type="http://schemas.openxmlformats.org/officeDocument/2006/relationships/notesMaster" Target="/ppt/notesMasters/notesMaster1.xml" Id="Rdb611914d09e460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leads with business assertions and bounded recovery. An HTTP 200 response can hide a missing confirmation in the owned synthetic journey. The storefront is an additional actual Razorpay Test Mode integration. Live checks make actual approved HTTPS requests. Rules remain visibly labelled; there is no live LLM. Test Mode moves no real funds.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native table compares transport status with business state. The screenshot comes from the current public Render browser recovery. It verified the original synthetic order d9c34c82-fc29-4c32-8479-639e2cc7f1af in 227 ms, retained one simulated payment before and after, and survived direct-route refresh. The latest separate hosted core HTTP replay passed 18 smoke checks. This synthetic worker action does not retry or remediate Razorpay payments. Existing products already offer response assertions and AI diagnosis. Sources: artifacts/verification/render-recovery-browser.json, https://docs.newrelic.com/docs/synthetics/synthetic-monitoring/scripting-monitors/write-synthetic-api-tests/ and https://www.checklyhq.com/docs/resolve/ai-root-cause-analysis/overview/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left crop shows the actual six-product catalog in the locally verified storefront. The right crop shows the current public Render purchase receipt. Public provider read-back confirms internal order bf67a9d1-708b-419d-8d15-422c4decf02f, provider order order_TnIr8XWVpXK7JG, and payment pay_TnIwtBllfsGG1T. The payment is captured in Test Mode for INR 599 with matching currency and provider totals. The browser cart is empty and receipt survives refresh. Test Mode moves no real funds and these demo products are not shipped. Source: artifacts/verification/razorpay-render-purchase.json. Provider integration guidance: https://razorpay.com/docs/payments/payment-gateway/web-integration/standard/integration-steps/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box and connector is editable. The React frontend and Express API run on the same Render service. Active hosted persistence is temporary SQLite. An optional private PostgreSQL primary adapter passed actual local Windows PostgreSQL tests; Supabase is not connected because activation awaits a valid PostgreSQL URI. Razorpay is Test Mode only. Live checks use a bounded server allowlist, public DNS pinning, and no browser login or credentials. Synthetic recovery operates only on the owned sandbox confirmation worker.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image shows an actual public Render frontend browser-triggered check of the owned /health endpoint. It passed three assertions with HTTP 200, 79 ms, and 181 bytes. This is one observed warm-service sample, not a benchmark or availability guarantee. An earlier wake-up recorded HTTP 503 and failed the status/content assertions. The earlier separate API replay observed 215 ms; do not average these samples or mix them with synthetic pacing. The browser selects approved target IDs rather than arbitrary URLs. Source: artifacts/verification/render-live-browser.json and artifacts/verification/live-website-cold-start.json.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Expanded local automated suite: 33/33. Latest hosted synthetic core HTTP smoke: 18/18. These are separate scopes; the local automated suite was not rerun against Render. The public Razorpay Test Mode purchase of INR 599 is a separate browser/provider verification, and the 79 ms live HTTPS check is another sample. Hosted synthetic healthy sample 1834 ms and recovery verification sample 237 ms include intentional 220 ms sandbox pacing. One simulated payment remained before/after. Local actual Windows PostgreSQL 18 adapter tests passed but hosted Supabase remains unverified. Do not publish total hosted replay elapsed/completedAt because those metadata conflict with later response timestamps. Sources are the respective JSON files in artifacts/verification.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app is public on Render at https://bizplus-ai-api.onrender.com. /shop uses real Razorpay Test Checkout and /live-tests uses approved owned HTTPS endpoints. Active hosted data remains temporary SQLite. A receipt surviving refresh does not establish durability across sleep, restart, or redeploy. Hosted Supabase activation awaits a valid PostgreSQL connection URI, not the HTTPS project API URL. Add authenticated operators and an audited action policy before production operations. Evaluate optional LLM summaries only against captured evidence. A physical second-device network test remains unverified. Render filesystem source: https://render.com/docs/free . Supabase connection guidance: https://supabase.com/docs/guides/database/connecting-to-postgres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f119ada46034f9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03c9023fc51439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47fd6f6da4d4dc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62051520d764e5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fcd6365ab81409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e70dfc1b479421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E73F88B-A34A-4243-9E61-74CE5D63A89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D98DE87-988E-48BF-9F36-4368F67E34E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F5B88EF-8355-4C5B-90AF-054538ECA9B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24AE133-6360-4E6D-9AE1-69E0BCCD235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1EE0F93-2B55-4238-BD6B-9628B033D54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06CD09A-ED25-474A-AC8D-B471ABF81DB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647727-DDC7-4C18-B734-DA4703D8E37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2E321F2-9355-4193-B2FC-48234317AE3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F939E0-F833-49BB-900D-96276E4B329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3A26B6D-EB33-4E05-A87A-39069972463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dfe64ba96b143ed" /><Relationship Type="http://schemas.openxmlformats.org/officeDocument/2006/relationships/slideLayout" Target="/ppt/slideLayouts/slideLayout1.xml" Id="R8be41b2bb6e64c67" /><Relationship Type="http://schemas.openxmlformats.org/officeDocument/2006/relationships/slideLayout" Target="/ppt/slideLayouts/slideLayout2.xml" Id="R857c340cb21e41f4" /><Relationship Type="http://schemas.openxmlformats.org/officeDocument/2006/relationships/slideLayout" Target="/ppt/slideLayouts/slideLayout3.xml" Id="R803247bd50744fab" /><Relationship Type="http://schemas.openxmlformats.org/officeDocument/2006/relationships/slideLayout" Target="/ppt/slideLayouts/slideLayout4.xml" Id="R43bb8aab65114009" /><Relationship Type="http://schemas.openxmlformats.org/officeDocument/2006/relationships/slideLayout" Target="/ppt/slideLayouts/slideLayout5.xml" Id="Raa17b84fd81f4783" /><Relationship Type="http://schemas.openxmlformats.org/officeDocument/2006/relationships/slideLayout" Target="/ppt/slideLayouts/slideLayout6.xml" Id="R718f9fb0e6744d7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be41b2bb6e64c67"/>
    <p:sldLayoutId xmlns:r="http://schemas.openxmlformats.org/officeDocument/2006/relationships" id="2147483650" r:id="R857c340cb21e41f4"/>
    <p:sldLayoutId xmlns:r="http://schemas.openxmlformats.org/officeDocument/2006/relationships" id="2147483651" r:id="R803247bd50744fab"/>
    <p:sldLayoutId xmlns:r="http://schemas.openxmlformats.org/officeDocument/2006/relationships" id="2147483652" r:id="R43bb8aab65114009"/>
    <p:sldLayoutId xmlns:r="http://schemas.openxmlformats.org/officeDocument/2006/relationships" id="2147483653" r:id="Raa17b84fd81f4783"/>
    <p:sldLayoutId xmlns:r="http://schemas.openxmlformats.org/officeDocument/2006/relationships" id="2147483654" r:id="R718f9fb0e6744d7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e88dc8278674c5a" /><Relationship Type="http://schemas.openxmlformats.org/officeDocument/2006/relationships/notesSlide" Target="/ppt/notesSlides/notesSlide1.xml" Id="Rdcaab2ccaa7d463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2aa88d45bf04eab" /><Relationship Type="http://schemas.openxmlformats.org/officeDocument/2006/relationships/image" Target="/ppt/media/image.jpeg" Id="Re77c6a2ccae34ffe" /><Relationship Type="http://schemas.openxmlformats.org/officeDocument/2006/relationships/notesSlide" Target="/ppt/notesSlides/notesSlide2.xml" Id="Rf6e81deb67a4450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cacea2473264645" /><Relationship Type="http://schemas.openxmlformats.org/officeDocument/2006/relationships/image" Target="/ppt/media/image2.jpeg" Id="Rc48439beedd042b5" /><Relationship Type="http://schemas.openxmlformats.org/officeDocument/2006/relationships/image" Target="/ppt/media/image3.jpeg" Id="R3834395d2db34eac" /><Relationship Type="http://schemas.openxmlformats.org/officeDocument/2006/relationships/notesSlide" Target="/ppt/notesSlides/notesSlide3.xml" Id="Rb48e906f0f22461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ee895717a074886" /><Relationship Type="http://schemas.openxmlformats.org/officeDocument/2006/relationships/notesSlide" Target="/ppt/notesSlides/notesSlide4.xml" Id="R18be8547787542d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013f54289c44165" /><Relationship Type="http://schemas.openxmlformats.org/officeDocument/2006/relationships/image" Target="/ppt/media/image4.jpeg" Id="R08af280cd417410f" /><Relationship Type="http://schemas.openxmlformats.org/officeDocument/2006/relationships/notesSlide" Target="/ppt/notesSlides/notesSlide5.xml" Id="Rbe30f6db84e849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c9d27474577487a" /><Relationship Type="http://schemas.openxmlformats.org/officeDocument/2006/relationships/notesSlide" Target="/ppt/notesSlides/notesSlide6.xml" Id="R5367ac2d3d09445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8d154ff1a364d4e" /><Relationship Type="http://schemas.openxmlformats.org/officeDocument/2006/relationships/hyperlink" Target="https://bizplus-ai-api.onrender.com" TargetMode="External" Id="R86a9d31cd098483e" /><Relationship Type="http://schemas.openxmlformats.org/officeDocument/2006/relationships/notesSlide" Target="/ppt/notesSlides/notesSlide7.xml" Id="R50e0a17cc7e74d66" /></Relationships>
</file>

<file path=ppt/slides/slide1.xml><?xml version="1.0" encoding="utf-8"?>
<p:sld xmlns:p="http://schemas.openxmlformats.org/presentationml/2006/main">
  <p:cSld>
    <p:bg>
      <p:bgPr>
        <a:solidFill xmlns:a="http://schemas.openxmlformats.org/drawingml/2006/main">
          <a:srgbClr val="081523"/>
        </a:solidFill>
      </p:bgPr>
    </p:bg>
    <p:spTree>
      <p:nvGrpSpPr>
        <p:cNvPr id="1" name=""/>
        <p:cNvGrpSpPr/>
        <p:nvPr/>
      </p:nvGrpSpPr>
      <p:grpSpPr>
        <a:xfrm xmlns:a="http://schemas.openxmlformats.org/drawingml/2006/main"/>
      </p:grpSpPr>
      <p:sp>
        <p:nvSpPr>
          <p:cNvPr id="6" name="BizPlus AI">
            <a:extLst xmlns:a="http://schemas.openxmlformats.org/drawingml/2006/main">
              <a:ext uri="{FF2B5EF4-FFF2-40B4-BE49-F238E27FC236}">
                <a16:creationId xmlns:a16="http://schemas.microsoft.com/office/drawing/2014/main" id="{30D33D8D-C190-4C8E-8D7F-C58E7C0C6269}"/>
              </a:ext>
            </a:extLst>
          </p:cNvPr>
          <p:cNvSpPr>
            <a:spLocks xmlns:a="http://schemas.openxmlformats.org/drawingml/2006/main" noGrp="1"/>
          </p:cNvSpPr>
          <p:nvPr/>
        </p:nvSpPr>
        <p:spPr>
          <a:xfrm xmlns:a="http://schemas.openxmlformats.org/drawingml/2006/main">
            <a:off x="609600" y="4762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1F7FC"/>
                </a:solidFill>
                <a:latin typeface="Arial"/>
                <a:ea typeface="Arial"/>
                <a:cs typeface="Arial"/>
              </a:defRPr>
            </a:defPPr>
          </a:lstStyle>
          <a:p xmlns:a="http://schemas.openxmlformats.org/drawingml/2006/main">
            <a:pPr algn="l">
              <a:defRPr sz="3300" b="1">
                <a:solidFill>
                  <a:srgbClr val="F1F7FC"/>
                </a:solidFill>
                <a:latin typeface="Arial"/>
                <a:ea typeface="Arial"/>
                <a:cs typeface="Arial"/>
              </a:defRPr>
            </a:pPr>
            <a:r>
              <a:rPr sz="3300" b="1">
                <a:solidFill>
                  <a:srgbClr val="F1F7FC"/>
                </a:solidFill>
                <a:latin typeface="Arial"/>
                <a:ea typeface="Arial"/>
                <a:cs typeface="Arial"/>
              </a:rPr>
              <a:t>BizPlus AI</a:t>
            </a:r>
          </a:p>
        </p:txBody>
      </p:sp>
      <p:sp>
        <p:nvSpPr>
          <p:cNvPr id="2" name="BizPlus AI     1/7">
            <a:extLst xmlns:a="http://schemas.openxmlformats.org/drawingml/2006/main">
              <a:ext uri="{FF2B5EF4-FFF2-40B4-BE49-F238E27FC236}">
                <a16:creationId xmlns:a16="http://schemas.microsoft.com/office/drawing/2014/main" id="{FDA9E689-5F54-409B-AD21-9B2188F13511}"/>
              </a:ext>
            </a:extLst>
          </p:cNvPr>
          <p:cNvSpPr>
            <a:spLocks xmlns:a="http://schemas.openxmlformats.org/drawingml/2006/main" noGrp="1"/>
          </p:cNvSpPr>
          <p:nvPr/>
        </p:nvSpPr>
        <p:spPr>
          <a:xfrm xmlns:a="http://schemas.openxmlformats.org/drawingml/2006/main">
            <a:off x="609600" y="64008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1C3D2"/>
                </a:solidFill>
                <a:latin typeface="Arial"/>
                <a:ea typeface="Arial"/>
                <a:cs typeface="Arial"/>
              </a:defRPr>
            </a:defPPr>
          </a:lstStyle>
          <a:p xmlns:a="http://schemas.openxmlformats.org/drawingml/2006/main">
            <a:pPr algn="l">
              <a:defRPr sz="1275" b="0">
                <a:solidFill>
                  <a:srgbClr val="B1C3D2"/>
                </a:solidFill>
                <a:latin typeface="Arial"/>
                <a:ea typeface="Arial"/>
                <a:cs typeface="Arial"/>
              </a:defRPr>
            </a:pPr>
            <a:r>
              <a:rPr sz="1275" b="0">
                <a:solidFill>
                  <a:srgbClr val="B1C3D2"/>
                </a:solidFill>
                <a:latin typeface="Arial"/>
                <a:ea typeface="Arial"/>
                <a:cs typeface="Arial"/>
              </a:rPr>
              <a:t>BizPlus AI     1/7</a:t>
            </a:r>
          </a:p>
        </p:txBody>
      </p:sp>
      <p:sp>
        <p:nvSpPr>
          <p:cNvPr id="3" name="A success response can hide&#10;an unfinished transaction">
            <a:extLst xmlns:a="http://schemas.openxmlformats.org/drawingml/2006/main">
              <a:ext uri="{FF2B5EF4-FFF2-40B4-BE49-F238E27FC236}">
                <a16:creationId xmlns:a16="http://schemas.microsoft.com/office/drawing/2014/main" id="{21BB4586-8895-426B-873E-E1F1C68DFAF3}"/>
              </a:ext>
            </a:extLst>
          </p:cNvPr>
          <p:cNvSpPr>
            <a:spLocks xmlns:a="http://schemas.openxmlformats.org/drawingml/2006/main" noGrp="1"/>
          </p:cNvSpPr>
          <p:nvPr/>
        </p:nvSpPr>
        <p:spPr>
          <a:xfrm xmlns:a="http://schemas.openxmlformats.org/drawingml/2006/main">
            <a:off x="609600" y="1590675"/>
            <a:ext cx="10858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F1F7FC"/>
                </a:solidFill>
                <a:latin typeface="Arial"/>
                <a:ea typeface="Arial"/>
                <a:cs typeface="Arial"/>
              </a:defRPr>
            </a:defPPr>
          </a:lstStyle>
          <a:p xmlns:a="http://schemas.openxmlformats.org/drawingml/2006/main">
            <a:pPr algn="l">
              <a:defRPr sz="4500" b="1">
                <a:solidFill>
                  <a:srgbClr val="F1F7FC"/>
                </a:solidFill>
                <a:latin typeface="Arial"/>
                <a:ea typeface="Arial"/>
                <a:cs typeface="Arial"/>
              </a:defRPr>
            </a:pPr>
            <a:r>
              <a:rPr sz="4500" b="1">
                <a:solidFill>
                  <a:srgbClr val="F1F7FC"/>
                </a:solidFill>
                <a:latin typeface="Arial"/>
                <a:ea typeface="Arial"/>
                <a:cs typeface="Arial"/>
              </a:rPr>
              <a:t>A success response can hide</a:t>
            </a:r>
          </a:p>
          <a:p xmlns:a="http://schemas.openxmlformats.org/drawingml/2006/main">
            <a:pPr algn="l">
              <a:defRPr sz="4500" b="1">
                <a:solidFill>
                  <a:srgbClr val="F1F7FC"/>
                </a:solidFill>
                <a:latin typeface="Arial"/>
                <a:ea typeface="Arial"/>
                <a:cs typeface="Arial"/>
              </a:defRPr>
            </a:pPr>
            <a:r>
              <a:rPr sz="4500" b="1">
                <a:solidFill>
                  <a:srgbClr val="F1F7FC"/>
                </a:solidFill>
                <a:latin typeface="Arial"/>
                <a:ea typeface="Arial"/>
                <a:cs typeface="Arial"/>
              </a:rPr>
              <a:t>an unfinished transaction</a:t>
            </a:r>
          </a:p>
        </p:txBody>
      </p:sp>
      <p:sp>
        <p:nvSpPr>
          <p:cNvPr id="4" name="Business assertions with approved recovery">
            <a:extLst xmlns:a="http://schemas.openxmlformats.org/drawingml/2006/main">
              <a:ext uri="{FF2B5EF4-FFF2-40B4-BE49-F238E27FC236}">
                <a16:creationId xmlns:a16="http://schemas.microsoft.com/office/drawing/2014/main" id="{185F1721-0D60-4977-B7FA-C5184E8EDEDB}"/>
              </a:ext>
            </a:extLst>
          </p:cNvPr>
          <p:cNvSpPr>
            <a:spLocks xmlns:a="http://schemas.openxmlformats.org/drawingml/2006/main" noGrp="1"/>
          </p:cNvSpPr>
          <p:nvPr/>
        </p:nvSpPr>
        <p:spPr>
          <a:xfrm xmlns:a="http://schemas.openxmlformats.org/drawingml/2006/main">
            <a:off x="609600" y="361950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44DCE3"/>
                </a:solidFill>
                <a:latin typeface="Arial"/>
                <a:ea typeface="Arial"/>
                <a:cs typeface="Arial"/>
              </a:defRPr>
            </a:defPPr>
          </a:lstStyle>
          <a:p xmlns:a="http://schemas.openxmlformats.org/drawingml/2006/main">
            <a:pPr algn="l">
              <a:defRPr sz="2475" b="0">
                <a:solidFill>
                  <a:srgbClr val="44DCE3"/>
                </a:solidFill>
                <a:latin typeface="Arial"/>
                <a:ea typeface="Arial"/>
                <a:cs typeface="Arial"/>
              </a:defRPr>
            </a:pPr>
            <a:r>
              <a:rPr sz="2475" b="0">
                <a:solidFill>
                  <a:srgbClr val="44DCE3"/>
                </a:solidFill>
                <a:latin typeface="Arial"/>
                <a:ea typeface="Arial"/>
                <a:cs typeface="Arial"/>
              </a:rPr>
              <a:t>Business assertions with approved recovery</a:t>
            </a:r>
          </a:p>
        </p:txBody>
      </p:sp>
      <p:sp>
        <p:nvSpPr>
          <p:cNvPr id="5" name="Actual merchant Test Checkout and owned HTTPS checks&#10;share the same pu">
            <a:extLst xmlns:a="http://schemas.openxmlformats.org/drawingml/2006/main">
              <a:ext uri="{FF2B5EF4-FFF2-40B4-BE49-F238E27FC236}">
                <a16:creationId xmlns:a16="http://schemas.microsoft.com/office/drawing/2014/main" id="{847406D0-B698-4CA3-916A-018770784AF1}"/>
              </a:ext>
            </a:extLst>
          </p:cNvPr>
          <p:cNvSpPr>
            <a:spLocks xmlns:a="http://schemas.openxmlformats.org/drawingml/2006/main" noGrp="1"/>
          </p:cNvSpPr>
          <p:nvPr/>
        </p:nvSpPr>
        <p:spPr>
          <a:xfrm xmlns:a="http://schemas.openxmlformats.org/drawingml/2006/main">
            <a:off x="609600" y="4667250"/>
            <a:ext cx="10858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B1C3D2"/>
                </a:solidFill>
                <a:latin typeface="Arial"/>
                <a:ea typeface="Arial"/>
                <a:cs typeface="Arial"/>
              </a:defRPr>
            </a:defPPr>
          </a:lstStyle>
          <a:p xmlns:a="http://schemas.openxmlformats.org/drawingml/2006/main">
            <a:pPr algn="l">
              <a:defRPr sz="2325" b="0">
                <a:solidFill>
                  <a:srgbClr val="B1C3D2"/>
                </a:solidFill>
                <a:latin typeface="Arial"/>
                <a:ea typeface="Arial"/>
                <a:cs typeface="Arial"/>
              </a:defRPr>
            </a:pPr>
            <a:r>
              <a:rPr sz="2325" b="0">
                <a:solidFill>
                  <a:srgbClr val="B1C3D2"/>
                </a:solidFill>
                <a:latin typeface="Arial"/>
                <a:ea typeface="Arial"/>
                <a:cs typeface="Arial"/>
              </a:rPr>
              <a:t>Actual merchant Test Checkout and owned HTTPS checks</a:t>
            </a:r>
          </a:p>
          <a:p xmlns:a="http://schemas.openxmlformats.org/drawingml/2006/main">
            <a:pPr algn="l">
              <a:defRPr sz="2325" b="0">
                <a:solidFill>
                  <a:srgbClr val="B1C3D2"/>
                </a:solidFill>
                <a:latin typeface="Arial"/>
                <a:ea typeface="Arial"/>
                <a:cs typeface="Arial"/>
              </a:defRPr>
            </a:pPr>
            <a:r>
              <a:rPr sz="2325" b="0">
                <a:solidFill>
                  <a:srgbClr val="B1C3D2"/>
                </a:solidFill>
                <a:latin typeface="Arial"/>
                <a:ea typeface="Arial"/>
                <a:cs typeface="Arial"/>
              </a:rPr>
              <a:t>share the same public Render dashboard.</a:t>
            </a:r>
          </a:p>
        </p:txBody>
      </p:sp>
    </p:spTree>
    <p:extLst>
      <p:ext uri="{BB962C8B-B14F-4D97-AF65-F5344CB8AC3E}">
        <p14:creationId xmlns:p14="http://schemas.microsoft.com/office/powerpoint/2010/main" val="906071639"/>
      </p:ext>
    </p:extLst>
  </p:cSld>
</p:sld>
</file>

<file path=ppt/slides/slide2.xml><?xml version="1.0" encoding="utf-8"?>
<p:sld xmlns:p="http://schemas.openxmlformats.org/presentationml/2006/main">
  <p:cSld>
    <p:bg>
      <p:bgPr>
        <a:solidFill xmlns:a="http://schemas.openxmlformats.org/drawingml/2006/main">
          <a:srgbClr val="081523"/>
        </a:solidFill>
      </p:bgPr>
    </p:bg>
    <p:spTree>
      <p:nvGrpSpPr>
        <p:cNvPr id="1" name=""/>
        <p:cNvGrpSpPr/>
        <p:nvPr/>
      </p:nvGrpSpPr>
      <p:grpSpPr>
        <a:xfrm xmlns:a="http://schemas.openxmlformats.org/drawingml/2006/main"/>
      </p:grpSpPr>
      <p:sp>
        <p:nvSpPr>
          <p:cNvPr id="6" name="Business outcome and bounded recovery">
            <a:extLst xmlns:a="http://schemas.openxmlformats.org/drawingml/2006/main">
              <a:ext uri="{FF2B5EF4-FFF2-40B4-BE49-F238E27FC236}">
                <a16:creationId xmlns:a16="http://schemas.microsoft.com/office/drawing/2014/main" id="{3B6D1595-383B-4582-8EF4-13DB500A9D0E}"/>
              </a:ext>
            </a:extLst>
          </p:cNvPr>
          <p:cNvSpPr>
            <a:spLocks xmlns:a="http://schemas.openxmlformats.org/drawingml/2006/main" noGrp="1"/>
          </p:cNvSpPr>
          <p:nvPr/>
        </p:nvSpPr>
        <p:spPr>
          <a:xfrm xmlns:a="http://schemas.openxmlformats.org/drawingml/2006/main">
            <a:off x="609600" y="4762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1F7FC"/>
                </a:solidFill>
                <a:latin typeface="Arial"/>
                <a:ea typeface="Arial"/>
                <a:cs typeface="Arial"/>
              </a:defRPr>
            </a:defPPr>
          </a:lstStyle>
          <a:p xmlns:a="http://schemas.openxmlformats.org/drawingml/2006/main">
            <a:pPr algn="l">
              <a:defRPr sz="3300" b="1">
                <a:solidFill>
                  <a:srgbClr val="F1F7FC"/>
                </a:solidFill>
                <a:latin typeface="Arial"/>
                <a:ea typeface="Arial"/>
                <a:cs typeface="Arial"/>
              </a:defRPr>
            </a:pPr>
            <a:r>
              <a:rPr sz="3300" b="1">
                <a:solidFill>
                  <a:srgbClr val="F1F7FC"/>
                </a:solidFill>
                <a:latin typeface="Arial"/>
                <a:ea typeface="Arial"/>
                <a:cs typeface="Arial"/>
              </a:rPr>
              <a:t>Business outcome and bounded recovery</a:t>
            </a:r>
          </a:p>
        </p:txBody>
      </p:sp>
      <p:sp>
        <p:nvSpPr>
          <p:cNvPr id="2" name="BizPlus AI     2/7">
            <a:extLst xmlns:a="http://schemas.openxmlformats.org/drawingml/2006/main">
              <a:ext uri="{FF2B5EF4-FFF2-40B4-BE49-F238E27FC236}">
                <a16:creationId xmlns:a16="http://schemas.microsoft.com/office/drawing/2014/main" id="{4C6588DA-958B-4B6D-91B4-A557BD6251E2}"/>
              </a:ext>
            </a:extLst>
          </p:cNvPr>
          <p:cNvSpPr>
            <a:spLocks xmlns:a="http://schemas.openxmlformats.org/drawingml/2006/main" noGrp="1"/>
          </p:cNvSpPr>
          <p:nvPr/>
        </p:nvSpPr>
        <p:spPr>
          <a:xfrm xmlns:a="http://schemas.openxmlformats.org/drawingml/2006/main">
            <a:off x="609600" y="64008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1C3D2"/>
                </a:solidFill>
                <a:latin typeface="Arial"/>
                <a:ea typeface="Arial"/>
                <a:cs typeface="Arial"/>
              </a:defRPr>
            </a:defPPr>
          </a:lstStyle>
          <a:p xmlns:a="http://schemas.openxmlformats.org/drawingml/2006/main">
            <a:pPr algn="l">
              <a:defRPr sz="1275" b="0">
                <a:solidFill>
                  <a:srgbClr val="B1C3D2"/>
                </a:solidFill>
                <a:latin typeface="Arial"/>
                <a:ea typeface="Arial"/>
                <a:cs typeface="Arial"/>
              </a:defRPr>
            </a:pPr>
            <a:r>
              <a:rPr sz="1275" b="0">
                <a:solidFill>
                  <a:srgbClr val="B1C3D2"/>
                </a:solidFill>
                <a:latin typeface="Arial"/>
                <a:ea typeface="Arial"/>
                <a:cs typeface="Arial"/>
              </a:rPr>
              <a:t>BizPlus AI     2/7</a:t>
            </a:r>
          </a:p>
        </p:txBody>
      </p:sp>
      <p:graphicFrame>
        <p:nvGraphicFramePr>
          <p:cNvPr id="3" name="">
            <a:extLst xmlns:a="http://schemas.openxmlformats.org/drawingml/2006/main">
              <a:ext uri="{FF2B5EF4-FFF2-40B4-BE49-F238E27FC236}">
                <a16:creationId xmlns:a16="http://schemas.microsoft.com/office/drawing/2014/main" id="{99BF6FBE-99C5-4B8D-9E17-823A80E0E96A}"/>
              </a:ext>
            </a:extLst>
          </p:cNvPr>
          <p:cNvGraphicFramePr/>
          <p:nvPr/>
        </p:nvGraphicFramePr>
        <p:xfrm>
          <a:off xmlns:a="http://schemas.openxmlformats.org/drawingml/2006/main" x="609600" y="1609725"/>
          <a:ext xmlns:a="http://schemas.openxmlformats.org/drawingml/2006/main" cx="4010025" cy="3257550"/>
        </p:xfrm>
        <a:graphic xmlns:a="http://schemas.openxmlformats.org/drawingml/2006/main">
          <a:graphicData uri="http://schemas.openxmlformats.org/drawingml/2006/table">
            <a:tbl>
              <a:tblPr/>
              <a:tblGrid>
                <a:gridCol w="1952625"/>
                <a:gridCol w="2057400"/>
              </a:tblGrid>
              <a:tr h="814388">
                <a:tc>
                  <a:txBody>
                    <a:bodyPr/>
                    <a:lstStyle/>
                    <a:p>
                      <a:r>
                        <a:rPr sz="1800" b="1">
                          <a:solidFill>
                            <a:srgbClr val="F1F7FC"/>
                          </a:solidFill>
                          <a:latin typeface="Arial"/>
                          <a:ea typeface="Arial"/>
                          <a:cs typeface="Arial"/>
                        </a:rPr>
                        <a:t>Observed evidence</a:t>
                      </a:r>
                    </a:p>
                  </a:txBody>
                  <a:tcPr marL="152400" marR="152400" marT="114300" marB="114300" anchor="ctr">
                    <a:lnL w="9525">
                      <a:solidFill>
                        <a:srgbClr val="41596E"/>
                      </a:solidFill>
                      <a:prstDash val="solid"/>
                    </a:lnL>
                    <a:lnR w="9525">
                      <a:solidFill>
                        <a:srgbClr val="41596E"/>
                      </a:solidFill>
                      <a:prstDash val="solid"/>
                    </a:lnR>
                    <a:lnT w="9525">
                      <a:solidFill>
                        <a:srgbClr val="41596E"/>
                      </a:solidFill>
                      <a:prstDash val="solid"/>
                    </a:lnT>
                    <a:lnB w="9525">
                      <a:solidFill>
                        <a:srgbClr val="41596E"/>
                      </a:solidFill>
                      <a:prstDash val="solid"/>
                    </a:lnB>
                    <a:solidFill>
                      <a:srgbClr val="17344B"/>
                    </a:solidFill>
                  </a:tcPr>
                </a:tc>
                <a:tc>
                  <a:txBody>
                    <a:bodyPr/>
                    <a:lstStyle/>
                    <a:p>
                      <a:r>
                        <a:rPr sz="1800" b="1">
                          <a:solidFill>
                            <a:srgbClr val="F1F7FC"/>
                          </a:solidFill>
                          <a:latin typeface="Arial"/>
                          <a:ea typeface="Arial"/>
                          <a:cs typeface="Arial"/>
                        </a:rPr>
                        <a:t>Business outcome</a:t>
                      </a:r>
                    </a:p>
                  </a:txBody>
                  <a:tcPr marL="152400" marR="152400" marT="114300" marB="114300" anchor="ctr">
                    <a:lnR w="9525">
                      <a:solidFill>
                        <a:srgbClr val="41596E"/>
                      </a:solidFill>
                      <a:prstDash val="solid"/>
                    </a:lnR>
                    <a:lnT w="9525">
                      <a:solidFill>
                        <a:srgbClr val="41596E"/>
                      </a:solidFill>
                      <a:prstDash val="solid"/>
                    </a:lnT>
                    <a:lnB w="9525">
                      <a:solidFill>
                        <a:srgbClr val="41596E"/>
                      </a:solidFill>
                      <a:prstDash val="solid"/>
                    </a:lnB>
                    <a:solidFill>
                      <a:srgbClr val="17344B"/>
                    </a:solidFill>
                  </a:tcPr>
                </a:tc>
              </a:tr>
              <a:tr h="814388">
                <a:tc>
                  <a:txBody>
                    <a:bodyPr/>
                    <a:lstStyle/>
                    <a:p>
                      <a:r>
                        <a:rPr sz="1800">
                          <a:solidFill>
                            <a:srgbClr val="F1F7FC"/>
                          </a:solidFill>
                          <a:latin typeface="Arial"/>
                          <a:ea typeface="Arial"/>
                          <a:cs typeface="Arial"/>
                        </a:rPr>
                        <a:t>HTTP 200</a:t>
                      </a:r>
                    </a:p>
                  </a:txBody>
                  <a:tcPr marL="152400" marR="152400" marT="114300" marB="114300" anchor="ctr">
                    <a:lnL w="9525">
                      <a:solidFill>
                        <a:srgbClr val="41596E"/>
                      </a:solidFill>
                      <a:prstDash val="solid"/>
                    </a:lnL>
                    <a:lnR w="9525">
                      <a:solidFill>
                        <a:srgbClr val="41596E"/>
                      </a:solidFill>
                      <a:prstDash val="solid"/>
                    </a:lnR>
                    <a:lnB w="9525">
                      <a:solidFill>
                        <a:srgbClr val="41596E"/>
                      </a:solidFill>
                      <a:prstDash val="solid"/>
                    </a:lnB>
                    <a:solidFill>
                      <a:srgbClr val="081523"/>
                    </a:solidFill>
                  </a:tcPr>
                </a:tc>
                <a:tc>
                  <a:txBody>
                    <a:bodyPr/>
                    <a:lstStyle/>
                    <a:p>
                      <a:r>
                        <a:rPr sz="1800">
                          <a:solidFill>
                            <a:srgbClr val="F1F7FC"/>
                          </a:solidFill>
                          <a:latin typeface="Arial"/>
                          <a:ea typeface="Arial"/>
                          <a:cs typeface="Arial"/>
                        </a:rPr>
                        <a:t>Order confirmation missing</a:t>
                      </a:r>
                    </a:p>
                  </a:txBody>
                  <a:tcPr marL="152400" marR="152400" marT="114300" marB="114300" anchor="ctr">
                    <a:lnR w="9525">
                      <a:solidFill>
                        <a:srgbClr val="41596E"/>
                      </a:solidFill>
                      <a:prstDash val="solid"/>
                    </a:lnR>
                    <a:lnB w="9525">
                      <a:solidFill>
                        <a:srgbClr val="41596E"/>
                      </a:solidFill>
                      <a:prstDash val="solid"/>
                    </a:lnB>
                    <a:solidFill>
                      <a:srgbClr val="081523"/>
                    </a:solidFill>
                  </a:tcPr>
                </a:tc>
              </a:tr>
              <a:tr h="814388">
                <a:tc>
                  <a:txBody>
                    <a:bodyPr/>
                    <a:lstStyle/>
                    <a:p>
                      <a:r>
                        <a:rPr sz="1800">
                          <a:solidFill>
                            <a:srgbClr val="F1F7FC"/>
                          </a:solidFill>
                          <a:latin typeface="Arial"/>
                          <a:ea typeface="Arial"/>
                          <a:cs typeface="Arial"/>
                        </a:rPr>
                        <a:t>One simulated payment</a:t>
                      </a:r>
                    </a:p>
                  </a:txBody>
                  <a:tcPr marL="152400" marR="152400" marT="114300" marB="114300" anchor="ctr">
                    <a:lnL w="9525">
                      <a:solidFill>
                        <a:srgbClr val="41596E"/>
                      </a:solidFill>
                      <a:prstDash val="solid"/>
                    </a:lnL>
                    <a:lnR w="9525">
                      <a:solidFill>
                        <a:srgbClr val="41596E"/>
                      </a:solidFill>
                      <a:prstDash val="solid"/>
                    </a:lnR>
                    <a:lnB w="9525">
                      <a:solidFill>
                        <a:srgbClr val="41596E"/>
                      </a:solidFill>
                      <a:prstDash val="solid"/>
                    </a:lnB>
                    <a:solidFill>
                      <a:srgbClr val="081523"/>
                    </a:solidFill>
                  </a:tcPr>
                </a:tc>
                <a:tc>
                  <a:txBody>
                    <a:bodyPr/>
                    <a:lstStyle/>
                    <a:p>
                      <a:r>
                        <a:rPr sz="1800">
                          <a:solidFill>
                            <a:srgbClr val="F1F7FC"/>
                          </a:solidFill>
                          <a:latin typeface="Arial"/>
                          <a:ea typeface="Arial"/>
                          <a:cs typeface="Arial"/>
                        </a:rPr>
                        <a:t>Original order preserved</a:t>
                      </a:r>
                    </a:p>
                  </a:txBody>
                  <a:tcPr marL="152400" marR="152400" marT="114300" marB="114300" anchor="ctr">
                    <a:lnR w="9525">
                      <a:solidFill>
                        <a:srgbClr val="41596E"/>
                      </a:solidFill>
                      <a:prstDash val="solid"/>
                    </a:lnR>
                    <a:lnB w="9525">
                      <a:solidFill>
                        <a:srgbClr val="41596E"/>
                      </a:solidFill>
                      <a:prstDash val="solid"/>
                    </a:lnB>
                    <a:solidFill>
                      <a:srgbClr val="081523"/>
                    </a:solidFill>
                  </a:tcPr>
                </a:tc>
              </a:tr>
              <a:tr h="814388">
                <a:tc>
                  <a:txBody>
                    <a:bodyPr/>
                    <a:lstStyle/>
                    <a:p>
                      <a:r>
                        <a:rPr sz="1800">
                          <a:solidFill>
                            <a:srgbClr val="F1F7FC"/>
                          </a:solidFill>
                          <a:latin typeface="Arial"/>
                          <a:ea typeface="Arial"/>
                          <a:cs typeface="Arial"/>
                        </a:rPr>
                        <a:t>Explicit approval</a:t>
                      </a:r>
                    </a:p>
                  </a:txBody>
                  <a:tcPr marL="152400" marR="152400" marT="114300" marB="114300" anchor="ctr">
                    <a:lnL w="9525">
                      <a:solidFill>
                        <a:srgbClr val="41596E"/>
                      </a:solidFill>
                      <a:prstDash val="solid"/>
                    </a:lnL>
                    <a:lnR w="9525">
                      <a:solidFill>
                        <a:srgbClr val="41596E"/>
                      </a:solidFill>
                      <a:prstDash val="solid"/>
                    </a:lnR>
                    <a:lnB w="9525">
                      <a:solidFill>
                        <a:srgbClr val="41596E"/>
                      </a:solidFill>
                      <a:prstDash val="solid"/>
                    </a:lnB>
                    <a:solidFill>
                      <a:srgbClr val="081523"/>
                    </a:solidFill>
                  </a:tcPr>
                </a:tc>
                <a:tc>
                  <a:txBody>
                    <a:bodyPr/>
                    <a:lstStyle/>
                    <a:p>
                      <a:r>
                        <a:rPr sz="1800">
                          <a:solidFill>
                            <a:srgbClr val="F1F7FC"/>
                          </a:solidFill>
                          <a:latin typeface="Arial"/>
                          <a:ea typeface="Arial"/>
                          <a:cs typeface="Arial"/>
                        </a:rPr>
                        <a:t>Verification before resolution</a:t>
                      </a:r>
                    </a:p>
                  </a:txBody>
                  <a:tcPr marL="152400" marR="152400" marT="114300" marB="114300" anchor="ctr">
                    <a:lnR w="9525">
                      <a:solidFill>
                        <a:srgbClr val="41596E"/>
                      </a:solidFill>
                      <a:prstDash val="solid"/>
                    </a:lnR>
                    <a:lnB w="9525">
                      <a:solidFill>
                        <a:srgbClr val="41596E"/>
                      </a:solidFill>
                      <a:prstDash val="solid"/>
                    </a:lnB>
                    <a:solidFill>
                      <a:srgbClr val="081523"/>
                    </a:solidFill>
                  </a:tcPr>
                </a:tc>
              </a:tr>
            </a:tbl>
          </a:graphicData>
        </a:graphic>
      </p:graphicFrame>
      <p:pic>
        <p:nvPicPr>
          <p:cNvPr id="4" name="">
            <a:extLst xmlns:a="http://schemas.openxmlformats.org/drawingml/2006/main">
              <a:ext uri="{FF2B5EF4-FFF2-40B4-BE49-F238E27FC236}">
                <a16:creationId xmlns:a16="http://schemas.microsoft.com/office/drawing/2014/main" id="{BFE26D44-17EC-4909-8C44-A3293B6E18D5}"/>
              </a:ext>
            </a:extLst>
          </p:cNvPr>
          <p:cNvPicPr>
            <a:picLocks xmlns:a="http://schemas.openxmlformats.org/drawingml/2006/main" noChangeAspect="1"/>
          </p:cNvPicPr>
          <p:nvPr/>
        </p:nvPicPr>
        <p:blipFill>
          <a:blip xmlns:r="http://schemas.openxmlformats.org/officeDocument/2006/relationships" xmlns:a="http://schemas.openxmlformats.org/drawingml/2006/main" r:embed="Re77c6a2ccae34ffe"/>
          <a:srcRect xmlns:a="http://schemas.openxmlformats.org/drawingml/2006/main" l="20300" t="11250" r="2700" b="66400"/>
          <a:stretch xmlns:a="http://schemas.openxmlformats.org/drawingml/2006/main"/>
        </p:blipFill>
        <p:spPr>
          <a:xfrm xmlns:a="http://schemas.openxmlformats.org/drawingml/2006/main">
            <a:off x="5010150" y="1571625"/>
            <a:ext cx="6562725" cy="4143375"/>
          </a:xfrm>
          <a:prstGeom xmlns:a="http://schemas.openxmlformats.org/drawingml/2006/main" prst="rect">
            <a:avLst/>
          </a:prstGeom>
        </p:spPr>
      </p:pic>
      <p:sp>
        <p:nvSpPr>
          <p:cNvPr id="5" name="Recovery verifies the original order and keeps one simulated payment">
            <a:extLst xmlns:a="http://schemas.openxmlformats.org/drawingml/2006/main">
              <a:ext uri="{FF2B5EF4-FFF2-40B4-BE49-F238E27FC236}">
                <a16:creationId xmlns:a16="http://schemas.microsoft.com/office/drawing/2014/main" id="{F648ED48-B47E-45C2-9C29-A1075D7B220C}"/>
              </a:ext>
            </a:extLst>
          </p:cNvPr>
          <p:cNvSpPr>
            <a:spLocks xmlns:a="http://schemas.openxmlformats.org/drawingml/2006/main" noGrp="1"/>
          </p:cNvSpPr>
          <p:nvPr/>
        </p:nvSpPr>
        <p:spPr>
          <a:xfrm xmlns:a="http://schemas.openxmlformats.org/drawingml/2006/main">
            <a:off x="609600" y="59245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7CE7BB"/>
                </a:solidFill>
                <a:latin typeface="Arial"/>
                <a:ea typeface="Arial"/>
                <a:cs typeface="Arial"/>
              </a:defRPr>
            </a:defPPr>
          </a:lstStyle>
          <a:p xmlns:a="http://schemas.openxmlformats.org/drawingml/2006/main">
            <a:pPr algn="l">
              <a:defRPr sz="1950" b="1">
                <a:solidFill>
                  <a:srgbClr val="7CE7BB"/>
                </a:solidFill>
                <a:latin typeface="Arial"/>
                <a:ea typeface="Arial"/>
                <a:cs typeface="Arial"/>
              </a:defRPr>
            </a:pPr>
            <a:r>
              <a:rPr sz="1950" b="1">
                <a:solidFill>
                  <a:srgbClr val="7CE7BB"/>
                </a:solidFill>
                <a:latin typeface="Arial"/>
                <a:ea typeface="Arial"/>
                <a:cs typeface="Arial"/>
              </a:rPr>
              <a:t>Recovery verifies the original order and keeps one simulated payment</a:t>
            </a:r>
          </a:p>
        </p:txBody>
      </p:sp>
    </p:spTree>
    <p:extLst>
      <p:ext uri="{BB962C8B-B14F-4D97-AF65-F5344CB8AC3E}">
        <p14:creationId xmlns:p14="http://schemas.microsoft.com/office/powerpoint/2010/main" val="70846685"/>
      </p:ext>
    </p:extLst>
  </p:cSld>
</p:sld>
</file>

<file path=ppt/slides/slide3.xml><?xml version="1.0" encoding="utf-8"?>
<p:sld xmlns:p="http://schemas.openxmlformats.org/presentationml/2006/main">
  <p:cSld>
    <p:bg>
      <p:bgPr>
        <a:solidFill xmlns:a="http://schemas.openxmlformats.org/drawingml/2006/main">
          <a:srgbClr val="081523"/>
        </a:solidFill>
      </p:bgPr>
    </p:bg>
    <p:spTree>
      <p:nvGrpSpPr>
        <p:cNvPr id="1" name=""/>
        <p:cNvGrpSpPr/>
        <p:nvPr/>
      </p:nvGrpSpPr>
      <p:grpSpPr>
        <a:xfrm xmlns:a="http://schemas.openxmlformats.org/drawingml/2006/main"/>
      </p:grpSpPr>
      <p:sp>
        <p:nvSpPr>
          <p:cNvPr id="7" name="Merchant Test Mode storefront">
            <a:extLst xmlns:a="http://schemas.openxmlformats.org/drawingml/2006/main">
              <a:ext uri="{FF2B5EF4-FFF2-40B4-BE49-F238E27FC236}">
                <a16:creationId xmlns:a16="http://schemas.microsoft.com/office/drawing/2014/main" id="{5FE1FE15-C51E-422A-B981-31F58C2C1900}"/>
              </a:ext>
            </a:extLst>
          </p:cNvPr>
          <p:cNvSpPr>
            <a:spLocks xmlns:a="http://schemas.openxmlformats.org/drawingml/2006/main" noGrp="1"/>
          </p:cNvSpPr>
          <p:nvPr/>
        </p:nvSpPr>
        <p:spPr>
          <a:xfrm xmlns:a="http://schemas.openxmlformats.org/drawingml/2006/main">
            <a:off x="609600" y="4762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1F7FC"/>
                </a:solidFill>
                <a:latin typeface="Arial"/>
                <a:ea typeface="Arial"/>
                <a:cs typeface="Arial"/>
              </a:defRPr>
            </a:defPPr>
          </a:lstStyle>
          <a:p xmlns:a="http://schemas.openxmlformats.org/drawingml/2006/main">
            <a:pPr algn="l">
              <a:defRPr sz="3300" b="1">
                <a:solidFill>
                  <a:srgbClr val="F1F7FC"/>
                </a:solidFill>
                <a:latin typeface="Arial"/>
                <a:ea typeface="Arial"/>
                <a:cs typeface="Arial"/>
              </a:defRPr>
            </a:pPr>
            <a:r>
              <a:rPr sz="3300" b="1">
                <a:solidFill>
                  <a:srgbClr val="F1F7FC"/>
                </a:solidFill>
                <a:latin typeface="Arial"/>
                <a:ea typeface="Arial"/>
                <a:cs typeface="Arial"/>
              </a:rPr>
              <a:t>Merchant Test Mode storefront</a:t>
            </a:r>
          </a:p>
        </p:txBody>
      </p:sp>
      <p:sp>
        <p:nvSpPr>
          <p:cNvPr id="2" name="BizPlus AI     3/7">
            <a:extLst xmlns:a="http://schemas.openxmlformats.org/drawingml/2006/main">
              <a:ext uri="{FF2B5EF4-FFF2-40B4-BE49-F238E27FC236}">
                <a16:creationId xmlns:a16="http://schemas.microsoft.com/office/drawing/2014/main" id="{D2849296-FD1B-4A0E-BCC0-4E38C2789479}"/>
              </a:ext>
            </a:extLst>
          </p:cNvPr>
          <p:cNvSpPr>
            <a:spLocks xmlns:a="http://schemas.openxmlformats.org/drawingml/2006/main" noGrp="1"/>
          </p:cNvSpPr>
          <p:nvPr/>
        </p:nvSpPr>
        <p:spPr>
          <a:xfrm xmlns:a="http://schemas.openxmlformats.org/drawingml/2006/main">
            <a:off x="609600" y="64008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1C3D2"/>
                </a:solidFill>
                <a:latin typeface="Arial"/>
                <a:ea typeface="Arial"/>
                <a:cs typeface="Arial"/>
              </a:defRPr>
            </a:defPPr>
          </a:lstStyle>
          <a:p xmlns:a="http://schemas.openxmlformats.org/drawingml/2006/main">
            <a:pPr algn="l">
              <a:defRPr sz="1275" b="0">
                <a:solidFill>
                  <a:srgbClr val="B1C3D2"/>
                </a:solidFill>
                <a:latin typeface="Arial"/>
                <a:ea typeface="Arial"/>
                <a:cs typeface="Arial"/>
              </a:defRPr>
            </a:pPr>
            <a:r>
              <a:rPr sz="1275" b="0">
                <a:solidFill>
                  <a:srgbClr val="B1C3D2"/>
                </a:solidFill>
                <a:latin typeface="Arial"/>
                <a:ea typeface="Arial"/>
                <a:cs typeface="Arial"/>
              </a:rPr>
              <a:t>BizPlus AI     3/7</a:t>
            </a:r>
          </a:p>
        </p:txBody>
      </p:sp>
      <p:sp>
        <p:nvSpPr>
          <p:cNvPr id="3" name="Six server-priced products and actual provider checkout">
            <a:extLst xmlns:a="http://schemas.openxmlformats.org/drawingml/2006/main">
              <a:ext uri="{FF2B5EF4-FFF2-40B4-BE49-F238E27FC236}">
                <a16:creationId xmlns:a16="http://schemas.microsoft.com/office/drawing/2014/main" id="{3E0AA3EF-DB01-4228-B8AE-1D775CA8E0D1}"/>
              </a:ext>
            </a:extLst>
          </p:cNvPr>
          <p:cNvSpPr>
            <a:spLocks xmlns:a="http://schemas.openxmlformats.org/drawingml/2006/main" noGrp="1"/>
          </p:cNvSpPr>
          <p:nvPr/>
        </p:nvSpPr>
        <p:spPr>
          <a:xfrm xmlns:a="http://schemas.openxmlformats.org/drawingml/2006/main">
            <a:off x="609600" y="12573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4DCE3"/>
                </a:solidFill>
                <a:latin typeface="Arial"/>
                <a:ea typeface="Arial"/>
                <a:cs typeface="Arial"/>
              </a:defRPr>
            </a:defPPr>
          </a:lstStyle>
          <a:p xmlns:a="http://schemas.openxmlformats.org/drawingml/2006/main">
            <a:pPr algn="l">
              <a:defRPr sz="2025" b="0">
                <a:solidFill>
                  <a:srgbClr val="44DCE3"/>
                </a:solidFill>
                <a:latin typeface="Arial"/>
                <a:ea typeface="Arial"/>
                <a:cs typeface="Arial"/>
              </a:defRPr>
            </a:pPr>
            <a:r>
              <a:rPr sz="2025" b="0">
                <a:solidFill>
                  <a:srgbClr val="44DCE3"/>
                </a:solidFill>
                <a:latin typeface="Arial"/>
                <a:ea typeface="Arial"/>
                <a:cs typeface="Arial"/>
              </a:rPr>
              <a:t>Six server-priced products and actual provider checkout</a:t>
            </a:r>
          </a:p>
        </p:txBody>
      </p:sp>
      <p:pic>
        <p:nvPicPr>
          <p:cNvPr id="4" name="">
            <a:extLst xmlns:a="http://schemas.openxmlformats.org/drawingml/2006/main">
              <a:ext uri="{FF2B5EF4-FFF2-40B4-BE49-F238E27FC236}">
                <a16:creationId xmlns:a16="http://schemas.microsoft.com/office/drawing/2014/main" id="{BDA2C85F-CB4E-483E-826E-DA591AA3F767}"/>
              </a:ext>
            </a:extLst>
          </p:cNvPr>
          <p:cNvPicPr>
            <a:picLocks xmlns:a="http://schemas.openxmlformats.org/drawingml/2006/main" noChangeAspect="1"/>
          </p:cNvPicPr>
          <p:nvPr/>
        </p:nvPicPr>
        <p:blipFill>
          <a:blip xmlns:r="http://schemas.openxmlformats.org/officeDocument/2006/relationships" xmlns:a="http://schemas.openxmlformats.org/drawingml/2006/main" r:embed="Rc48439beedd042b5"/>
          <a:srcRect xmlns:a="http://schemas.openxmlformats.org/drawingml/2006/main" l="20300" t="28800" r="28800" b="52200"/>
          <a:stretch xmlns:a="http://schemas.openxmlformats.org/drawingml/2006/main"/>
        </p:blipFill>
        <p:spPr>
          <a:xfrm xmlns:a="http://schemas.openxmlformats.org/drawingml/2006/main">
            <a:off x="609600" y="1809750"/>
            <a:ext cx="6896100" cy="36957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3D58BE28-692D-4285-B5A7-D546AC182C05}"/>
              </a:ext>
            </a:extLst>
          </p:cNvPr>
          <p:cNvPicPr>
            <a:picLocks xmlns:a="http://schemas.openxmlformats.org/drawingml/2006/main" noChangeAspect="1"/>
          </p:cNvPicPr>
          <p:nvPr/>
        </p:nvPicPr>
        <p:blipFill>
          <a:blip xmlns:r="http://schemas.openxmlformats.org/officeDocument/2006/relationships" xmlns:a="http://schemas.openxmlformats.org/drawingml/2006/main" r:embed="R3834395d2db34eac"/>
          <a:srcRect xmlns:a="http://schemas.openxmlformats.org/drawingml/2006/main" l="71000" t="73100" r="2500" b="4200"/>
          <a:stretch xmlns:a="http://schemas.openxmlformats.org/drawingml/2006/main"/>
        </p:blipFill>
        <p:spPr>
          <a:xfrm xmlns:a="http://schemas.openxmlformats.org/drawingml/2006/main">
            <a:off x="7972425" y="1743075"/>
            <a:ext cx="3609975" cy="3943350"/>
          </a:xfrm>
          <a:prstGeom xmlns:a="http://schemas.openxmlformats.org/drawingml/2006/main" prst="rect">
            <a:avLst/>
          </a:prstGeom>
        </p:spPr>
      </p:pic>
      <p:sp>
        <p:nvSpPr>
          <p:cNvPr id="6" name="Test Mode only. INR 599 server verified. Receipt survived refresh.">
            <a:extLst xmlns:a="http://schemas.openxmlformats.org/drawingml/2006/main">
              <a:ext uri="{FF2B5EF4-FFF2-40B4-BE49-F238E27FC236}">
                <a16:creationId xmlns:a16="http://schemas.microsoft.com/office/drawing/2014/main" id="{3AB0A7E7-8E69-41B3-8D15-B05DA9097774}"/>
              </a:ext>
            </a:extLst>
          </p:cNvPr>
          <p:cNvSpPr>
            <a:spLocks xmlns:a="http://schemas.openxmlformats.org/drawingml/2006/main" noGrp="1"/>
          </p:cNvSpPr>
          <p:nvPr/>
        </p:nvSpPr>
        <p:spPr>
          <a:xfrm xmlns:a="http://schemas.openxmlformats.org/drawingml/2006/main">
            <a:off x="609600" y="59055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B1C3D2"/>
                </a:solidFill>
                <a:latin typeface="Arial"/>
                <a:ea typeface="Arial"/>
                <a:cs typeface="Arial"/>
              </a:defRPr>
            </a:defPPr>
          </a:lstStyle>
          <a:p xmlns:a="http://schemas.openxmlformats.org/drawingml/2006/main">
            <a:pPr algn="l">
              <a:defRPr sz="1950" b="0">
                <a:solidFill>
                  <a:srgbClr val="B1C3D2"/>
                </a:solidFill>
                <a:latin typeface="Arial"/>
                <a:ea typeface="Arial"/>
                <a:cs typeface="Arial"/>
              </a:defRPr>
            </a:pPr>
            <a:r>
              <a:rPr sz="1950" b="0">
                <a:solidFill>
                  <a:srgbClr val="B1C3D2"/>
                </a:solidFill>
                <a:latin typeface="Arial"/>
                <a:ea typeface="Arial"/>
                <a:cs typeface="Arial"/>
              </a:rPr>
              <a:t>Test Mode only. INR 599 server verified. Receipt survived refresh.</a:t>
            </a:r>
          </a:p>
        </p:txBody>
      </p:sp>
    </p:spTree>
    <p:extLst>
      <p:ext uri="{BB962C8B-B14F-4D97-AF65-F5344CB8AC3E}">
        <p14:creationId xmlns:p14="http://schemas.microsoft.com/office/powerpoint/2010/main" val="826184965"/>
      </p:ext>
    </p:extLst>
  </p:cSld>
</p:sld>
</file>

<file path=ppt/slides/slide4.xml><?xml version="1.0" encoding="utf-8"?>
<p:sld xmlns:p="http://schemas.openxmlformats.org/presentationml/2006/main">
  <p:cSld>
    <p:bg>
      <p:bgPr>
        <a:solidFill xmlns:a="http://schemas.openxmlformats.org/drawingml/2006/main">
          <a:srgbClr val="081523"/>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E7503F2B-701E-4C31-A183-CD601EF91746}"/>
              </a:ext>
            </a:extLst>
          </p:cNvPr>
          <p:cNvCxnSpPr>
            <a:stCxn xmlns:a="http://schemas.openxmlformats.org/drawingml/2006/main" id="15" idx="1"/>
            <a:endCxn xmlns:a="http://schemas.openxmlformats.org/drawingml/2006/main" id="14" idx="3"/>
          </p:cNvCxnSpPr>
          <p:nvPr/>
        </p:nvCxnSpPr>
        <p:spPr>
          <a:xfrm xmlns:a="http://schemas.openxmlformats.org/drawingml/2006/main" flipH="1">
            <a:off x="2990850" y="5372100"/>
            <a:ext cx="704850" cy="0"/>
          </a:xfrm>
          <a:prstGeom xmlns:a="http://schemas.openxmlformats.org/drawingml/2006/main" prst="straightConnector1">
            <a:avLst/>
          </a:prstGeom>
          <a:ln xmlns:a="http://schemas.openxmlformats.org/drawingml/2006/main" w="28575">
            <a:solidFill>
              <a:srgbClr val="44DCE3"/>
            </a:solidFill>
            <a:tailEnd type="triangle" w="med" len="med"/>
          </a:ln>
        </p:spPr>
      </p:cxnSp>
      <p:cxnSp>
        <p:nvCxnSpPr>
          <p:cNvPr id="16" name="">
            <a:extLst xmlns:a="http://schemas.openxmlformats.org/drawingml/2006/main">
              <a:ext uri="{FF2B5EF4-FFF2-40B4-BE49-F238E27FC236}">
                <a16:creationId xmlns:a16="http://schemas.microsoft.com/office/drawing/2014/main" id="{6363EEC2-B1A0-414E-9B34-0927D4D8E921}"/>
              </a:ext>
            </a:extLst>
          </p:cNvPr>
          <p:cNvCxnSpPr>
            <a:stCxn xmlns:a="http://schemas.openxmlformats.org/drawingml/2006/main" id="4" idx="3"/>
            <a:endCxn xmlns:a="http://schemas.openxmlformats.org/drawingml/2006/main" id="15" idx="3"/>
          </p:cNvCxnSpPr>
          <p:nvPr/>
        </p:nvCxnSpPr>
        <p:spPr>
          <a:xfrm xmlns:a="http://schemas.openxmlformats.org/drawingml/2006/main">
            <a:off x="8229600" y="1938338"/>
            <a:ext cx="228600" cy="3433763"/>
          </a:xfrm>
          <a:prstGeom xmlns:a="http://schemas.openxmlformats.org/drawingml/2006/main" prst="bentConnector4">
            <a:avLst/>
          </a:prstGeom>
          <a:ln xmlns:a="http://schemas.openxmlformats.org/drawingml/2006/main" w="28575">
            <a:solidFill>
              <a:srgbClr val="44DCE3"/>
            </a:solidFill>
            <a:tailEnd type="triangle" w="med" len="med"/>
          </a:ln>
        </p:spPr>
      </p:cxnSp>
      <p:cxnSp>
        <p:nvCxnSpPr>
          <p:cNvPr id="13" name="">
            <a:extLst xmlns:a="http://schemas.openxmlformats.org/drawingml/2006/main">
              <a:ext uri="{FF2B5EF4-FFF2-40B4-BE49-F238E27FC236}">
                <a16:creationId xmlns:a16="http://schemas.microsoft.com/office/drawing/2014/main" id="{67DABDA9-B3D3-442A-9724-43167868AD70}"/>
              </a:ext>
            </a:extLst>
          </p:cNvPr>
          <p:cNvCxnSpPr>
            <a:stCxn xmlns:a="http://schemas.openxmlformats.org/drawingml/2006/main" id="4" idx="2"/>
            <a:endCxn xmlns:a="http://schemas.openxmlformats.org/drawingml/2006/main" id="9" idx="0"/>
          </p:cNvCxnSpPr>
          <p:nvPr/>
        </p:nvCxnSpPr>
        <p:spPr>
          <a:xfrm xmlns:a="http://schemas.openxmlformats.org/drawingml/2006/main">
            <a:off x="5962650" y="2343150"/>
            <a:ext cx="0" cy="933450"/>
          </a:xfrm>
          <a:prstGeom xmlns:a="http://schemas.openxmlformats.org/drawingml/2006/main" prst="straightConnector1">
            <a:avLst/>
          </a:prstGeom>
          <a:ln xmlns:a="http://schemas.openxmlformats.org/drawingml/2006/main" w="19050">
            <a:solidFill>
              <a:srgbClr val="B1C3D2"/>
            </a:solidFill>
            <a:prstDash val="dash"/>
            <a:tailEnd type="triangle" w="med" len="med"/>
          </a:ln>
        </p:spPr>
      </p:cxnSp>
      <p:cxnSp>
        <p:nvCxnSpPr>
          <p:cNvPr id="12" name="">
            <a:extLst xmlns:a="http://schemas.openxmlformats.org/drawingml/2006/main">
              <a:ext uri="{FF2B5EF4-FFF2-40B4-BE49-F238E27FC236}">
                <a16:creationId xmlns:a16="http://schemas.microsoft.com/office/drawing/2014/main" id="{9D4DDEC1-CFE5-4E66-853F-B800411B3093}"/>
              </a:ext>
            </a:extLst>
          </p:cNvPr>
          <p:cNvCxnSpPr>
            <a:stCxn xmlns:a="http://schemas.openxmlformats.org/drawingml/2006/main" id="4" idx="2"/>
            <a:endCxn xmlns:a="http://schemas.openxmlformats.org/drawingml/2006/main" id="10" idx="0"/>
          </p:cNvCxnSpPr>
          <p:nvPr/>
        </p:nvCxnSpPr>
        <p:spPr>
          <a:xfrm xmlns:a="http://schemas.openxmlformats.org/drawingml/2006/main">
            <a:off x="5962650" y="2343150"/>
            <a:ext cx="4286250" cy="933450"/>
          </a:xfrm>
          <a:prstGeom xmlns:a="http://schemas.openxmlformats.org/drawingml/2006/main" prst="bentConnector4">
            <a:avLst>
              <a:gd name="adj1" fmla="val 0"/>
              <a:gd name="adj2" fmla="val 50000"/>
            </a:avLst>
          </a:prstGeom>
          <a:ln xmlns:a="http://schemas.openxmlformats.org/drawingml/2006/main" w="28575">
            <a:solidFill>
              <a:srgbClr val="44DCE3"/>
            </a:solidFill>
            <a:tailEnd type="triangle" w="med" len="med"/>
          </a:ln>
        </p:spPr>
      </p:cxnSp>
      <p:cxnSp>
        <p:nvCxnSpPr>
          <p:cNvPr id="11" name="">
            <a:extLst xmlns:a="http://schemas.openxmlformats.org/drawingml/2006/main">
              <a:ext uri="{FF2B5EF4-FFF2-40B4-BE49-F238E27FC236}">
                <a16:creationId xmlns:a16="http://schemas.microsoft.com/office/drawing/2014/main" id="{900D1CA6-0C0C-403A-AD50-27D092934891}"/>
              </a:ext>
            </a:extLst>
          </p:cNvPr>
          <p:cNvCxnSpPr>
            <a:stCxn xmlns:a="http://schemas.openxmlformats.org/drawingml/2006/main" id="4" idx="2"/>
            <a:endCxn xmlns:a="http://schemas.openxmlformats.org/drawingml/2006/main" id="8" idx="0"/>
          </p:cNvCxnSpPr>
          <p:nvPr/>
        </p:nvCxnSpPr>
        <p:spPr>
          <a:xfrm xmlns:a="http://schemas.openxmlformats.org/drawingml/2006/main" flipH="1">
            <a:off x="1800225" y="2343150"/>
            <a:ext cx="4162425" cy="933450"/>
          </a:xfrm>
          <a:prstGeom xmlns:a="http://schemas.openxmlformats.org/drawingml/2006/main" prst="bentConnector4">
            <a:avLst>
              <a:gd name="adj1" fmla="val 0"/>
              <a:gd name="adj2" fmla="val 50000"/>
            </a:avLst>
          </a:prstGeom>
          <a:ln xmlns:a="http://schemas.openxmlformats.org/drawingml/2006/main" w="28575">
            <a:solidFill>
              <a:srgbClr val="44DCE3"/>
            </a:solidFill>
            <a:tailEnd type="triangle" w="med" len="med"/>
          </a:ln>
        </p:spPr>
      </p:cxnSp>
      <p:cxnSp>
        <p:nvCxnSpPr>
          <p:cNvPr id="7" name="">
            <a:extLst xmlns:a="http://schemas.openxmlformats.org/drawingml/2006/main">
              <a:ext uri="{FF2B5EF4-FFF2-40B4-BE49-F238E27FC236}">
                <a16:creationId xmlns:a16="http://schemas.microsoft.com/office/drawing/2014/main" id="{51A2F9BB-7E36-40F3-BF69-BA418B4E862E}"/>
              </a:ext>
            </a:extLst>
          </p:cNvPr>
          <p:cNvCxnSpPr>
            <a:stCxn xmlns:a="http://schemas.openxmlformats.org/drawingml/2006/main" id="4" idx="3"/>
            <a:endCxn xmlns:a="http://schemas.openxmlformats.org/drawingml/2006/main" id="5" idx="1"/>
          </p:cNvCxnSpPr>
          <p:nvPr/>
        </p:nvCxnSpPr>
        <p:spPr>
          <a:xfrm xmlns:a="http://schemas.openxmlformats.org/drawingml/2006/main">
            <a:off x="8229600" y="1938338"/>
            <a:ext cx="685800" cy="0"/>
          </a:xfrm>
          <a:prstGeom xmlns:a="http://schemas.openxmlformats.org/drawingml/2006/main" prst="straightConnector1">
            <a:avLst/>
          </a:prstGeom>
          <a:ln xmlns:a="http://schemas.openxmlformats.org/drawingml/2006/main" w="28575">
            <a:solidFill>
              <a:srgbClr val="44DCE3"/>
            </a:solidFill>
            <a:tailEnd type="triangle" w="med" len="med"/>
          </a:ln>
        </p:spPr>
      </p:cxnSp>
      <p:cxnSp>
        <p:nvCxnSpPr>
          <p:cNvPr id="6" name="">
            <a:extLst xmlns:a="http://schemas.openxmlformats.org/drawingml/2006/main">
              <a:ext uri="{FF2B5EF4-FFF2-40B4-BE49-F238E27FC236}">
                <a16:creationId xmlns:a16="http://schemas.microsoft.com/office/drawing/2014/main" id="{917304F3-304B-4C87-8F5E-D797A140E23E}"/>
              </a:ext>
            </a:extLst>
          </p:cNvPr>
          <p:cNvCxnSpPr>
            <a:stCxn xmlns:a="http://schemas.openxmlformats.org/drawingml/2006/main" id="3" idx="3"/>
            <a:endCxn xmlns:a="http://schemas.openxmlformats.org/drawingml/2006/main" id="4" idx="1"/>
          </p:cNvCxnSpPr>
          <p:nvPr/>
        </p:nvCxnSpPr>
        <p:spPr>
          <a:xfrm xmlns:a="http://schemas.openxmlformats.org/drawingml/2006/main">
            <a:off x="2990850" y="1938338"/>
            <a:ext cx="704850" cy="0"/>
          </a:xfrm>
          <a:prstGeom xmlns:a="http://schemas.openxmlformats.org/drawingml/2006/main" prst="straightConnector1">
            <a:avLst/>
          </a:prstGeom>
          <a:ln xmlns:a="http://schemas.openxmlformats.org/drawingml/2006/main" w="28575">
            <a:solidFill>
              <a:srgbClr val="44DCE3"/>
            </a:solidFill>
            <a:tailEnd type="triangle" w="med" len="med"/>
          </a:ln>
        </p:spPr>
      </p:cxnSp>
      <p:sp>
        <p:nvSpPr>
          <p:cNvPr id="20" name="Render application architecture">
            <a:extLst xmlns:a="http://schemas.openxmlformats.org/drawingml/2006/main">
              <a:ext uri="{FF2B5EF4-FFF2-40B4-BE49-F238E27FC236}">
                <a16:creationId xmlns:a16="http://schemas.microsoft.com/office/drawing/2014/main" id="{6D0BDD23-75C7-4B41-9DB6-58B6FE678068}"/>
              </a:ext>
            </a:extLst>
          </p:cNvPr>
          <p:cNvSpPr>
            <a:spLocks xmlns:a="http://schemas.openxmlformats.org/drawingml/2006/main" noGrp="1"/>
          </p:cNvSpPr>
          <p:nvPr/>
        </p:nvSpPr>
        <p:spPr>
          <a:xfrm xmlns:a="http://schemas.openxmlformats.org/drawingml/2006/main">
            <a:off x="609600" y="4762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1F7FC"/>
                </a:solidFill>
                <a:latin typeface="Arial"/>
                <a:ea typeface="Arial"/>
                <a:cs typeface="Arial"/>
              </a:defRPr>
            </a:defPPr>
          </a:lstStyle>
          <a:p xmlns:a="http://schemas.openxmlformats.org/drawingml/2006/main">
            <a:pPr algn="l">
              <a:defRPr sz="3300" b="1">
                <a:solidFill>
                  <a:srgbClr val="F1F7FC"/>
                </a:solidFill>
                <a:latin typeface="Arial"/>
                <a:ea typeface="Arial"/>
                <a:cs typeface="Arial"/>
              </a:defRPr>
            </a:pPr>
            <a:r>
              <a:rPr sz="3300" b="1">
                <a:solidFill>
                  <a:srgbClr val="F1F7FC"/>
                </a:solidFill>
                <a:latin typeface="Arial"/>
                <a:ea typeface="Arial"/>
                <a:cs typeface="Arial"/>
              </a:rPr>
              <a:t>Render application architecture</a:t>
            </a:r>
          </a:p>
        </p:txBody>
      </p:sp>
      <p:sp>
        <p:nvSpPr>
          <p:cNvPr id="2" name="BizPlus AI     4/7">
            <a:extLst xmlns:a="http://schemas.openxmlformats.org/drawingml/2006/main">
              <a:ext uri="{FF2B5EF4-FFF2-40B4-BE49-F238E27FC236}">
                <a16:creationId xmlns:a16="http://schemas.microsoft.com/office/drawing/2014/main" id="{6E122E89-7BF6-4FB5-A8E3-A7DB38D9F9CE}"/>
              </a:ext>
            </a:extLst>
          </p:cNvPr>
          <p:cNvSpPr>
            <a:spLocks xmlns:a="http://schemas.openxmlformats.org/drawingml/2006/main" noGrp="1"/>
          </p:cNvSpPr>
          <p:nvPr/>
        </p:nvSpPr>
        <p:spPr>
          <a:xfrm xmlns:a="http://schemas.openxmlformats.org/drawingml/2006/main">
            <a:off x="609600" y="64008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1C3D2"/>
                </a:solidFill>
                <a:latin typeface="Arial"/>
                <a:ea typeface="Arial"/>
                <a:cs typeface="Arial"/>
              </a:defRPr>
            </a:defPPr>
          </a:lstStyle>
          <a:p xmlns:a="http://schemas.openxmlformats.org/drawingml/2006/main">
            <a:pPr algn="l">
              <a:defRPr sz="1275" b="0">
                <a:solidFill>
                  <a:srgbClr val="B1C3D2"/>
                </a:solidFill>
                <a:latin typeface="Arial"/>
                <a:ea typeface="Arial"/>
                <a:cs typeface="Arial"/>
              </a:defRPr>
            </a:pPr>
            <a:r>
              <a:rPr sz="1275" b="0">
                <a:solidFill>
                  <a:srgbClr val="B1C3D2"/>
                </a:solidFill>
                <a:latin typeface="Arial"/>
                <a:ea typeface="Arial"/>
                <a:cs typeface="Arial"/>
              </a:rPr>
              <a:t>BizPlus AI     4/7</a:t>
            </a:r>
          </a:p>
        </p:txBody>
      </p:sp>
      <p:sp>
        <p:nvSpPr>
          <p:cNvPr id="3" name="Judge browser">
            <a:extLst xmlns:a="http://schemas.openxmlformats.org/drawingml/2006/main">
              <a:ext uri="{FF2B5EF4-FFF2-40B4-BE49-F238E27FC236}">
                <a16:creationId xmlns:a16="http://schemas.microsoft.com/office/drawing/2014/main" id="{CC2D3DD5-2AF7-41DF-BC1A-03C744911CC5}"/>
              </a:ext>
            </a:extLst>
          </p:cNvPr>
          <p:cNvSpPr>
            <a:spLocks xmlns:a="http://schemas.openxmlformats.org/drawingml/2006/main" noGrp="1"/>
          </p:cNvSpPr>
          <p:nvPr/>
        </p:nvSpPr>
        <p:spPr>
          <a:xfrm xmlns:a="http://schemas.openxmlformats.org/drawingml/2006/main">
            <a:off x="609600" y="1533525"/>
            <a:ext cx="2381250" cy="809625"/>
          </a:xfrm>
          <a:prstGeom xmlns:a="http://schemas.openxmlformats.org/drawingml/2006/main" prst="rect">
            <a:avLst/>
          </a:prstGeom>
          <a:solidFill xmlns:a="http://schemas.openxmlformats.org/drawingml/2006/main">
            <a:srgbClr val="122C42"/>
          </a:solidFill>
          <a:ln xmlns:a="http://schemas.openxmlformats.org/drawingml/2006/main" w="19050">
            <a:solidFill>
              <a:srgbClr val="41596E"/>
            </a:solidFill>
          </a:ln>
        </p:spPr>
        <p:txBody>
          <a:bodyPr xmlns:a="http://schemas.openxmlformats.org/drawingml/2006/main" lIns="114300" tIns="114300" rIns="114300" bIns="114300" anchor="ctr"/>
          <a:lstStyle xmlns:a="http://schemas.openxmlformats.org/drawingml/2006/main">
            <a:defPPr algn="ctr">
              <a:defRPr sz="1875" b="1">
                <a:solidFill>
                  <a:srgbClr val="F1F7FC"/>
                </a:solidFill>
                <a:latin typeface="Arial"/>
                <a:ea typeface="Arial"/>
                <a:cs typeface="Arial"/>
              </a:defRPr>
            </a:defPPr>
          </a:lstStyle>
          <a:p xmlns:a="http://schemas.openxmlformats.org/drawingml/2006/main">
            <a:pPr algn="ctr">
              <a:defRPr sz="1875" b="1">
                <a:solidFill>
                  <a:srgbClr val="F1F7FC"/>
                </a:solidFill>
                <a:latin typeface="Arial"/>
                <a:ea typeface="Arial"/>
                <a:cs typeface="Arial"/>
              </a:defRPr>
            </a:pPr>
            <a:r>
              <a:rPr sz="1875" b="1">
                <a:solidFill>
                  <a:srgbClr val="F1F7FC"/>
                </a:solidFill>
                <a:latin typeface="Arial"/>
                <a:ea typeface="Arial"/>
                <a:cs typeface="Arial"/>
              </a:rPr>
              <a:t>Judge browser</a:t>
            </a:r>
          </a:p>
        </p:txBody>
      </p:sp>
      <p:sp>
        <p:nvSpPr>
          <p:cNvPr id="4" name="Render&#10;React and Express">
            <a:extLst xmlns:a="http://schemas.openxmlformats.org/drawingml/2006/main">
              <a:ext uri="{FF2B5EF4-FFF2-40B4-BE49-F238E27FC236}">
                <a16:creationId xmlns:a16="http://schemas.microsoft.com/office/drawing/2014/main" id="{7501C707-3D1F-4E8B-A721-388C44345839}"/>
              </a:ext>
            </a:extLst>
          </p:cNvPr>
          <p:cNvSpPr>
            <a:spLocks xmlns:a="http://schemas.openxmlformats.org/drawingml/2006/main" noGrp="1"/>
          </p:cNvSpPr>
          <p:nvPr/>
        </p:nvSpPr>
        <p:spPr>
          <a:xfrm xmlns:a="http://schemas.openxmlformats.org/drawingml/2006/main">
            <a:off x="3695700" y="1533525"/>
            <a:ext cx="4533900" cy="809625"/>
          </a:xfrm>
          <a:prstGeom xmlns:a="http://schemas.openxmlformats.org/drawingml/2006/main" prst="rect">
            <a:avLst/>
          </a:prstGeom>
          <a:solidFill xmlns:a="http://schemas.openxmlformats.org/drawingml/2006/main">
            <a:srgbClr val="122C42"/>
          </a:solidFill>
          <a:ln xmlns:a="http://schemas.openxmlformats.org/drawingml/2006/main" w="19050">
            <a:solidFill>
              <a:srgbClr val="41596E"/>
            </a:solidFill>
          </a:ln>
        </p:spPr>
        <p:txBody>
          <a:bodyPr xmlns:a="http://schemas.openxmlformats.org/drawingml/2006/main" lIns="114300" tIns="114300" rIns="114300" bIns="114300" anchor="ctr"/>
          <a:lstStyle xmlns:a="http://schemas.openxmlformats.org/drawingml/2006/main">
            <a:defPPr algn="ctr">
              <a:defRPr sz="1875" b="1">
                <a:solidFill>
                  <a:srgbClr val="F1F7FC"/>
                </a:solidFill>
                <a:latin typeface="Arial"/>
                <a:ea typeface="Arial"/>
                <a:cs typeface="Arial"/>
              </a:defRPr>
            </a:defPPr>
          </a:lstStyle>
          <a:p xmlns:a="http://schemas.openxmlformats.org/drawingml/2006/main">
            <a:pPr algn="ctr">
              <a:defRPr sz="1875" b="1">
                <a:solidFill>
                  <a:srgbClr val="F1F7FC"/>
                </a:solidFill>
                <a:latin typeface="Arial"/>
                <a:ea typeface="Arial"/>
                <a:cs typeface="Arial"/>
              </a:defRPr>
            </a:pPr>
            <a:r>
              <a:rPr sz="1875" b="1">
                <a:solidFill>
                  <a:srgbClr val="F1F7FC"/>
                </a:solidFill>
                <a:latin typeface="Arial"/>
                <a:ea typeface="Arial"/>
                <a:cs typeface="Arial"/>
              </a:rPr>
              <a:t>Render</a:t>
            </a:r>
          </a:p>
          <a:p xmlns:a="http://schemas.openxmlformats.org/drawingml/2006/main">
            <a:pPr algn="ctr">
              <a:defRPr sz="1875" b="1">
                <a:solidFill>
                  <a:srgbClr val="F1F7FC"/>
                </a:solidFill>
                <a:latin typeface="Arial"/>
                <a:ea typeface="Arial"/>
                <a:cs typeface="Arial"/>
              </a:defRPr>
            </a:pPr>
            <a:r>
              <a:rPr sz="1875" b="1">
                <a:solidFill>
                  <a:srgbClr val="F1F7FC"/>
                </a:solidFill>
                <a:latin typeface="Arial"/>
                <a:ea typeface="Arial"/>
                <a:cs typeface="Arial"/>
              </a:rPr>
              <a:t>React and Express</a:t>
            </a:r>
          </a:p>
        </p:txBody>
      </p:sp>
      <p:sp>
        <p:nvSpPr>
          <p:cNvPr id="5" name="Razorpay&#10;Test API">
            <a:extLst xmlns:a="http://schemas.openxmlformats.org/drawingml/2006/main">
              <a:ext uri="{FF2B5EF4-FFF2-40B4-BE49-F238E27FC236}">
                <a16:creationId xmlns:a16="http://schemas.microsoft.com/office/drawing/2014/main" id="{07CD8241-F499-4096-88E9-AF83E0423B73}"/>
              </a:ext>
            </a:extLst>
          </p:cNvPr>
          <p:cNvSpPr>
            <a:spLocks xmlns:a="http://schemas.openxmlformats.org/drawingml/2006/main" noGrp="1"/>
          </p:cNvSpPr>
          <p:nvPr/>
        </p:nvSpPr>
        <p:spPr>
          <a:xfrm xmlns:a="http://schemas.openxmlformats.org/drawingml/2006/main">
            <a:off x="8915400" y="1533525"/>
            <a:ext cx="2667000" cy="809625"/>
          </a:xfrm>
          <a:prstGeom xmlns:a="http://schemas.openxmlformats.org/drawingml/2006/main" prst="rect">
            <a:avLst/>
          </a:prstGeom>
          <a:solidFill xmlns:a="http://schemas.openxmlformats.org/drawingml/2006/main">
            <a:srgbClr val="122C42"/>
          </a:solidFill>
          <a:ln xmlns:a="http://schemas.openxmlformats.org/drawingml/2006/main" w="19050">
            <a:solidFill>
              <a:srgbClr val="41596E"/>
            </a:solidFill>
          </a:ln>
        </p:spPr>
        <p:txBody>
          <a:bodyPr xmlns:a="http://schemas.openxmlformats.org/drawingml/2006/main" lIns="114300" tIns="114300" rIns="114300" bIns="114300" anchor="ctr"/>
          <a:lstStyle xmlns:a="http://schemas.openxmlformats.org/drawingml/2006/main">
            <a:defPPr algn="ctr">
              <a:defRPr sz="1875" b="1">
                <a:solidFill>
                  <a:srgbClr val="F1F7FC"/>
                </a:solidFill>
                <a:latin typeface="Arial"/>
                <a:ea typeface="Arial"/>
                <a:cs typeface="Arial"/>
              </a:defRPr>
            </a:defPPr>
          </a:lstStyle>
          <a:p xmlns:a="http://schemas.openxmlformats.org/drawingml/2006/main">
            <a:pPr algn="ctr">
              <a:defRPr sz="1875" b="1">
                <a:solidFill>
                  <a:srgbClr val="F1F7FC"/>
                </a:solidFill>
                <a:latin typeface="Arial"/>
                <a:ea typeface="Arial"/>
                <a:cs typeface="Arial"/>
              </a:defRPr>
            </a:pPr>
            <a:r>
              <a:rPr sz="1875" b="1">
                <a:solidFill>
                  <a:srgbClr val="F1F7FC"/>
                </a:solidFill>
                <a:latin typeface="Arial"/>
                <a:ea typeface="Arial"/>
                <a:cs typeface="Arial"/>
              </a:rPr>
              <a:t>Razorpay</a:t>
            </a:r>
          </a:p>
          <a:p xmlns:a="http://schemas.openxmlformats.org/drawingml/2006/main">
            <a:pPr algn="ctr">
              <a:defRPr sz="1875" b="1">
                <a:solidFill>
                  <a:srgbClr val="F1F7FC"/>
                </a:solidFill>
                <a:latin typeface="Arial"/>
                <a:ea typeface="Arial"/>
                <a:cs typeface="Arial"/>
              </a:defRPr>
            </a:pPr>
            <a:r>
              <a:rPr sz="1875" b="1">
                <a:solidFill>
                  <a:srgbClr val="F1F7FC"/>
                </a:solidFill>
                <a:latin typeface="Arial"/>
                <a:ea typeface="Arial"/>
                <a:cs typeface="Arial"/>
              </a:rPr>
              <a:t>Test API</a:t>
            </a:r>
          </a:p>
        </p:txBody>
      </p:sp>
      <p:sp>
        <p:nvSpPr>
          <p:cNvPr id="8" name="Active SQLite&#10;Temporary history">
            <a:extLst xmlns:a="http://schemas.openxmlformats.org/drawingml/2006/main">
              <a:ext uri="{FF2B5EF4-FFF2-40B4-BE49-F238E27FC236}">
                <a16:creationId xmlns:a16="http://schemas.microsoft.com/office/drawing/2014/main" id="{709E58A3-48C7-46E1-B9A7-38A4E3358563}"/>
              </a:ext>
            </a:extLst>
          </p:cNvPr>
          <p:cNvSpPr>
            <a:spLocks xmlns:a="http://schemas.openxmlformats.org/drawingml/2006/main" noGrp="1"/>
          </p:cNvSpPr>
          <p:nvPr/>
        </p:nvSpPr>
        <p:spPr>
          <a:xfrm xmlns:a="http://schemas.openxmlformats.org/drawingml/2006/main">
            <a:off x="609600" y="3276600"/>
            <a:ext cx="2381250" cy="857250"/>
          </a:xfrm>
          <a:prstGeom xmlns:a="http://schemas.openxmlformats.org/drawingml/2006/main" prst="rect">
            <a:avLst/>
          </a:prstGeom>
          <a:solidFill xmlns:a="http://schemas.openxmlformats.org/drawingml/2006/main">
            <a:srgbClr val="122C42"/>
          </a:solidFill>
          <a:ln xmlns:a="http://schemas.openxmlformats.org/drawingml/2006/main" w="19050">
            <a:solidFill>
              <a:srgbClr val="41596E"/>
            </a:solidFill>
          </a:ln>
        </p:spPr>
        <p:txBody>
          <a:bodyPr xmlns:a="http://schemas.openxmlformats.org/drawingml/2006/main" lIns="114300" tIns="114300" rIns="114300" bIns="114300" anchor="ctr"/>
          <a:lstStyle xmlns:a="http://schemas.openxmlformats.org/drawingml/2006/main">
            <a:defPPr algn="ctr">
              <a:defRPr sz="1875" b="1">
                <a:solidFill>
                  <a:srgbClr val="F1F7FC"/>
                </a:solidFill>
                <a:latin typeface="Arial"/>
                <a:ea typeface="Arial"/>
                <a:cs typeface="Arial"/>
              </a:defRPr>
            </a:defPPr>
          </a:lstStyle>
          <a:p xmlns:a="http://schemas.openxmlformats.org/drawingml/2006/main">
            <a:pPr algn="ctr">
              <a:defRPr sz="1875" b="1">
                <a:solidFill>
                  <a:srgbClr val="F1F7FC"/>
                </a:solidFill>
                <a:latin typeface="Arial"/>
                <a:ea typeface="Arial"/>
                <a:cs typeface="Arial"/>
              </a:defRPr>
            </a:pPr>
            <a:r>
              <a:rPr sz="1875" b="1">
                <a:solidFill>
                  <a:srgbClr val="F1F7FC"/>
                </a:solidFill>
                <a:latin typeface="Arial"/>
                <a:ea typeface="Arial"/>
                <a:cs typeface="Arial"/>
              </a:rPr>
              <a:t>Active SQLite</a:t>
            </a:r>
          </a:p>
          <a:p xmlns:a="http://schemas.openxmlformats.org/drawingml/2006/main">
            <a:pPr algn="ctr">
              <a:defRPr sz="1875" b="1">
                <a:solidFill>
                  <a:srgbClr val="F1F7FC"/>
                </a:solidFill>
                <a:latin typeface="Arial"/>
                <a:ea typeface="Arial"/>
                <a:cs typeface="Arial"/>
              </a:defRPr>
            </a:pPr>
            <a:r>
              <a:rPr sz="1875" b="1">
                <a:solidFill>
                  <a:srgbClr val="F1F7FC"/>
                </a:solidFill>
                <a:latin typeface="Arial"/>
                <a:ea typeface="Arial"/>
                <a:cs typeface="Arial"/>
              </a:rPr>
              <a:t>Temporary history</a:t>
            </a:r>
          </a:p>
        </p:txBody>
      </p:sp>
      <p:sp>
        <p:nvSpPr>
          <p:cNvPr id="9" name="Optional private PostgreSQL&#10;Local tested only">
            <a:extLst xmlns:a="http://schemas.openxmlformats.org/drawingml/2006/main">
              <a:ext uri="{FF2B5EF4-FFF2-40B4-BE49-F238E27FC236}">
                <a16:creationId xmlns:a16="http://schemas.microsoft.com/office/drawing/2014/main" id="{C141482C-003B-4B0B-B99E-F7E0E41A948E}"/>
              </a:ext>
            </a:extLst>
          </p:cNvPr>
          <p:cNvSpPr>
            <a:spLocks xmlns:a="http://schemas.openxmlformats.org/drawingml/2006/main" noGrp="1"/>
          </p:cNvSpPr>
          <p:nvPr/>
        </p:nvSpPr>
        <p:spPr>
          <a:xfrm xmlns:a="http://schemas.openxmlformats.org/drawingml/2006/main">
            <a:off x="3695700" y="3276600"/>
            <a:ext cx="4533900" cy="857250"/>
          </a:xfrm>
          <a:prstGeom xmlns:a="http://schemas.openxmlformats.org/drawingml/2006/main" prst="rect">
            <a:avLst/>
          </a:prstGeom>
          <a:solidFill xmlns:a="http://schemas.openxmlformats.org/drawingml/2006/main">
            <a:srgbClr val="122C42"/>
          </a:solidFill>
          <a:ln xmlns:a="http://schemas.openxmlformats.org/drawingml/2006/main" w="19050">
            <a:solidFill>
              <a:srgbClr val="41596E"/>
            </a:solidFill>
          </a:ln>
        </p:spPr>
        <p:txBody>
          <a:bodyPr xmlns:a="http://schemas.openxmlformats.org/drawingml/2006/main" lIns="114300" tIns="114300" rIns="114300" bIns="114300" anchor="ctr"/>
          <a:lstStyle xmlns:a="http://schemas.openxmlformats.org/drawingml/2006/main">
            <a:defPPr algn="ctr">
              <a:defRPr sz="1875" b="1">
                <a:solidFill>
                  <a:srgbClr val="F1F7FC"/>
                </a:solidFill>
                <a:latin typeface="Arial"/>
                <a:ea typeface="Arial"/>
                <a:cs typeface="Arial"/>
              </a:defRPr>
            </a:defPPr>
          </a:lstStyle>
          <a:p xmlns:a="http://schemas.openxmlformats.org/drawingml/2006/main">
            <a:pPr algn="ctr">
              <a:defRPr sz="1875" b="1">
                <a:solidFill>
                  <a:srgbClr val="F1F7FC"/>
                </a:solidFill>
                <a:latin typeface="Arial"/>
                <a:ea typeface="Arial"/>
                <a:cs typeface="Arial"/>
              </a:defRPr>
            </a:pPr>
            <a:r>
              <a:rPr sz="1875" b="1">
                <a:solidFill>
                  <a:srgbClr val="F1F7FC"/>
                </a:solidFill>
                <a:latin typeface="Arial"/>
                <a:ea typeface="Arial"/>
                <a:cs typeface="Arial"/>
              </a:rPr>
              <a:t>Optional private PostgreSQL</a:t>
            </a:r>
          </a:p>
          <a:p xmlns:a="http://schemas.openxmlformats.org/drawingml/2006/main">
            <a:pPr algn="ctr">
              <a:defRPr sz="1875" b="1">
                <a:solidFill>
                  <a:srgbClr val="F1F7FC"/>
                </a:solidFill>
                <a:latin typeface="Arial"/>
                <a:ea typeface="Arial"/>
                <a:cs typeface="Arial"/>
              </a:defRPr>
            </a:pPr>
            <a:r>
              <a:rPr sz="1875" b="1">
                <a:solidFill>
                  <a:srgbClr val="F1F7FC"/>
                </a:solidFill>
                <a:latin typeface="Arial"/>
                <a:ea typeface="Arial"/>
                <a:cs typeface="Arial"/>
              </a:rPr>
              <a:t>Local tested only</a:t>
            </a:r>
          </a:p>
        </p:txBody>
      </p:sp>
      <p:sp>
        <p:nvSpPr>
          <p:cNvPr id="10" name="Approved HTTPS&#10;Read-only checks">
            <a:extLst xmlns:a="http://schemas.openxmlformats.org/drawingml/2006/main">
              <a:ext uri="{FF2B5EF4-FFF2-40B4-BE49-F238E27FC236}">
                <a16:creationId xmlns:a16="http://schemas.microsoft.com/office/drawing/2014/main" id="{9663D0EF-3AED-4F23-BE62-D304AA05255A}"/>
              </a:ext>
            </a:extLst>
          </p:cNvPr>
          <p:cNvSpPr>
            <a:spLocks xmlns:a="http://schemas.openxmlformats.org/drawingml/2006/main" noGrp="1"/>
          </p:cNvSpPr>
          <p:nvPr/>
        </p:nvSpPr>
        <p:spPr>
          <a:xfrm xmlns:a="http://schemas.openxmlformats.org/drawingml/2006/main">
            <a:off x="8915400" y="3276600"/>
            <a:ext cx="2667000" cy="857250"/>
          </a:xfrm>
          <a:prstGeom xmlns:a="http://schemas.openxmlformats.org/drawingml/2006/main" prst="rect">
            <a:avLst/>
          </a:prstGeom>
          <a:solidFill xmlns:a="http://schemas.openxmlformats.org/drawingml/2006/main">
            <a:srgbClr val="122C42"/>
          </a:solidFill>
          <a:ln xmlns:a="http://schemas.openxmlformats.org/drawingml/2006/main" w="19050">
            <a:solidFill>
              <a:srgbClr val="41596E"/>
            </a:solidFill>
          </a:ln>
        </p:spPr>
        <p:txBody>
          <a:bodyPr xmlns:a="http://schemas.openxmlformats.org/drawingml/2006/main" lIns="114300" tIns="114300" rIns="114300" bIns="114300" anchor="ctr"/>
          <a:lstStyle xmlns:a="http://schemas.openxmlformats.org/drawingml/2006/main">
            <a:defPPr algn="ctr">
              <a:defRPr sz="1875" b="1">
                <a:solidFill>
                  <a:srgbClr val="F1F7FC"/>
                </a:solidFill>
                <a:latin typeface="Arial"/>
                <a:ea typeface="Arial"/>
                <a:cs typeface="Arial"/>
              </a:defRPr>
            </a:defPPr>
          </a:lstStyle>
          <a:p xmlns:a="http://schemas.openxmlformats.org/drawingml/2006/main">
            <a:pPr algn="ctr">
              <a:defRPr sz="1875" b="1">
                <a:solidFill>
                  <a:srgbClr val="F1F7FC"/>
                </a:solidFill>
                <a:latin typeface="Arial"/>
                <a:ea typeface="Arial"/>
                <a:cs typeface="Arial"/>
              </a:defRPr>
            </a:pPr>
            <a:r>
              <a:rPr sz="1875" b="1">
                <a:solidFill>
                  <a:srgbClr val="F1F7FC"/>
                </a:solidFill>
                <a:latin typeface="Arial"/>
                <a:ea typeface="Arial"/>
                <a:cs typeface="Arial"/>
              </a:rPr>
              <a:t>Approved HTTPS</a:t>
            </a:r>
          </a:p>
          <a:p xmlns:a="http://schemas.openxmlformats.org/drawingml/2006/main">
            <a:pPr algn="ctr">
              <a:defRPr sz="1875" b="1">
                <a:solidFill>
                  <a:srgbClr val="F1F7FC"/>
                </a:solidFill>
                <a:latin typeface="Arial"/>
                <a:ea typeface="Arial"/>
                <a:cs typeface="Arial"/>
              </a:defRPr>
            </a:pPr>
            <a:r>
              <a:rPr sz="1875" b="1">
                <a:solidFill>
                  <a:srgbClr val="F1F7FC"/>
                </a:solidFill>
                <a:latin typeface="Arial"/>
                <a:ea typeface="Arial"/>
                <a:cs typeface="Arial"/>
              </a:rPr>
              <a:t>Read-only checks</a:t>
            </a:r>
          </a:p>
        </p:txBody>
      </p:sp>
      <p:sp>
        <p:nvSpPr>
          <p:cNvPr id="14" name="Owned synthetic&#10;shop journey">
            <a:extLst xmlns:a="http://schemas.openxmlformats.org/drawingml/2006/main">
              <a:ext uri="{FF2B5EF4-FFF2-40B4-BE49-F238E27FC236}">
                <a16:creationId xmlns:a16="http://schemas.microsoft.com/office/drawing/2014/main" id="{D592E164-CEE6-4DE3-A209-B5D542A83C30}"/>
              </a:ext>
            </a:extLst>
          </p:cNvPr>
          <p:cNvSpPr>
            <a:spLocks xmlns:a="http://schemas.openxmlformats.org/drawingml/2006/main" noGrp="1"/>
          </p:cNvSpPr>
          <p:nvPr/>
        </p:nvSpPr>
        <p:spPr>
          <a:xfrm xmlns:a="http://schemas.openxmlformats.org/drawingml/2006/main">
            <a:off x="609600" y="4943475"/>
            <a:ext cx="2381250" cy="857250"/>
          </a:xfrm>
          <a:prstGeom xmlns:a="http://schemas.openxmlformats.org/drawingml/2006/main" prst="rect">
            <a:avLst/>
          </a:prstGeom>
          <a:solidFill xmlns:a="http://schemas.openxmlformats.org/drawingml/2006/main">
            <a:srgbClr val="122C42"/>
          </a:solidFill>
          <a:ln xmlns:a="http://schemas.openxmlformats.org/drawingml/2006/main" w="19050">
            <a:solidFill>
              <a:srgbClr val="41596E"/>
            </a:solidFill>
          </a:ln>
        </p:spPr>
        <p:txBody>
          <a:bodyPr xmlns:a="http://schemas.openxmlformats.org/drawingml/2006/main" lIns="114300" tIns="114300" rIns="114300" bIns="114300" anchor="ctr"/>
          <a:lstStyle xmlns:a="http://schemas.openxmlformats.org/drawingml/2006/main">
            <a:defPPr algn="ctr">
              <a:defRPr sz="1875" b="1">
                <a:solidFill>
                  <a:srgbClr val="F1F7FC"/>
                </a:solidFill>
                <a:latin typeface="Arial"/>
                <a:ea typeface="Arial"/>
                <a:cs typeface="Arial"/>
              </a:defRPr>
            </a:defPPr>
          </a:lstStyle>
          <a:p xmlns:a="http://schemas.openxmlformats.org/drawingml/2006/main">
            <a:pPr algn="ctr">
              <a:defRPr sz="1875" b="1">
                <a:solidFill>
                  <a:srgbClr val="F1F7FC"/>
                </a:solidFill>
                <a:latin typeface="Arial"/>
                <a:ea typeface="Arial"/>
                <a:cs typeface="Arial"/>
              </a:defRPr>
            </a:pPr>
            <a:r>
              <a:rPr sz="1875" b="1">
                <a:solidFill>
                  <a:srgbClr val="F1F7FC"/>
                </a:solidFill>
                <a:latin typeface="Arial"/>
                <a:ea typeface="Arial"/>
                <a:cs typeface="Arial"/>
              </a:rPr>
              <a:t>Owned synthetic</a:t>
            </a:r>
          </a:p>
          <a:p xmlns:a="http://schemas.openxmlformats.org/drawingml/2006/main">
            <a:pPr algn="ctr">
              <a:defRPr sz="1875" b="1">
                <a:solidFill>
                  <a:srgbClr val="F1F7FC"/>
                </a:solidFill>
                <a:latin typeface="Arial"/>
                <a:ea typeface="Arial"/>
                <a:cs typeface="Arial"/>
              </a:defRPr>
            </a:pPr>
            <a:r>
              <a:rPr sz="1875" b="1">
                <a:solidFill>
                  <a:srgbClr val="F1F7FC"/>
                </a:solidFill>
                <a:latin typeface="Arial"/>
                <a:ea typeface="Arial"/>
                <a:cs typeface="Arial"/>
              </a:rPr>
              <a:t>shop journey</a:t>
            </a:r>
          </a:p>
        </p:txBody>
      </p:sp>
      <p:sp>
        <p:nvSpPr>
          <p:cNvPr id="15" name="Rules and approved&#10;worker resume">
            <a:extLst xmlns:a="http://schemas.openxmlformats.org/drawingml/2006/main">
              <a:ext uri="{FF2B5EF4-FFF2-40B4-BE49-F238E27FC236}">
                <a16:creationId xmlns:a16="http://schemas.microsoft.com/office/drawing/2014/main" id="{94CA3C17-B560-4752-9886-5DEE88EAFF3A}"/>
              </a:ext>
            </a:extLst>
          </p:cNvPr>
          <p:cNvSpPr>
            <a:spLocks xmlns:a="http://schemas.openxmlformats.org/drawingml/2006/main" noGrp="1"/>
          </p:cNvSpPr>
          <p:nvPr/>
        </p:nvSpPr>
        <p:spPr>
          <a:xfrm xmlns:a="http://schemas.openxmlformats.org/drawingml/2006/main">
            <a:off x="3695700" y="4943475"/>
            <a:ext cx="4533900" cy="857250"/>
          </a:xfrm>
          <a:prstGeom xmlns:a="http://schemas.openxmlformats.org/drawingml/2006/main" prst="rect">
            <a:avLst/>
          </a:prstGeom>
          <a:solidFill xmlns:a="http://schemas.openxmlformats.org/drawingml/2006/main">
            <a:srgbClr val="122C42"/>
          </a:solidFill>
          <a:ln xmlns:a="http://schemas.openxmlformats.org/drawingml/2006/main" w="19050">
            <a:solidFill>
              <a:srgbClr val="41596E"/>
            </a:solidFill>
          </a:ln>
        </p:spPr>
        <p:txBody>
          <a:bodyPr xmlns:a="http://schemas.openxmlformats.org/drawingml/2006/main" lIns="114300" tIns="114300" rIns="114300" bIns="114300" anchor="ctr"/>
          <a:lstStyle xmlns:a="http://schemas.openxmlformats.org/drawingml/2006/main">
            <a:defPPr algn="ctr">
              <a:defRPr sz="1875" b="1">
                <a:solidFill>
                  <a:srgbClr val="F1F7FC"/>
                </a:solidFill>
                <a:latin typeface="Arial"/>
                <a:ea typeface="Arial"/>
                <a:cs typeface="Arial"/>
              </a:defRPr>
            </a:defPPr>
          </a:lstStyle>
          <a:p xmlns:a="http://schemas.openxmlformats.org/drawingml/2006/main">
            <a:pPr algn="ctr">
              <a:defRPr sz="1875" b="1">
                <a:solidFill>
                  <a:srgbClr val="F1F7FC"/>
                </a:solidFill>
                <a:latin typeface="Arial"/>
                <a:ea typeface="Arial"/>
                <a:cs typeface="Arial"/>
              </a:defRPr>
            </a:pPr>
            <a:r>
              <a:rPr sz="1875" b="1">
                <a:solidFill>
                  <a:srgbClr val="F1F7FC"/>
                </a:solidFill>
                <a:latin typeface="Arial"/>
                <a:ea typeface="Arial"/>
                <a:cs typeface="Arial"/>
              </a:rPr>
              <a:t>Rules and approved</a:t>
            </a:r>
          </a:p>
          <a:p xmlns:a="http://schemas.openxmlformats.org/drawingml/2006/main">
            <a:pPr algn="ctr">
              <a:defRPr sz="1875" b="1">
                <a:solidFill>
                  <a:srgbClr val="F1F7FC"/>
                </a:solidFill>
                <a:latin typeface="Arial"/>
                <a:ea typeface="Arial"/>
                <a:cs typeface="Arial"/>
              </a:defRPr>
            </a:pPr>
            <a:r>
              <a:rPr sz="1875" b="1">
                <a:solidFill>
                  <a:srgbClr val="F1F7FC"/>
                </a:solidFill>
                <a:latin typeface="Arial"/>
                <a:ea typeface="Arial"/>
                <a:cs typeface="Arial"/>
              </a:rPr>
              <a:t>worker resume</a:t>
            </a:r>
          </a:p>
        </p:txBody>
      </p:sp>
      <p:sp>
        <p:nvSpPr>
          <p:cNvPr id="18" name="Supabase cloud activation pending">
            <a:extLst xmlns:a="http://schemas.openxmlformats.org/drawingml/2006/main">
              <a:ext uri="{FF2B5EF4-FFF2-40B4-BE49-F238E27FC236}">
                <a16:creationId xmlns:a16="http://schemas.microsoft.com/office/drawing/2014/main" id="{94FA036A-6042-49F9-BD9F-1D4E9DE49552}"/>
              </a:ext>
            </a:extLst>
          </p:cNvPr>
          <p:cNvSpPr>
            <a:spLocks xmlns:a="http://schemas.openxmlformats.org/drawingml/2006/main" noGrp="1"/>
          </p:cNvSpPr>
          <p:nvPr/>
        </p:nvSpPr>
        <p:spPr>
          <a:xfrm xmlns:a="http://schemas.openxmlformats.org/drawingml/2006/main">
            <a:off x="8915400" y="4953000"/>
            <a:ext cx="2667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B1C3D2"/>
                </a:solidFill>
                <a:latin typeface="Arial"/>
                <a:ea typeface="Arial"/>
                <a:cs typeface="Arial"/>
              </a:defRPr>
            </a:defPPr>
          </a:lstStyle>
          <a:p xmlns:a="http://schemas.openxmlformats.org/drawingml/2006/main">
            <a:pPr algn="l">
              <a:defRPr sz="1875" b="0">
                <a:solidFill>
                  <a:srgbClr val="B1C3D2"/>
                </a:solidFill>
                <a:latin typeface="Arial"/>
                <a:ea typeface="Arial"/>
                <a:cs typeface="Arial"/>
              </a:defRPr>
            </a:pPr>
            <a:r>
              <a:rPr sz="1875" b="0">
                <a:solidFill>
                  <a:srgbClr val="B1C3D2"/>
                </a:solidFill>
                <a:latin typeface="Arial"/>
                <a:ea typeface="Arial"/>
                <a:cs typeface="Arial"/>
              </a:rPr>
              <a:t>Supabase cloud activation pending</a:t>
            </a:r>
          </a:p>
        </p:txBody>
      </p:sp>
      <p:sp>
        <p:nvSpPr>
          <p:cNvPr id="19" name="Payment and database secrets stay on the server">
            <a:extLst xmlns:a="http://schemas.openxmlformats.org/drawingml/2006/main">
              <a:ext uri="{FF2B5EF4-FFF2-40B4-BE49-F238E27FC236}">
                <a16:creationId xmlns:a16="http://schemas.microsoft.com/office/drawing/2014/main" id="{52D622FA-B425-43F6-AD92-0581E84AEE52}"/>
              </a:ext>
            </a:extLst>
          </p:cNvPr>
          <p:cNvSpPr>
            <a:spLocks xmlns:a="http://schemas.openxmlformats.org/drawingml/2006/main" noGrp="1"/>
          </p:cNvSpPr>
          <p:nvPr/>
        </p:nvSpPr>
        <p:spPr>
          <a:xfrm xmlns:a="http://schemas.openxmlformats.org/drawingml/2006/main">
            <a:off x="609600" y="60769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B1C3D2"/>
                </a:solidFill>
                <a:latin typeface="Arial"/>
                <a:ea typeface="Arial"/>
                <a:cs typeface="Arial"/>
              </a:defRPr>
            </a:defPPr>
          </a:lstStyle>
          <a:p xmlns:a="http://schemas.openxmlformats.org/drawingml/2006/main">
            <a:pPr algn="l">
              <a:defRPr sz="1725" b="0">
                <a:solidFill>
                  <a:srgbClr val="B1C3D2"/>
                </a:solidFill>
                <a:latin typeface="Arial"/>
                <a:ea typeface="Arial"/>
                <a:cs typeface="Arial"/>
              </a:defRPr>
            </a:pPr>
            <a:r>
              <a:rPr sz="1725" b="0">
                <a:solidFill>
                  <a:srgbClr val="B1C3D2"/>
                </a:solidFill>
                <a:latin typeface="Arial"/>
                <a:ea typeface="Arial"/>
                <a:cs typeface="Arial"/>
              </a:rPr>
              <a:t>Payment and database secrets stay on the server</a:t>
            </a:r>
          </a:p>
        </p:txBody>
      </p:sp>
    </p:spTree>
    <p:extLst>
      <p:ext uri="{BB962C8B-B14F-4D97-AF65-F5344CB8AC3E}">
        <p14:creationId xmlns:p14="http://schemas.microsoft.com/office/powerpoint/2010/main" val="1010985490"/>
      </p:ext>
    </p:extLst>
  </p:cSld>
</p:sld>
</file>

<file path=ppt/slides/slide5.xml><?xml version="1.0" encoding="utf-8"?>
<p:sld xmlns:p="http://schemas.openxmlformats.org/presentationml/2006/main">
  <p:cSld>
    <p:bg>
      <p:bgPr>
        <a:solidFill xmlns:a="http://schemas.openxmlformats.org/drawingml/2006/main">
          <a:srgbClr val="081523"/>
        </a:solidFill>
      </p:bgPr>
    </p:bg>
    <p:spTree>
      <p:nvGrpSpPr>
        <p:cNvPr id="1" name=""/>
        <p:cNvGrpSpPr/>
        <p:nvPr/>
      </p:nvGrpSpPr>
      <p:grpSpPr>
        <a:xfrm xmlns:a="http://schemas.openxmlformats.org/drawingml/2006/main"/>
      </p:grpSpPr>
      <p:sp>
        <p:nvSpPr>
          <p:cNvPr id="6" name="Approved live HTTPS checks">
            <a:extLst xmlns:a="http://schemas.openxmlformats.org/drawingml/2006/main">
              <a:ext uri="{FF2B5EF4-FFF2-40B4-BE49-F238E27FC236}">
                <a16:creationId xmlns:a16="http://schemas.microsoft.com/office/drawing/2014/main" id="{8D35CAE4-F558-459F-A250-A940411C11F6}"/>
              </a:ext>
            </a:extLst>
          </p:cNvPr>
          <p:cNvSpPr>
            <a:spLocks xmlns:a="http://schemas.openxmlformats.org/drawingml/2006/main" noGrp="1"/>
          </p:cNvSpPr>
          <p:nvPr/>
        </p:nvSpPr>
        <p:spPr>
          <a:xfrm xmlns:a="http://schemas.openxmlformats.org/drawingml/2006/main">
            <a:off x="609600" y="4762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1F7FC"/>
                </a:solidFill>
                <a:latin typeface="Arial"/>
                <a:ea typeface="Arial"/>
                <a:cs typeface="Arial"/>
              </a:defRPr>
            </a:defPPr>
          </a:lstStyle>
          <a:p xmlns:a="http://schemas.openxmlformats.org/drawingml/2006/main">
            <a:pPr algn="l">
              <a:defRPr sz="3300" b="1">
                <a:solidFill>
                  <a:srgbClr val="F1F7FC"/>
                </a:solidFill>
                <a:latin typeface="Arial"/>
                <a:ea typeface="Arial"/>
                <a:cs typeface="Arial"/>
              </a:defRPr>
            </a:pPr>
            <a:r>
              <a:rPr sz="3300" b="1">
                <a:solidFill>
                  <a:srgbClr val="F1F7FC"/>
                </a:solidFill>
                <a:latin typeface="Arial"/>
                <a:ea typeface="Arial"/>
                <a:cs typeface="Arial"/>
              </a:rPr>
              <a:t>Approved live HTTPS checks</a:t>
            </a:r>
          </a:p>
        </p:txBody>
      </p:sp>
      <p:sp>
        <p:nvSpPr>
          <p:cNvPr id="2" name="BizPlus AI     5/7">
            <a:extLst xmlns:a="http://schemas.openxmlformats.org/drawingml/2006/main">
              <a:ext uri="{FF2B5EF4-FFF2-40B4-BE49-F238E27FC236}">
                <a16:creationId xmlns:a16="http://schemas.microsoft.com/office/drawing/2014/main" id="{7EAEBD4B-A553-4911-9A2B-CBE5730ACB2B}"/>
              </a:ext>
            </a:extLst>
          </p:cNvPr>
          <p:cNvSpPr>
            <a:spLocks xmlns:a="http://schemas.openxmlformats.org/drawingml/2006/main" noGrp="1"/>
          </p:cNvSpPr>
          <p:nvPr/>
        </p:nvSpPr>
        <p:spPr>
          <a:xfrm xmlns:a="http://schemas.openxmlformats.org/drawingml/2006/main">
            <a:off x="609600" y="64008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1C3D2"/>
                </a:solidFill>
                <a:latin typeface="Arial"/>
                <a:ea typeface="Arial"/>
                <a:cs typeface="Arial"/>
              </a:defRPr>
            </a:defPPr>
          </a:lstStyle>
          <a:p xmlns:a="http://schemas.openxmlformats.org/drawingml/2006/main">
            <a:pPr algn="l">
              <a:defRPr sz="1275" b="0">
                <a:solidFill>
                  <a:srgbClr val="B1C3D2"/>
                </a:solidFill>
                <a:latin typeface="Arial"/>
                <a:ea typeface="Arial"/>
                <a:cs typeface="Arial"/>
              </a:defRPr>
            </a:pPr>
            <a:r>
              <a:rPr sz="1275" b="0">
                <a:solidFill>
                  <a:srgbClr val="B1C3D2"/>
                </a:solidFill>
                <a:latin typeface="Arial"/>
                <a:ea typeface="Arial"/>
                <a:cs typeface="Arial"/>
              </a:rPr>
              <a:t>BizPlus AI     5/7</a:t>
            </a:r>
          </a:p>
        </p:txBody>
      </p:sp>
      <p:sp>
        <p:nvSpPr>
          <p:cNvPr id="3" name="Read-only requests to&#10;approved owned targets&#10;&#10;Status and content asser">
            <a:extLst xmlns:a="http://schemas.openxmlformats.org/drawingml/2006/main">
              <a:ext uri="{FF2B5EF4-FFF2-40B4-BE49-F238E27FC236}">
                <a16:creationId xmlns:a16="http://schemas.microsoft.com/office/drawing/2014/main" id="{AFB51B6A-E6FE-40EF-AFE4-98B5547F7141}"/>
              </a:ext>
            </a:extLst>
          </p:cNvPr>
          <p:cNvSpPr>
            <a:spLocks xmlns:a="http://schemas.openxmlformats.org/drawingml/2006/main" noGrp="1"/>
          </p:cNvSpPr>
          <p:nvPr/>
        </p:nvSpPr>
        <p:spPr>
          <a:xfrm xmlns:a="http://schemas.openxmlformats.org/drawingml/2006/main">
            <a:off x="609600" y="1666875"/>
            <a:ext cx="3962400" cy="3705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F1F7FC"/>
                </a:solidFill>
                <a:latin typeface="Arial"/>
                <a:ea typeface="Arial"/>
                <a:cs typeface="Arial"/>
              </a:defRPr>
            </a:defPPr>
          </a:lstStyle>
          <a:p xmlns:a="http://schemas.openxmlformats.org/drawingml/2006/main">
            <a:pPr algn="l">
              <a:defRPr sz="2250" b="0">
                <a:solidFill>
                  <a:srgbClr val="F1F7FC"/>
                </a:solidFill>
                <a:latin typeface="Arial"/>
                <a:ea typeface="Arial"/>
                <a:cs typeface="Arial"/>
              </a:defRPr>
            </a:pPr>
            <a:r>
              <a:rPr sz="2250" b="0">
                <a:solidFill>
                  <a:srgbClr val="F1F7FC"/>
                </a:solidFill>
                <a:latin typeface="Arial"/>
                <a:ea typeface="Arial"/>
                <a:cs typeface="Arial"/>
              </a:rPr>
              <a:t>Read-only requests to</a:t>
            </a:r>
          </a:p>
          <a:p xmlns:a="http://schemas.openxmlformats.org/drawingml/2006/main">
            <a:pPr algn="l">
              <a:defRPr sz="2250" b="0">
                <a:solidFill>
                  <a:srgbClr val="F1F7FC"/>
                </a:solidFill>
                <a:latin typeface="Arial"/>
                <a:ea typeface="Arial"/>
                <a:cs typeface="Arial"/>
              </a:defRPr>
            </a:pPr>
            <a:r>
              <a:rPr sz="2250" b="0">
                <a:solidFill>
                  <a:srgbClr val="F1F7FC"/>
                </a:solidFill>
                <a:latin typeface="Arial"/>
                <a:ea typeface="Arial"/>
                <a:cs typeface="Arial"/>
              </a:rPr>
              <a:t>approved owned targets</a:t>
            </a:r>
          </a:p>
          <a:p xmlns:a="http://schemas.openxmlformats.org/drawingml/2006/main">
            <a:r>
              <a:t/>
            </a:r>
          </a:p>
          <a:p xmlns:a="http://schemas.openxmlformats.org/drawingml/2006/main">
            <a:pPr algn="l">
              <a:defRPr sz="2250" b="0">
                <a:solidFill>
                  <a:srgbClr val="F1F7FC"/>
                </a:solidFill>
                <a:latin typeface="Arial"/>
                <a:ea typeface="Arial"/>
                <a:cs typeface="Arial"/>
              </a:defRPr>
            </a:pPr>
            <a:r>
              <a:rPr sz="2250" b="0">
                <a:solidFill>
                  <a:srgbClr val="F1F7FC"/>
                </a:solidFill>
                <a:latin typeface="Arial"/>
                <a:ea typeface="Arial"/>
                <a:cs typeface="Arial"/>
              </a:rPr>
              <a:t>Status and content assertions</a:t>
            </a:r>
          </a:p>
          <a:p xmlns:a="http://schemas.openxmlformats.org/drawingml/2006/main">
            <a:r>
              <a:t/>
            </a:r>
          </a:p>
          <a:p xmlns:a="http://schemas.openxmlformats.org/drawingml/2006/main">
            <a:pPr algn="l">
              <a:defRPr sz="2250" b="0">
                <a:solidFill>
                  <a:srgbClr val="F1F7FC"/>
                </a:solidFill>
                <a:latin typeface="Arial"/>
                <a:ea typeface="Arial"/>
                <a:cs typeface="Arial"/>
              </a:defRPr>
            </a:pPr>
            <a:r>
              <a:rPr sz="2250" b="0">
                <a:solidFill>
                  <a:srgbClr val="F1F7FC"/>
                </a:solidFill>
                <a:latin typeface="Arial"/>
                <a:ea typeface="Arial"/>
                <a:cs typeface="Arial"/>
              </a:rPr>
              <a:t>Actual response evidence</a:t>
            </a:r>
          </a:p>
        </p:txBody>
      </p:sp>
      <p:pic>
        <p:nvPicPr>
          <p:cNvPr id="4" name="">
            <a:extLst xmlns:a="http://schemas.openxmlformats.org/drawingml/2006/main">
              <a:ext uri="{FF2B5EF4-FFF2-40B4-BE49-F238E27FC236}">
                <a16:creationId xmlns:a16="http://schemas.microsoft.com/office/drawing/2014/main" id="{1F29818D-1787-4CE0-B93A-A9D4B0EC6DE3}"/>
              </a:ext>
            </a:extLst>
          </p:cNvPr>
          <p:cNvPicPr>
            <a:picLocks xmlns:a="http://schemas.openxmlformats.org/drawingml/2006/main" noChangeAspect="1"/>
          </p:cNvPicPr>
          <p:nvPr/>
        </p:nvPicPr>
        <p:blipFill>
          <a:blip xmlns:r="http://schemas.openxmlformats.org/officeDocument/2006/relationships" xmlns:a="http://schemas.openxmlformats.org/drawingml/2006/main" r:embed="R08af280cd417410f"/>
          <a:srcRect xmlns:a="http://schemas.openxmlformats.org/drawingml/2006/main" l="50000" t="32500" r="2500" b="40100"/>
          <a:stretch xmlns:a="http://schemas.openxmlformats.org/drawingml/2006/main"/>
        </p:blipFill>
        <p:spPr>
          <a:xfrm xmlns:a="http://schemas.openxmlformats.org/drawingml/2006/main">
            <a:off x="4886325" y="1552575"/>
            <a:ext cx="6696075" cy="4191000"/>
          </a:xfrm>
          <a:prstGeom xmlns:a="http://schemas.openxmlformats.org/drawingml/2006/main" prst="rect">
            <a:avLst/>
          </a:prstGeom>
        </p:spPr>
      </p:pic>
      <p:sp>
        <p:nvSpPr>
          <p:cNvPr id="5" name="Public browser sample 79 ms. Earlier wake-up returned HTTP 503.">
            <a:extLst xmlns:a="http://schemas.openxmlformats.org/drawingml/2006/main">
              <a:ext uri="{FF2B5EF4-FFF2-40B4-BE49-F238E27FC236}">
                <a16:creationId xmlns:a16="http://schemas.microsoft.com/office/drawing/2014/main" id="{17E04FD8-CB48-4C10-90D9-3BB686C8B4D6}"/>
              </a:ext>
            </a:extLst>
          </p:cNvPr>
          <p:cNvSpPr>
            <a:spLocks xmlns:a="http://schemas.openxmlformats.org/drawingml/2006/main" noGrp="1"/>
          </p:cNvSpPr>
          <p:nvPr/>
        </p:nvSpPr>
        <p:spPr>
          <a:xfrm xmlns:a="http://schemas.openxmlformats.org/drawingml/2006/main">
            <a:off x="609600" y="59245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B1C3D2"/>
                </a:solidFill>
                <a:latin typeface="Arial"/>
                <a:ea typeface="Arial"/>
                <a:cs typeface="Arial"/>
              </a:defRPr>
            </a:defPPr>
          </a:lstStyle>
          <a:p xmlns:a="http://schemas.openxmlformats.org/drawingml/2006/main">
            <a:pPr algn="l">
              <a:defRPr sz="1950" b="0">
                <a:solidFill>
                  <a:srgbClr val="B1C3D2"/>
                </a:solidFill>
                <a:latin typeface="Arial"/>
                <a:ea typeface="Arial"/>
                <a:cs typeface="Arial"/>
              </a:defRPr>
            </a:pPr>
            <a:r>
              <a:rPr sz="1950" b="0">
                <a:solidFill>
                  <a:srgbClr val="B1C3D2"/>
                </a:solidFill>
                <a:latin typeface="Arial"/>
                <a:ea typeface="Arial"/>
                <a:cs typeface="Arial"/>
              </a:rPr>
              <a:t>Public browser sample 79 ms. Earlier wake-up returned HTTP 503.</a:t>
            </a:r>
          </a:p>
        </p:txBody>
      </p:sp>
    </p:spTree>
    <p:extLst>
      <p:ext uri="{BB962C8B-B14F-4D97-AF65-F5344CB8AC3E}">
        <p14:creationId xmlns:p14="http://schemas.microsoft.com/office/powerpoint/2010/main" val="803740228"/>
      </p:ext>
    </p:extLst>
  </p:cSld>
</p:sld>
</file>

<file path=ppt/slides/slide6.xml><?xml version="1.0" encoding="utf-8"?>
<p:sld xmlns:p="http://schemas.openxmlformats.org/presentationml/2006/main">
  <p:cSld>
    <p:bg>
      <p:bgPr>
        <a:solidFill xmlns:a="http://schemas.openxmlformats.org/drawingml/2006/main">
          <a:srgbClr val="081523"/>
        </a:solidFill>
      </p:bgPr>
    </p:bg>
    <p:spTree>
      <p:nvGrpSpPr>
        <p:cNvPr id="1" name=""/>
        <p:cNvGrpSpPr/>
        <p:nvPr/>
      </p:nvGrpSpPr>
      <p:grpSpPr>
        <a:xfrm xmlns:a="http://schemas.openxmlformats.org/drawingml/2006/main"/>
      </p:grpSpPr>
      <p:sp>
        <p:nvSpPr>
          <p:cNvPr id="6" name="Verified scope and measured evidence">
            <a:extLst xmlns:a="http://schemas.openxmlformats.org/drawingml/2006/main">
              <a:ext uri="{FF2B5EF4-FFF2-40B4-BE49-F238E27FC236}">
                <a16:creationId xmlns:a16="http://schemas.microsoft.com/office/drawing/2014/main" id="{1A230BF3-CB8F-4755-B3C5-AC5C7CC1DD17}"/>
              </a:ext>
            </a:extLst>
          </p:cNvPr>
          <p:cNvSpPr>
            <a:spLocks xmlns:a="http://schemas.openxmlformats.org/drawingml/2006/main" noGrp="1"/>
          </p:cNvSpPr>
          <p:nvPr/>
        </p:nvSpPr>
        <p:spPr>
          <a:xfrm xmlns:a="http://schemas.openxmlformats.org/drawingml/2006/main">
            <a:off x="609600" y="4762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1F7FC"/>
                </a:solidFill>
                <a:latin typeface="Arial"/>
                <a:ea typeface="Arial"/>
                <a:cs typeface="Arial"/>
              </a:defRPr>
            </a:defPPr>
          </a:lstStyle>
          <a:p xmlns:a="http://schemas.openxmlformats.org/drawingml/2006/main">
            <a:pPr algn="l">
              <a:defRPr sz="3300" b="1">
                <a:solidFill>
                  <a:srgbClr val="F1F7FC"/>
                </a:solidFill>
                <a:latin typeface="Arial"/>
                <a:ea typeface="Arial"/>
                <a:cs typeface="Arial"/>
              </a:defRPr>
            </a:pPr>
            <a:r>
              <a:rPr sz="3300" b="1">
                <a:solidFill>
                  <a:srgbClr val="F1F7FC"/>
                </a:solidFill>
                <a:latin typeface="Arial"/>
                <a:ea typeface="Arial"/>
                <a:cs typeface="Arial"/>
              </a:rPr>
              <a:t>Verified scope and measured evidence</a:t>
            </a:r>
          </a:p>
        </p:txBody>
      </p:sp>
      <p:sp>
        <p:nvSpPr>
          <p:cNvPr id="2" name="BizPlus AI     6/7">
            <a:extLst xmlns:a="http://schemas.openxmlformats.org/drawingml/2006/main">
              <a:ext uri="{FF2B5EF4-FFF2-40B4-BE49-F238E27FC236}">
                <a16:creationId xmlns:a16="http://schemas.microsoft.com/office/drawing/2014/main" id="{531EB68D-D786-4C81-8022-21D4A026E967}"/>
              </a:ext>
            </a:extLst>
          </p:cNvPr>
          <p:cNvSpPr>
            <a:spLocks xmlns:a="http://schemas.openxmlformats.org/drawingml/2006/main" noGrp="1"/>
          </p:cNvSpPr>
          <p:nvPr/>
        </p:nvSpPr>
        <p:spPr>
          <a:xfrm xmlns:a="http://schemas.openxmlformats.org/drawingml/2006/main">
            <a:off x="609600" y="64008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1C3D2"/>
                </a:solidFill>
                <a:latin typeface="Arial"/>
                <a:ea typeface="Arial"/>
                <a:cs typeface="Arial"/>
              </a:defRPr>
            </a:defPPr>
          </a:lstStyle>
          <a:p xmlns:a="http://schemas.openxmlformats.org/drawingml/2006/main">
            <a:pPr algn="l">
              <a:defRPr sz="1275" b="0">
                <a:solidFill>
                  <a:srgbClr val="B1C3D2"/>
                </a:solidFill>
                <a:latin typeface="Arial"/>
                <a:ea typeface="Arial"/>
                <a:cs typeface="Arial"/>
              </a:defRPr>
            </a:pPr>
            <a:r>
              <a:rPr sz="1275" b="0">
                <a:solidFill>
                  <a:srgbClr val="B1C3D2"/>
                </a:solidFill>
                <a:latin typeface="Arial"/>
                <a:ea typeface="Arial"/>
                <a:cs typeface="Arial"/>
              </a:rPr>
              <a:t>BizPlus AI     6/7</a:t>
            </a:r>
          </a:p>
        </p:txBody>
      </p:sp>
      <p:graphicFrame>
        <p:nvGraphicFramePr>
          <p:cNvPr id="3" name="">
            <a:extLst xmlns:a="http://schemas.openxmlformats.org/drawingml/2006/main">
              <a:ext uri="{FF2B5EF4-FFF2-40B4-BE49-F238E27FC236}">
                <a16:creationId xmlns:a16="http://schemas.microsoft.com/office/drawing/2014/main" id="{A164E451-082F-482C-A7AC-46C0DFAB0F7D}"/>
              </a:ext>
            </a:extLst>
          </p:cNvPr>
          <p:cNvGraphicFramePr/>
          <p:nvPr/>
        </p:nvGraphicFramePr>
        <p:xfrm>
          <a:off xmlns:a="http://schemas.openxmlformats.org/drawingml/2006/main" x="609600" y="1504950"/>
          <a:ext xmlns:a="http://schemas.openxmlformats.org/drawingml/2006/main" cx="10972800" cy="3476625"/>
        </p:xfrm>
        <a:graphic xmlns:a="http://schemas.openxmlformats.org/drawingml/2006/main">
          <a:graphicData uri="http://schemas.openxmlformats.org/drawingml/2006/table">
            <a:tbl>
              <a:tblPr/>
              <a:tblGrid>
                <a:gridCol w="6286500"/>
                <a:gridCol w="4686300"/>
              </a:tblGrid>
              <a:tr h="579438">
                <a:tc>
                  <a:txBody>
                    <a:bodyPr/>
                    <a:lstStyle/>
                    <a:p>
                      <a:r>
                        <a:rPr sz="1950" b="1">
                          <a:solidFill>
                            <a:srgbClr val="F1F7FC"/>
                          </a:solidFill>
                          <a:latin typeface="Arial"/>
                          <a:ea typeface="Arial"/>
                          <a:cs typeface="Arial"/>
                        </a:rPr>
                        <a:t>Verification scope</a:t>
                      </a:r>
                    </a:p>
                  </a:txBody>
                  <a:tcPr marL="152400" marR="152400" marT="114300" marB="114300" anchor="ctr">
                    <a:lnL w="9525">
                      <a:solidFill>
                        <a:srgbClr val="41596E"/>
                      </a:solidFill>
                      <a:prstDash val="solid"/>
                    </a:lnL>
                    <a:lnR w="9525">
                      <a:solidFill>
                        <a:srgbClr val="41596E"/>
                      </a:solidFill>
                      <a:prstDash val="solid"/>
                    </a:lnR>
                    <a:lnT w="9525">
                      <a:solidFill>
                        <a:srgbClr val="41596E"/>
                      </a:solidFill>
                      <a:prstDash val="solid"/>
                    </a:lnT>
                    <a:lnB w="9525">
                      <a:solidFill>
                        <a:srgbClr val="41596E"/>
                      </a:solidFill>
                      <a:prstDash val="solid"/>
                    </a:lnB>
                    <a:solidFill>
                      <a:srgbClr val="17344B"/>
                    </a:solidFill>
                  </a:tcPr>
                </a:tc>
                <a:tc>
                  <a:txBody>
                    <a:bodyPr/>
                    <a:lstStyle/>
                    <a:p>
                      <a:r>
                        <a:rPr sz="1950" b="1">
                          <a:solidFill>
                            <a:srgbClr val="F1F7FC"/>
                          </a:solidFill>
                          <a:latin typeface="Arial"/>
                          <a:ea typeface="Arial"/>
                          <a:cs typeface="Arial"/>
                        </a:rPr>
                        <a:t>Observed result</a:t>
                      </a:r>
                    </a:p>
                  </a:txBody>
                  <a:tcPr marL="152400" marR="152400" marT="114300" marB="114300" anchor="ctr">
                    <a:lnR w="9525">
                      <a:solidFill>
                        <a:srgbClr val="41596E"/>
                      </a:solidFill>
                      <a:prstDash val="solid"/>
                    </a:lnR>
                    <a:lnT w="9525">
                      <a:solidFill>
                        <a:srgbClr val="41596E"/>
                      </a:solidFill>
                      <a:prstDash val="solid"/>
                    </a:lnT>
                    <a:lnB w="9525">
                      <a:solidFill>
                        <a:srgbClr val="41596E"/>
                      </a:solidFill>
                      <a:prstDash val="solid"/>
                    </a:lnB>
                    <a:solidFill>
                      <a:srgbClr val="17344B"/>
                    </a:solidFill>
                  </a:tcPr>
                </a:tc>
              </a:tr>
              <a:tr h="579438">
                <a:tc>
                  <a:txBody>
                    <a:bodyPr/>
                    <a:lstStyle/>
                    <a:p>
                      <a:r>
                        <a:rPr sz="1950">
                          <a:solidFill>
                            <a:srgbClr val="F1F7FC"/>
                          </a:solidFill>
                          <a:latin typeface="Arial"/>
                          <a:ea typeface="Arial"/>
                          <a:cs typeface="Arial"/>
                        </a:rPr>
                        <a:t>Expanded local automated suite</a:t>
                      </a:r>
                    </a:p>
                  </a:txBody>
                  <a:tcPr marL="152400" marR="152400" marT="114300" marB="114300" anchor="ctr">
                    <a:lnL w="9525">
                      <a:solidFill>
                        <a:srgbClr val="41596E"/>
                      </a:solidFill>
                      <a:prstDash val="solid"/>
                    </a:lnL>
                    <a:lnR w="9525">
                      <a:solidFill>
                        <a:srgbClr val="41596E"/>
                      </a:solidFill>
                      <a:prstDash val="solid"/>
                    </a:lnR>
                    <a:lnB w="9525">
                      <a:solidFill>
                        <a:srgbClr val="41596E"/>
                      </a:solidFill>
                      <a:prstDash val="solid"/>
                    </a:lnB>
                    <a:solidFill>
                      <a:srgbClr val="081523"/>
                    </a:solidFill>
                  </a:tcPr>
                </a:tc>
                <a:tc>
                  <a:txBody>
                    <a:bodyPr/>
                    <a:lstStyle/>
                    <a:p>
                      <a:r>
                        <a:rPr sz="1950">
                          <a:solidFill>
                            <a:srgbClr val="F1F7FC"/>
                          </a:solidFill>
                          <a:latin typeface="Arial"/>
                          <a:ea typeface="Arial"/>
                          <a:cs typeface="Arial"/>
                        </a:rPr>
                        <a:t>33 / 33 passed</a:t>
                      </a:r>
                    </a:p>
                  </a:txBody>
                  <a:tcPr marL="152400" marR="152400" marT="114300" marB="114300" anchor="ctr">
                    <a:lnR w="9525">
                      <a:solidFill>
                        <a:srgbClr val="41596E"/>
                      </a:solidFill>
                      <a:prstDash val="solid"/>
                    </a:lnR>
                    <a:lnB w="9525">
                      <a:solidFill>
                        <a:srgbClr val="41596E"/>
                      </a:solidFill>
                      <a:prstDash val="solid"/>
                    </a:lnB>
                    <a:solidFill>
                      <a:srgbClr val="081523"/>
                    </a:solidFill>
                  </a:tcPr>
                </a:tc>
              </a:tr>
              <a:tr h="579438">
                <a:tc>
                  <a:txBody>
                    <a:bodyPr/>
                    <a:lstStyle/>
                    <a:p>
                      <a:r>
                        <a:rPr sz="1950">
                          <a:solidFill>
                            <a:srgbClr val="F1F7FC"/>
                          </a:solidFill>
                          <a:latin typeface="Arial"/>
                          <a:ea typeface="Arial"/>
                          <a:cs typeface="Arial"/>
                        </a:rPr>
                        <a:t>Hosted synthetic core HTTP smoke</a:t>
                      </a:r>
                    </a:p>
                  </a:txBody>
                  <a:tcPr marL="152400" marR="152400" marT="114300" marB="114300" anchor="ctr">
                    <a:lnL w="9525">
                      <a:solidFill>
                        <a:srgbClr val="41596E"/>
                      </a:solidFill>
                      <a:prstDash val="solid"/>
                    </a:lnL>
                    <a:lnR w="9525">
                      <a:solidFill>
                        <a:srgbClr val="41596E"/>
                      </a:solidFill>
                      <a:prstDash val="solid"/>
                    </a:lnR>
                    <a:lnB w="9525">
                      <a:solidFill>
                        <a:srgbClr val="41596E"/>
                      </a:solidFill>
                      <a:prstDash val="solid"/>
                    </a:lnB>
                    <a:solidFill>
                      <a:srgbClr val="081523"/>
                    </a:solidFill>
                  </a:tcPr>
                </a:tc>
                <a:tc>
                  <a:txBody>
                    <a:bodyPr/>
                    <a:lstStyle/>
                    <a:p>
                      <a:r>
                        <a:rPr sz="1950">
                          <a:solidFill>
                            <a:srgbClr val="F1F7FC"/>
                          </a:solidFill>
                          <a:latin typeface="Arial"/>
                          <a:ea typeface="Arial"/>
                          <a:cs typeface="Arial"/>
                        </a:rPr>
                        <a:t>18 / 18 passed</a:t>
                      </a:r>
                    </a:p>
                  </a:txBody>
                  <a:tcPr marL="152400" marR="152400" marT="114300" marB="114300" anchor="ctr">
                    <a:lnR w="9525">
                      <a:solidFill>
                        <a:srgbClr val="41596E"/>
                      </a:solidFill>
                      <a:prstDash val="solid"/>
                    </a:lnR>
                    <a:lnB w="9525">
                      <a:solidFill>
                        <a:srgbClr val="41596E"/>
                      </a:solidFill>
                      <a:prstDash val="solid"/>
                    </a:lnB>
                    <a:solidFill>
                      <a:srgbClr val="081523"/>
                    </a:solidFill>
                  </a:tcPr>
                </a:tc>
              </a:tr>
              <a:tr h="579438">
                <a:tc>
                  <a:txBody>
                    <a:bodyPr/>
                    <a:lstStyle/>
                    <a:p>
                      <a:r>
                        <a:rPr sz="1950">
                          <a:solidFill>
                            <a:srgbClr val="F1F7FC"/>
                          </a:solidFill>
                          <a:latin typeface="Arial"/>
                          <a:ea typeface="Arial"/>
                          <a:cs typeface="Arial"/>
                        </a:rPr>
                        <a:t>Public Razorpay Test purchase</a:t>
                      </a:r>
                    </a:p>
                  </a:txBody>
                  <a:tcPr marL="152400" marR="152400" marT="114300" marB="114300" anchor="ctr">
                    <a:lnL w="9525">
                      <a:solidFill>
                        <a:srgbClr val="41596E"/>
                      </a:solidFill>
                      <a:prstDash val="solid"/>
                    </a:lnL>
                    <a:lnR w="9525">
                      <a:solidFill>
                        <a:srgbClr val="41596E"/>
                      </a:solidFill>
                      <a:prstDash val="solid"/>
                    </a:lnR>
                    <a:lnB w="9525">
                      <a:solidFill>
                        <a:srgbClr val="41596E"/>
                      </a:solidFill>
                      <a:prstDash val="solid"/>
                    </a:lnB>
                    <a:solidFill>
                      <a:srgbClr val="081523"/>
                    </a:solidFill>
                  </a:tcPr>
                </a:tc>
                <a:tc>
                  <a:txBody>
                    <a:bodyPr/>
                    <a:lstStyle/>
                    <a:p>
                      <a:r>
                        <a:rPr sz="1950">
                          <a:solidFill>
                            <a:srgbClr val="F1F7FC"/>
                          </a:solidFill>
                          <a:latin typeface="Arial"/>
                          <a:ea typeface="Arial"/>
                          <a:cs typeface="Arial"/>
                        </a:rPr>
                        <a:t>INR 599 captured and verified</a:t>
                      </a:r>
                    </a:p>
                  </a:txBody>
                  <a:tcPr marL="152400" marR="152400" marT="114300" marB="114300" anchor="ctr">
                    <a:lnR w="9525">
                      <a:solidFill>
                        <a:srgbClr val="41596E"/>
                      </a:solidFill>
                      <a:prstDash val="solid"/>
                    </a:lnR>
                    <a:lnB w="9525">
                      <a:solidFill>
                        <a:srgbClr val="41596E"/>
                      </a:solidFill>
                      <a:prstDash val="solid"/>
                    </a:lnB>
                    <a:solidFill>
                      <a:srgbClr val="081523"/>
                    </a:solidFill>
                  </a:tcPr>
                </a:tc>
              </a:tr>
              <a:tr h="579438">
                <a:tc>
                  <a:txBody>
                    <a:bodyPr/>
                    <a:lstStyle/>
                    <a:p>
                      <a:r>
                        <a:rPr sz="1950">
                          <a:solidFill>
                            <a:srgbClr val="F1F7FC"/>
                          </a:solidFill>
                          <a:latin typeface="Arial"/>
                          <a:ea typeface="Arial"/>
                          <a:cs typeface="Arial"/>
                        </a:rPr>
                        <a:t>Public approved HTTPS sample</a:t>
                      </a:r>
                    </a:p>
                  </a:txBody>
                  <a:tcPr marL="152400" marR="152400" marT="114300" marB="114300" anchor="ctr">
                    <a:lnL w="9525">
                      <a:solidFill>
                        <a:srgbClr val="41596E"/>
                      </a:solidFill>
                      <a:prstDash val="solid"/>
                    </a:lnL>
                    <a:lnR w="9525">
                      <a:solidFill>
                        <a:srgbClr val="41596E"/>
                      </a:solidFill>
                      <a:prstDash val="solid"/>
                    </a:lnR>
                    <a:lnB w="9525">
                      <a:solidFill>
                        <a:srgbClr val="41596E"/>
                      </a:solidFill>
                      <a:prstDash val="solid"/>
                    </a:lnB>
                    <a:solidFill>
                      <a:srgbClr val="081523"/>
                    </a:solidFill>
                  </a:tcPr>
                </a:tc>
                <a:tc>
                  <a:txBody>
                    <a:bodyPr/>
                    <a:lstStyle/>
                    <a:p>
                      <a:r>
                        <a:rPr sz="1950">
                          <a:solidFill>
                            <a:srgbClr val="F1F7FC"/>
                          </a:solidFill>
                          <a:latin typeface="Arial"/>
                          <a:ea typeface="Arial"/>
                          <a:cs typeface="Arial"/>
                        </a:rPr>
                        <a:t>HTTP 200 in 79 ms</a:t>
                      </a:r>
                    </a:p>
                  </a:txBody>
                  <a:tcPr marL="152400" marR="152400" marT="114300" marB="114300" anchor="ctr">
                    <a:lnR w="9525">
                      <a:solidFill>
                        <a:srgbClr val="41596E"/>
                      </a:solidFill>
                      <a:prstDash val="solid"/>
                    </a:lnR>
                    <a:lnB w="9525">
                      <a:solidFill>
                        <a:srgbClr val="41596E"/>
                      </a:solidFill>
                      <a:prstDash val="solid"/>
                    </a:lnB>
                    <a:solidFill>
                      <a:srgbClr val="081523"/>
                    </a:solidFill>
                  </a:tcPr>
                </a:tc>
              </a:tr>
              <a:tr h="579438">
                <a:tc>
                  <a:txBody>
                    <a:bodyPr/>
                    <a:lstStyle/>
                    <a:p>
                      <a:r>
                        <a:rPr sz="1950">
                          <a:solidFill>
                            <a:srgbClr val="F1F7FC"/>
                          </a:solidFill>
                          <a:latin typeface="Arial"/>
                          <a:ea typeface="Arial"/>
                          <a:cs typeface="Arial"/>
                        </a:rPr>
                        <a:t>PostgreSQL adapter</a:t>
                      </a:r>
                    </a:p>
                  </a:txBody>
                  <a:tcPr marL="152400" marR="152400" marT="114300" marB="114300" anchor="ctr">
                    <a:lnL w="9525">
                      <a:solidFill>
                        <a:srgbClr val="41596E"/>
                      </a:solidFill>
                      <a:prstDash val="solid"/>
                    </a:lnL>
                    <a:lnR w="9525">
                      <a:solidFill>
                        <a:srgbClr val="41596E"/>
                      </a:solidFill>
                      <a:prstDash val="solid"/>
                    </a:lnR>
                    <a:lnB w="9525">
                      <a:solidFill>
                        <a:srgbClr val="41596E"/>
                      </a:solidFill>
                      <a:prstDash val="solid"/>
                    </a:lnB>
                    <a:solidFill>
                      <a:srgbClr val="081523"/>
                    </a:solidFill>
                  </a:tcPr>
                </a:tc>
                <a:tc>
                  <a:txBody>
                    <a:bodyPr/>
                    <a:lstStyle/>
                    <a:p>
                      <a:r>
                        <a:rPr sz="1950">
                          <a:solidFill>
                            <a:srgbClr val="F1F7FC"/>
                          </a:solidFill>
                          <a:latin typeface="Arial"/>
                          <a:ea typeface="Arial"/>
                          <a:cs typeface="Arial"/>
                        </a:rPr>
                        <a:t>Actual local instance tested</a:t>
                      </a:r>
                    </a:p>
                  </a:txBody>
                  <a:tcPr marL="152400" marR="152400" marT="114300" marB="114300" anchor="ctr">
                    <a:lnR w="9525">
                      <a:solidFill>
                        <a:srgbClr val="41596E"/>
                      </a:solidFill>
                      <a:prstDash val="solid"/>
                    </a:lnR>
                    <a:lnB w="9525">
                      <a:solidFill>
                        <a:srgbClr val="41596E"/>
                      </a:solidFill>
                      <a:prstDash val="solid"/>
                    </a:lnB>
                    <a:solidFill>
                      <a:srgbClr val="081523"/>
                    </a:solidFill>
                  </a:tcPr>
                </a:tc>
              </a:tr>
            </a:tbl>
          </a:graphicData>
        </a:graphic>
      </p:graphicFrame>
      <p:sp>
        <p:nvSpPr>
          <p:cNvPr id="4" name="Hosted sandbox samples: healthy 1834 ms, recovery 237 ms">
            <a:extLst xmlns:a="http://schemas.openxmlformats.org/drawingml/2006/main">
              <a:ext uri="{FF2B5EF4-FFF2-40B4-BE49-F238E27FC236}">
                <a16:creationId xmlns:a16="http://schemas.microsoft.com/office/drawing/2014/main" id="{2CBE5173-55EA-4F3D-BF8C-4846DCD1C2F6}"/>
              </a:ext>
            </a:extLst>
          </p:cNvPr>
          <p:cNvSpPr>
            <a:spLocks xmlns:a="http://schemas.openxmlformats.org/drawingml/2006/main" noGrp="1"/>
          </p:cNvSpPr>
          <p:nvPr/>
        </p:nvSpPr>
        <p:spPr>
          <a:xfrm xmlns:a="http://schemas.openxmlformats.org/drawingml/2006/main">
            <a:off x="609600" y="53816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44DCE3"/>
                </a:solidFill>
                <a:latin typeface="Arial"/>
                <a:ea typeface="Arial"/>
                <a:cs typeface="Arial"/>
              </a:defRPr>
            </a:defPPr>
          </a:lstStyle>
          <a:p xmlns:a="http://schemas.openxmlformats.org/drawingml/2006/main">
            <a:pPr algn="l">
              <a:defRPr sz="1950" b="0">
                <a:solidFill>
                  <a:srgbClr val="44DCE3"/>
                </a:solidFill>
                <a:latin typeface="Arial"/>
                <a:ea typeface="Arial"/>
                <a:cs typeface="Arial"/>
              </a:defRPr>
            </a:pPr>
            <a:r>
              <a:rPr sz="1950" b="0">
                <a:solidFill>
                  <a:srgbClr val="44DCE3"/>
                </a:solidFill>
                <a:latin typeface="Arial"/>
                <a:ea typeface="Arial"/>
                <a:cs typeface="Arial"/>
              </a:rPr>
              <a:t>Hosted sandbox samples: healthy 1834 ms, recovery 237 ms</a:t>
            </a:r>
          </a:p>
        </p:txBody>
      </p:sp>
      <p:sp>
        <p:nvSpPr>
          <p:cNvPr id="5" name="Synthetic requests include a 220 ms demo delay. Samples are not benchm">
            <a:extLst xmlns:a="http://schemas.openxmlformats.org/drawingml/2006/main">
              <a:ext uri="{FF2B5EF4-FFF2-40B4-BE49-F238E27FC236}">
                <a16:creationId xmlns:a16="http://schemas.microsoft.com/office/drawing/2014/main" id="{8C0AA2E8-1FEF-4241-A237-119D8087F4D5}"/>
              </a:ext>
            </a:extLst>
          </p:cNvPr>
          <p:cNvSpPr>
            <a:spLocks xmlns:a="http://schemas.openxmlformats.org/drawingml/2006/main" noGrp="1"/>
          </p:cNvSpPr>
          <p:nvPr/>
        </p:nvSpPr>
        <p:spPr>
          <a:xfrm xmlns:a="http://schemas.openxmlformats.org/drawingml/2006/main">
            <a:off x="609600" y="590550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B1C3D2"/>
                </a:solidFill>
                <a:latin typeface="Arial"/>
                <a:ea typeface="Arial"/>
                <a:cs typeface="Arial"/>
              </a:defRPr>
            </a:defPPr>
          </a:lstStyle>
          <a:p xmlns:a="http://schemas.openxmlformats.org/drawingml/2006/main">
            <a:pPr algn="l">
              <a:defRPr sz="1725" b="0">
                <a:solidFill>
                  <a:srgbClr val="B1C3D2"/>
                </a:solidFill>
                <a:latin typeface="Arial"/>
                <a:ea typeface="Arial"/>
                <a:cs typeface="Arial"/>
              </a:defRPr>
            </a:pPr>
            <a:r>
              <a:rPr sz="1725" b="0">
                <a:solidFill>
                  <a:srgbClr val="B1C3D2"/>
                </a:solidFill>
                <a:latin typeface="Arial"/>
                <a:ea typeface="Arial"/>
                <a:cs typeface="Arial"/>
              </a:rPr>
              <a:t>Synthetic requests include a 220 ms demo delay. Samples are not benchmarks.</a:t>
            </a:r>
          </a:p>
        </p:txBody>
      </p:sp>
    </p:spTree>
    <p:extLst>
      <p:ext uri="{BB962C8B-B14F-4D97-AF65-F5344CB8AC3E}">
        <p14:creationId xmlns:p14="http://schemas.microsoft.com/office/powerpoint/2010/main" val="211793470"/>
      </p:ext>
    </p:extLst>
  </p:cSld>
</p:sld>
</file>

<file path=ppt/slides/slide7.xml><?xml version="1.0" encoding="utf-8"?>
<p:sld xmlns:p="http://schemas.openxmlformats.org/presentationml/2006/main">
  <p:cSld>
    <p:bg>
      <p:bgPr>
        <a:solidFill xmlns:a="http://schemas.openxmlformats.org/drawingml/2006/main">
          <a:srgbClr val="081523"/>
        </a:solidFill>
      </p:bgPr>
    </p:bg>
    <p:spTree>
      <p:nvGrpSpPr>
        <p:cNvPr id="1" name=""/>
        <p:cNvGrpSpPr/>
        <p:nvPr/>
      </p:nvGrpSpPr>
      <p:grpSpPr>
        <a:xfrm xmlns:a="http://schemas.openxmlformats.org/drawingml/2006/main"/>
      </p:grpSpPr>
      <p:sp>
        <p:nvSpPr>
          <p:cNvPr id="7" name="Public demo and next release">
            <a:extLst xmlns:a="http://schemas.openxmlformats.org/drawingml/2006/main">
              <a:ext uri="{FF2B5EF4-FFF2-40B4-BE49-F238E27FC236}">
                <a16:creationId xmlns:a16="http://schemas.microsoft.com/office/drawing/2014/main" id="{D3BF3165-1E59-46C8-932B-79D38CFE975C}"/>
              </a:ext>
            </a:extLst>
          </p:cNvPr>
          <p:cNvSpPr>
            <a:spLocks xmlns:a="http://schemas.openxmlformats.org/drawingml/2006/main" noGrp="1"/>
          </p:cNvSpPr>
          <p:nvPr/>
        </p:nvSpPr>
        <p:spPr>
          <a:xfrm xmlns:a="http://schemas.openxmlformats.org/drawingml/2006/main">
            <a:off x="609600" y="4762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1F7FC"/>
                </a:solidFill>
                <a:latin typeface="Arial"/>
                <a:ea typeface="Arial"/>
                <a:cs typeface="Arial"/>
              </a:defRPr>
            </a:defPPr>
          </a:lstStyle>
          <a:p xmlns:a="http://schemas.openxmlformats.org/drawingml/2006/main">
            <a:pPr algn="l">
              <a:defRPr sz="3300" b="1">
                <a:solidFill>
                  <a:srgbClr val="F1F7FC"/>
                </a:solidFill>
                <a:latin typeface="Arial"/>
                <a:ea typeface="Arial"/>
                <a:cs typeface="Arial"/>
              </a:defRPr>
            </a:pPr>
            <a:r>
              <a:rPr sz="3300" b="1">
                <a:solidFill>
                  <a:srgbClr val="F1F7FC"/>
                </a:solidFill>
                <a:latin typeface="Arial"/>
                <a:ea typeface="Arial"/>
                <a:cs typeface="Arial"/>
              </a:rPr>
              <a:t>Public demo and next release</a:t>
            </a:r>
          </a:p>
        </p:txBody>
      </p:sp>
      <p:sp>
        <p:nvSpPr>
          <p:cNvPr id="2" name="BizPlus AI     7/7">
            <a:extLst xmlns:a="http://schemas.openxmlformats.org/drawingml/2006/main">
              <a:ext uri="{FF2B5EF4-FFF2-40B4-BE49-F238E27FC236}">
                <a16:creationId xmlns:a16="http://schemas.microsoft.com/office/drawing/2014/main" id="{64C8C30F-157C-434A-81C2-54DF9604B1F3}"/>
              </a:ext>
            </a:extLst>
          </p:cNvPr>
          <p:cNvSpPr>
            <a:spLocks xmlns:a="http://schemas.openxmlformats.org/drawingml/2006/main" noGrp="1"/>
          </p:cNvSpPr>
          <p:nvPr/>
        </p:nvSpPr>
        <p:spPr>
          <a:xfrm xmlns:a="http://schemas.openxmlformats.org/drawingml/2006/main">
            <a:off x="609600" y="640080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B1C3D2"/>
                </a:solidFill>
                <a:latin typeface="Arial"/>
                <a:ea typeface="Arial"/>
                <a:cs typeface="Arial"/>
              </a:defRPr>
            </a:defPPr>
          </a:lstStyle>
          <a:p xmlns:a="http://schemas.openxmlformats.org/drawingml/2006/main">
            <a:pPr algn="l">
              <a:defRPr sz="1275" b="0">
                <a:solidFill>
                  <a:srgbClr val="B1C3D2"/>
                </a:solidFill>
                <a:latin typeface="Arial"/>
                <a:ea typeface="Arial"/>
                <a:cs typeface="Arial"/>
              </a:defRPr>
            </a:pPr>
            <a:r>
              <a:rPr sz="1275" b="0">
                <a:solidFill>
                  <a:srgbClr val="B1C3D2"/>
                </a:solidFill>
                <a:latin typeface="Arial"/>
                <a:ea typeface="Arial"/>
                <a:cs typeface="Arial"/>
              </a:rPr>
              <a:t>BizPlus AI     7/7</a:t>
            </a:r>
          </a:p>
        </p:txBody>
      </p:sp>
      <p:graphicFrame>
        <p:nvGraphicFramePr>
          <p:cNvPr id="3" name="">
            <a:extLst xmlns:a="http://schemas.openxmlformats.org/drawingml/2006/main">
              <a:ext uri="{FF2B5EF4-FFF2-40B4-BE49-F238E27FC236}">
                <a16:creationId xmlns:a16="http://schemas.microsoft.com/office/drawing/2014/main" id="{0C7A7884-219F-4916-BD6C-DBB515B49ABF}"/>
              </a:ext>
            </a:extLst>
          </p:cNvPr>
          <p:cNvGraphicFramePr/>
          <p:nvPr/>
        </p:nvGraphicFramePr>
        <p:xfrm>
          <a:off xmlns:a="http://schemas.openxmlformats.org/drawingml/2006/main" x="609600" y="1524000"/>
          <a:ext xmlns:a="http://schemas.openxmlformats.org/drawingml/2006/main" cx="10972800" cy="2857500"/>
        </p:xfrm>
        <a:graphic xmlns:a="http://schemas.openxmlformats.org/drawingml/2006/main">
          <a:graphicData uri="http://schemas.openxmlformats.org/drawingml/2006/table">
            <a:tbl>
              <a:tblPr/>
              <a:tblGrid>
                <a:gridCol w="5715000"/>
                <a:gridCol w="5257800"/>
              </a:tblGrid>
              <a:tr h="571500">
                <a:tc>
                  <a:txBody>
                    <a:bodyPr/>
                    <a:lstStyle/>
                    <a:p>
                      <a:r>
                        <a:rPr sz="1875" b="1">
                          <a:solidFill>
                            <a:srgbClr val="F1F7FC"/>
                          </a:solidFill>
                          <a:latin typeface="Arial"/>
                          <a:ea typeface="Arial"/>
                          <a:cs typeface="Arial"/>
                        </a:rPr>
                        <a:t>Available now</a:t>
                      </a:r>
                    </a:p>
                  </a:txBody>
                  <a:tcPr marL="152400" marR="152400" marT="114300" marB="114300" anchor="ctr">
                    <a:lnL w="9525">
                      <a:solidFill>
                        <a:srgbClr val="41596E"/>
                      </a:solidFill>
                      <a:prstDash val="solid"/>
                    </a:lnL>
                    <a:lnR w="9525">
                      <a:solidFill>
                        <a:srgbClr val="41596E"/>
                      </a:solidFill>
                      <a:prstDash val="solid"/>
                    </a:lnR>
                    <a:lnT w="9525">
                      <a:solidFill>
                        <a:srgbClr val="41596E"/>
                      </a:solidFill>
                      <a:prstDash val="solid"/>
                    </a:lnT>
                    <a:lnB w="9525">
                      <a:solidFill>
                        <a:srgbClr val="41596E"/>
                      </a:solidFill>
                      <a:prstDash val="solid"/>
                    </a:lnB>
                    <a:solidFill>
                      <a:srgbClr val="17344B"/>
                    </a:solidFill>
                  </a:tcPr>
                </a:tc>
                <a:tc>
                  <a:txBody>
                    <a:bodyPr/>
                    <a:lstStyle/>
                    <a:p>
                      <a:r>
                        <a:rPr sz="1875" b="1">
                          <a:solidFill>
                            <a:srgbClr val="F1F7FC"/>
                          </a:solidFill>
                          <a:latin typeface="Arial"/>
                          <a:ea typeface="Arial"/>
                          <a:cs typeface="Arial"/>
                        </a:rPr>
                        <a:t>Next release</a:t>
                      </a:r>
                    </a:p>
                  </a:txBody>
                  <a:tcPr marL="152400" marR="152400" marT="114300" marB="114300" anchor="ctr">
                    <a:lnR w="9525">
                      <a:solidFill>
                        <a:srgbClr val="41596E"/>
                      </a:solidFill>
                      <a:prstDash val="solid"/>
                    </a:lnR>
                    <a:lnT w="9525">
                      <a:solidFill>
                        <a:srgbClr val="41596E"/>
                      </a:solidFill>
                      <a:prstDash val="solid"/>
                    </a:lnT>
                    <a:lnB w="9525">
                      <a:solidFill>
                        <a:srgbClr val="41596E"/>
                      </a:solidFill>
                      <a:prstDash val="solid"/>
                    </a:lnB>
                    <a:solidFill>
                      <a:srgbClr val="17344B"/>
                    </a:solidFill>
                  </a:tcPr>
                </a:tc>
              </a:tr>
              <a:tr h="571500">
                <a:tc>
                  <a:txBody>
                    <a:bodyPr/>
                    <a:lstStyle/>
                    <a:p>
                      <a:r>
                        <a:rPr sz="1875">
                          <a:solidFill>
                            <a:srgbClr val="F1F7FC"/>
                          </a:solidFill>
                          <a:latin typeface="Arial"/>
                          <a:ea typeface="Arial"/>
                          <a:cs typeface="Arial"/>
                        </a:rPr>
                        <a:t>Business assertions and approved recovery</a:t>
                      </a:r>
                    </a:p>
                  </a:txBody>
                  <a:tcPr marL="152400" marR="152400" marT="114300" marB="114300" anchor="ctr">
                    <a:lnL w="9525">
                      <a:solidFill>
                        <a:srgbClr val="41596E"/>
                      </a:solidFill>
                      <a:prstDash val="solid"/>
                    </a:lnL>
                    <a:lnR w="9525">
                      <a:solidFill>
                        <a:srgbClr val="41596E"/>
                      </a:solidFill>
                      <a:prstDash val="solid"/>
                    </a:lnR>
                    <a:lnB w="9525">
                      <a:solidFill>
                        <a:srgbClr val="41596E"/>
                      </a:solidFill>
                      <a:prstDash val="solid"/>
                    </a:lnB>
                    <a:solidFill>
                      <a:srgbClr val="081523"/>
                    </a:solidFill>
                  </a:tcPr>
                </a:tc>
                <a:tc>
                  <a:txBody>
                    <a:bodyPr/>
                    <a:lstStyle/>
                    <a:p>
                      <a:r>
                        <a:rPr sz="1875">
                          <a:solidFill>
                            <a:srgbClr val="F1F7FC"/>
                          </a:solidFill>
                          <a:latin typeface="Arial"/>
                          <a:ea typeface="Arial"/>
                          <a:cs typeface="Arial"/>
                        </a:rPr>
                        <a:t>Authenticated operators and action audit</a:t>
                      </a:r>
                    </a:p>
                  </a:txBody>
                  <a:tcPr marL="152400" marR="152400" marT="114300" marB="114300" anchor="ctr">
                    <a:lnR w="9525">
                      <a:solidFill>
                        <a:srgbClr val="41596E"/>
                      </a:solidFill>
                      <a:prstDash val="solid"/>
                    </a:lnR>
                    <a:lnB w="9525">
                      <a:solidFill>
                        <a:srgbClr val="41596E"/>
                      </a:solidFill>
                      <a:prstDash val="solid"/>
                    </a:lnB>
                    <a:solidFill>
                      <a:srgbClr val="081523"/>
                    </a:solidFill>
                  </a:tcPr>
                </a:tc>
              </a:tr>
              <a:tr h="571500">
                <a:tc>
                  <a:txBody>
                    <a:bodyPr/>
                    <a:lstStyle/>
                    <a:p>
                      <a:r>
                        <a:rPr sz="1875">
                          <a:solidFill>
                            <a:srgbClr val="F1F7FC"/>
                          </a:solidFill>
                          <a:latin typeface="Arial"/>
                          <a:ea typeface="Arial"/>
                          <a:cs typeface="Arial"/>
                        </a:rPr>
                        <a:t>Public Razorpay Test Checkout</a:t>
                      </a:r>
                    </a:p>
                  </a:txBody>
                  <a:tcPr marL="152400" marR="152400" marT="114300" marB="114300" anchor="ctr">
                    <a:lnL w="9525">
                      <a:solidFill>
                        <a:srgbClr val="41596E"/>
                      </a:solidFill>
                      <a:prstDash val="solid"/>
                    </a:lnL>
                    <a:lnR w="9525">
                      <a:solidFill>
                        <a:srgbClr val="41596E"/>
                      </a:solidFill>
                      <a:prstDash val="solid"/>
                    </a:lnR>
                    <a:lnB w="9525">
                      <a:solidFill>
                        <a:srgbClr val="41596E"/>
                      </a:solidFill>
                      <a:prstDash val="solid"/>
                    </a:lnB>
                    <a:solidFill>
                      <a:srgbClr val="081523"/>
                    </a:solidFill>
                  </a:tcPr>
                </a:tc>
                <a:tc>
                  <a:txBody>
                    <a:bodyPr/>
                    <a:lstStyle/>
                    <a:p>
                      <a:r>
                        <a:rPr sz="1875">
                          <a:solidFill>
                            <a:srgbClr val="F1F7FC"/>
                          </a:solidFill>
                          <a:latin typeface="Arial"/>
                          <a:ea typeface="Arial"/>
                          <a:cs typeface="Arial"/>
                        </a:rPr>
                        <a:t>Production payment readiness review</a:t>
                      </a:r>
                    </a:p>
                  </a:txBody>
                  <a:tcPr marL="152400" marR="152400" marT="114300" marB="114300" anchor="ctr">
                    <a:lnR w="9525">
                      <a:solidFill>
                        <a:srgbClr val="41596E"/>
                      </a:solidFill>
                      <a:prstDash val="solid"/>
                    </a:lnR>
                    <a:lnB w="9525">
                      <a:solidFill>
                        <a:srgbClr val="41596E"/>
                      </a:solidFill>
                      <a:prstDash val="solid"/>
                    </a:lnB>
                    <a:solidFill>
                      <a:srgbClr val="081523"/>
                    </a:solidFill>
                  </a:tcPr>
                </a:tc>
              </a:tr>
              <a:tr h="571500">
                <a:tc>
                  <a:txBody>
                    <a:bodyPr/>
                    <a:lstStyle/>
                    <a:p>
                      <a:r>
                        <a:rPr sz="1875">
                          <a:solidFill>
                            <a:srgbClr val="F1F7FC"/>
                          </a:solidFill>
                          <a:latin typeface="Arial"/>
                          <a:ea typeface="Arial"/>
                          <a:cs typeface="Arial"/>
                        </a:rPr>
                        <a:t>Approved read-only HTTPS monitoring</a:t>
                      </a:r>
                    </a:p>
                  </a:txBody>
                  <a:tcPr marL="152400" marR="152400" marT="114300" marB="114300" anchor="ctr">
                    <a:lnL w="9525">
                      <a:solidFill>
                        <a:srgbClr val="41596E"/>
                      </a:solidFill>
                      <a:prstDash val="solid"/>
                    </a:lnL>
                    <a:lnR w="9525">
                      <a:solidFill>
                        <a:srgbClr val="41596E"/>
                      </a:solidFill>
                      <a:prstDash val="solid"/>
                    </a:lnR>
                    <a:lnB w="9525">
                      <a:solidFill>
                        <a:srgbClr val="41596E"/>
                      </a:solidFill>
                      <a:prstDash val="solid"/>
                    </a:lnB>
                    <a:solidFill>
                      <a:srgbClr val="081523"/>
                    </a:solidFill>
                  </a:tcPr>
                </a:tc>
                <a:tc>
                  <a:txBody>
                    <a:bodyPr/>
                    <a:lstStyle/>
                    <a:p>
                      <a:r>
                        <a:rPr sz="1875">
                          <a:solidFill>
                            <a:srgbClr val="F1F7FC"/>
                          </a:solidFill>
                          <a:latin typeface="Arial"/>
                          <a:ea typeface="Arial"/>
                          <a:cs typeface="Arial"/>
                        </a:rPr>
                        <a:t>More validated owned journeys</a:t>
                      </a:r>
                    </a:p>
                  </a:txBody>
                  <a:tcPr marL="152400" marR="152400" marT="114300" marB="114300" anchor="ctr">
                    <a:lnR w="9525">
                      <a:solidFill>
                        <a:srgbClr val="41596E"/>
                      </a:solidFill>
                      <a:prstDash val="solid"/>
                    </a:lnR>
                    <a:lnB w="9525">
                      <a:solidFill>
                        <a:srgbClr val="41596E"/>
                      </a:solidFill>
                      <a:prstDash val="solid"/>
                    </a:lnB>
                    <a:solidFill>
                      <a:srgbClr val="081523"/>
                    </a:solidFill>
                  </a:tcPr>
                </a:tc>
              </a:tr>
              <a:tr h="571500">
                <a:tc>
                  <a:txBody>
                    <a:bodyPr/>
                    <a:lstStyle/>
                    <a:p>
                      <a:r>
                        <a:rPr sz="1875">
                          <a:solidFill>
                            <a:srgbClr val="F1F7FC"/>
                          </a:solidFill>
                          <a:latin typeface="Arial"/>
                          <a:ea typeface="Arial"/>
                          <a:cs typeface="Arial"/>
                        </a:rPr>
                        <a:t>Temporary SQLite on Render</a:t>
                      </a:r>
                    </a:p>
                  </a:txBody>
                  <a:tcPr marL="152400" marR="152400" marT="114300" marB="114300" anchor="ctr">
                    <a:lnL w="9525">
                      <a:solidFill>
                        <a:srgbClr val="41596E"/>
                      </a:solidFill>
                      <a:prstDash val="solid"/>
                    </a:lnL>
                    <a:lnR w="9525">
                      <a:solidFill>
                        <a:srgbClr val="41596E"/>
                      </a:solidFill>
                      <a:prstDash val="solid"/>
                    </a:lnR>
                    <a:lnB w="9525">
                      <a:solidFill>
                        <a:srgbClr val="41596E"/>
                      </a:solidFill>
                      <a:prstDash val="solid"/>
                    </a:lnB>
                    <a:solidFill>
                      <a:srgbClr val="081523"/>
                    </a:solidFill>
                  </a:tcPr>
                </a:tc>
                <a:tc>
                  <a:txBody>
                    <a:bodyPr/>
                    <a:lstStyle/>
                    <a:p>
                      <a:r>
                        <a:rPr sz="1875">
                          <a:solidFill>
                            <a:srgbClr val="F1F7FC"/>
                          </a:solidFill>
                          <a:latin typeface="Arial"/>
                          <a:ea typeface="Arial"/>
                          <a:cs typeface="Arial"/>
                        </a:rPr>
                        <a:t>Activate and verify durable PostgreSQL</a:t>
                      </a:r>
                    </a:p>
                  </a:txBody>
                  <a:tcPr marL="152400" marR="152400" marT="114300" marB="114300" anchor="ctr">
                    <a:lnR w="9525">
                      <a:solidFill>
                        <a:srgbClr val="41596E"/>
                      </a:solidFill>
                      <a:prstDash val="solid"/>
                    </a:lnR>
                    <a:lnB w="9525">
                      <a:solidFill>
                        <a:srgbClr val="41596E"/>
                      </a:solidFill>
                      <a:prstDash val="solid"/>
                    </a:lnB>
                    <a:solidFill>
                      <a:srgbClr val="081523"/>
                    </a:solidFill>
                  </a:tcPr>
                </a:tc>
              </a:tr>
            </a:tbl>
          </a:graphicData>
        </a:graphic>
      </p:graphicFrame>
      <p:sp>
        <p:nvSpPr>
          <p:cNvPr id="4" name="Public Render dashboard">
            <a:extLst xmlns:a="http://schemas.openxmlformats.org/drawingml/2006/main">
              <a:ext uri="{FF2B5EF4-FFF2-40B4-BE49-F238E27FC236}">
                <a16:creationId xmlns:a16="http://schemas.microsoft.com/office/drawing/2014/main" id="{19C6B7A6-B3F7-4990-BE2D-053A38F1FC25}"/>
              </a:ext>
            </a:extLst>
          </p:cNvPr>
          <p:cNvSpPr>
            <a:spLocks xmlns:a="http://schemas.openxmlformats.org/drawingml/2006/main" noGrp="1"/>
          </p:cNvSpPr>
          <p:nvPr/>
        </p:nvSpPr>
        <p:spPr>
          <a:xfrm xmlns:a="http://schemas.openxmlformats.org/drawingml/2006/main">
            <a:off x="609600" y="47910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44DCE3"/>
                </a:solidFill>
                <a:latin typeface="Arial"/>
                <a:ea typeface="Arial"/>
                <a:cs typeface="Arial"/>
              </a:defRPr>
            </a:defPPr>
          </a:lstStyle>
          <a:p xmlns:a="http://schemas.openxmlformats.org/drawingml/2006/main">
            <a:pPr algn="l">
              <a:defRPr sz="2325" b="1">
                <a:solidFill>
                  <a:srgbClr val="44DCE3"/>
                </a:solidFill>
                <a:latin typeface="Arial"/>
                <a:ea typeface="Arial"/>
                <a:cs typeface="Arial"/>
              </a:defRPr>
            </a:pPr>
            <a:r>
              <a:rPr sz="2325" b="1">
                <a:solidFill>
                  <a:srgbClr val="44DCE3"/>
                </a:solidFill>
                <a:latin typeface="Arial"/>
                <a:ea typeface="Arial"/>
                <a:cs typeface="Arial"/>
              </a:rPr>
              <a:t>Public Render dashboard</a:t>
            </a:r>
          </a:p>
        </p:txBody>
      </p:sp>
      <p:sp>
        <p:nvSpPr>
          <p:cNvPr id="5" name="https://bizplus-ai-api.onrender.com">
            <a:extLst xmlns:a="http://schemas.openxmlformats.org/drawingml/2006/main">
              <a:ext uri="{FF2B5EF4-FFF2-40B4-BE49-F238E27FC236}">
                <a16:creationId xmlns:a16="http://schemas.microsoft.com/office/drawing/2014/main" id="{9C5D77B9-8D97-4299-8537-408BE610F93C}"/>
              </a:ext>
            </a:extLst>
          </p:cNvPr>
          <p:cNvSpPr>
            <a:spLocks xmlns:a="http://schemas.openxmlformats.org/drawingml/2006/main" noGrp="1"/>
          </p:cNvSpPr>
          <p:nvPr/>
        </p:nvSpPr>
        <p:spPr>
          <a:xfrm xmlns:a="http://schemas.openxmlformats.org/drawingml/2006/main">
            <a:off x="609600" y="53149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F1F7FC"/>
                </a:solidFill>
                <a:latin typeface="Arial"/>
                <a:ea typeface="Arial"/>
                <a:cs typeface="Arial"/>
              </a:defRPr>
            </a:defPPr>
          </a:lstStyle>
          <a:p xmlns:a="http://schemas.openxmlformats.org/drawingml/2006/main">
            <a:pPr algn="l">
              <a:defRPr sz="2325" b="0">
                <a:solidFill>
                  <a:srgbClr val="F1F7FC"/>
                </a:solidFill>
                <a:latin typeface="Arial"/>
                <a:ea typeface="Arial"/>
                <a:cs typeface="Arial"/>
              </a:defRPr>
            </a:pPr>
            <a:r>
              <a:rPr sz="2325" b="0">
                <a:solidFill>
                  <a:srgbClr val="F1F7FC"/>
                </a:solidFill>
                <a:latin typeface="Arial"/>
                <a:ea typeface="Arial"/>
                <a:cs typeface="Arial"/>
                <a:hlinkClick xmlns:r="http://schemas.openxmlformats.org/officeDocument/2006/relationships" r:id="R86a9d31cd098483e"/>
              </a:rPr>
              <a:t>https://bizplus-ai-api.onrender.com</a:t>
            </a:r>
          </a:p>
        </p:txBody>
      </p:sp>
      <p:sp>
        <p:nvSpPr>
          <p:cNvPr id="6" name="Rules-based diagnosis. Active SQLite. Supabase cloud activation pendin">
            <a:extLst xmlns:a="http://schemas.openxmlformats.org/drawingml/2006/main">
              <a:ext uri="{FF2B5EF4-FFF2-40B4-BE49-F238E27FC236}">
                <a16:creationId xmlns:a16="http://schemas.microsoft.com/office/drawing/2014/main" id="{79F48D4D-2E86-4ADF-A174-2EB761939FCA}"/>
              </a:ext>
            </a:extLst>
          </p:cNvPr>
          <p:cNvSpPr>
            <a:spLocks xmlns:a="http://schemas.openxmlformats.org/drawingml/2006/main" noGrp="1"/>
          </p:cNvSpPr>
          <p:nvPr/>
        </p:nvSpPr>
        <p:spPr>
          <a:xfrm xmlns:a="http://schemas.openxmlformats.org/drawingml/2006/main">
            <a:off x="609600" y="5991225"/>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B1C3D2"/>
                </a:solidFill>
                <a:latin typeface="Arial"/>
                <a:ea typeface="Arial"/>
                <a:cs typeface="Arial"/>
              </a:defRPr>
            </a:defPPr>
          </a:lstStyle>
          <a:p xmlns:a="http://schemas.openxmlformats.org/drawingml/2006/main">
            <a:pPr algn="l">
              <a:defRPr sz="1725" b="0">
                <a:solidFill>
                  <a:srgbClr val="B1C3D2"/>
                </a:solidFill>
                <a:latin typeface="Arial"/>
                <a:ea typeface="Arial"/>
                <a:cs typeface="Arial"/>
              </a:defRPr>
            </a:pPr>
            <a:r>
              <a:rPr sz="1725" b="0">
                <a:solidFill>
                  <a:srgbClr val="B1C3D2"/>
                </a:solidFill>
                <a:latin typeface="Arial"/>
                <a:ea typeface="Arial"/>
                <a:cs typeface="Arial"/>
              </a:rPr>
              <a:t>Rules-based diagnosis. Active SQLite. Supabase cloud activation pending.</a:t>
            </a:r>
          </a:p>
        </p:txBody>
      </p:sp>
    </p:spTree>
    <p:extLst>
      <p:ext uri="{BB962C8B-B14F-4D97-AF65-F5344CB8AC3E}">
        <p14:creationId xmlns:p14="http://schemas.microsoft.com/office/powerpoint/2010/main" val="21097819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2026-10-13T07:25:09.1430000Z</dcterms:created>
  <dcterms:modified xsi:type="dcterms:W3CDTF">2026-10-13T07:25:09.1430000Z</dcterms:modified>
</coreProperties>
</file>